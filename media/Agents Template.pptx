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39255700" cy="22850475"/>
  <p:notesSz cx="22850475" cy="392557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36"/>
    <p:restoredTop sz="94610"/>
  </p:normalViewPr>
  <p:slideViewPr>
    <p:cSldViewPr snapToGrid="0" snapToObjects="1">
      <p:cViewPr>
        <p:scale>
          <a:sx n="40" d="100"/>
          <a:sy n="40" d="100"/>
        </p:scale>
        <p:origin x="1048"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4089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29"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32" Type="http://schemas.openxmlformats.org/officeDocument/2006/relationships/image" Target="../media/image30.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10" Type="http://schemas.openxmlformats.org/officeDocument/2006/relationships/image" Target="../media/image8.png"/><Relationship Id="rId19" Type="http://schemas.openxmlformats.org/officeDocument/2006/relationships/image" Target="../media/image17.png"/><Relationship Id="rId31" Type="http://schemas.openxmlformats.org/officeDocument/2006/relationships/image" Target="../media/image29.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1269984" y="2540395"/>
            <a:ext cx="6349918" cy="4369480"/>
          </a:xfrm>
          <a:prstGeom prst="roundRect">
            <a:avLst>
              <a:gd name="adj" fmla="val 1256"/>
            </a:avLst>
          </a:prstGeom>
          <a:solidFill>
            <a:srgbClr val="F2F2F2">
              <a:alpha val="100000"/>
            </a:srgbClr>
          </a:solidFill>
          <a:ln/>
          <a:effectLst>
            <a:outerShdw blurRad="190500" dist="139700" dir="5400000" algn="bl" rotWithShape="0">
              <a:srgbClr val="000000">
                <a:alpha val="20000"/>
              </a:srgbClr>
            </a:outerShdw>
          </a:effectLst>
        </p:spPr>
        <p:txBody>
          <a:bodyPr/>
          <a:lstStyle/>
          <a:p>
            <a:endParaRPr lang="en-US"/>
          </a:p>
        </p:txBody>
      </p:sp>
      <p:sp>
        <p:nvSpPr>
          <p:cNvPr id="3" name="Shape 1"/>
          <p:cNvSpPr/>
          <p:nvPr/>
        </p:nvSpPr>
        <p:spPr>
          <a:xfrm>
            <a:off x="1269984" y="2540395"/>
            <a:ext cx="6349918" cy="4369480"/>
          </a:xfrm>
          <a:prstGeom prst="roundRect">
            <a:avLst>
              <a:gd name="adj" fmla="val 1256"/>
            </a:avLst>
          </a:prstGeom>
          <a:solidFill>
            <a:srgbClr val="F2F2F2">
              <a:alpha val="100000"/>
            </a:srgbClr>
          </a:solidFill>
          <a:ln/>
          <a:effectLst>
            <a:outerShdw blurRad="584200" dist="114300" dir="5400000" algn="bl" rotWithShape="0">
              <a:srgbClr val="000000">
                <a:alpha val="12000"/>
              </a:srgbClr>
            </a:outerShdw>
          </a:effectLst>
        </p:spPr>
        <p:txBody>
          <a:bodyPr/>
          <a:lstStyle/>
          <a:p>
            <a:endParaRPr lang="en-US"/>
          </a:p>
        </p:txBody>
      </p:sp>
      <p:sp>
        <p:nvSpPr>
          <p:cNvPr id="4" name="Shape 2"/>
          <p:cNvSpPr/>
          <p:nvPr/>
        </p:nvSpPr>
        <p:spPr>
          <a:xfrm>
            <a:off x="1269984" y="2540395"/>
            <a:ext cx="6349918" cy="4369480"/>
          </a:xfrm>
          <a:prstGeom prst="roundRect">
            <a:avLst>
              <a:gd name="adj" fmla="val 1256"/>
            </a:avLst>
          </a:prstGeom>
          <a:solidFill>
            <a:srgbClr val="F2F2F2">
              <a:alpha val="100000"/>
            </a:srgbClr>
          </a:solidFill>
          <a:ln/>
          <a:effectLst>
            <a:outerShdw blurRad="482600" dist="304800" dir="5400000" algn="bl" rotWithShape="0">
              <a:srgbClr val="000000">
                <a:alpha val="14000"/>
              </a:srgbClr>
            </a:outerShdw>
          </a:effectLst>
        </p:spPr>
        <p:txBody>
          <a:bodyPr/>
          <a:lstStyle/>
          <a:p>
            <a:endParaRPr lang="en-US"/>
          </a:p>
        </p:txBody>
      </p:sp>
      <p:sp>
        <p:nvSpPr>
          <p:cNvPr id="5" name="Shape 3"/>
          <p:cNvSpPr/>
          <p:nvPr/>
        </p:nvSpPr>
        <p:spPr>
          <a:xfrm>
            <a:off x="1269984" y="2540395"/>
            <a:ext cx="6349918" cy="4369480"/>
          </a:xfrm>
          <a:prstGeom prst="roundRect">
            <a:avLst>
              <a:gd name="adj" fmla="val 1256"/>
            </a:avLst>
          </a:prstGeom>
          <a:solidFill>
            <a:srgbClr val="F2F2F2">
              <a:alpha val="100000"/>
            </a:srgbClr>
          </a:solidFill>
          <a:ln/>
        </p:spPr>
        <p:txBody>
          <a:bodyPr/>
          <a:lstStyle/>
          <a:p>
            <a:endParaRPr lang="en-US"/>
          </a:p>
        </p:txBody>
      </p:sp>
      <p:sp>
        <p:nvSpPr>
          <p:cNvPr id="6" name="Text 4"/>
          <p:cNvSpPr/>
          <p:nvPr/>
        </p:nvSpPr>
        <p:spPr>
          <a:xfrm>
            <a:off x="1574780" y="3081612"/>
            <a:ext cx="3035261" cy="513047"/>
          </a:xfrm>
          <a:prstGeom prst="rect">
            <a:avLst/>
          </a:prstGeom>
          <a:noFill/>
          <a:ln/>
        </p:spPr>
        <p:txBody>
          <a:bodyPr wrap="square" lIns="0" tIns="0" rIns="0" bIns="0" rtlCol="0" anchor="t"/>
          <a:lstStyle/>
          <a:p>
            <a:pPr algn="l"/>
            <a:r>
              <a:rPr lang="en-US" sz="1400" kern="0" spc="25" dirty="0">
                <a:solidFill>
                  <a:srgbClr val="000000">
                    <a:alpha val="60000"/>
                  </a:srgbClr>
                </a:solidFill>
                <a:latin typeface="Roboto Regular" pitchFamily="34" charset="0"/>
                <a:ea typeface="Roboto Regular" pitchFamily="34" charset="-122"/>
                <a:cs typeface="Roboto Regular" pitchFamily="34" charset="-120"/>
              </a:rPr>
              <a:t>Agent static system prompt</a:t>
            </a:r>
            <a:endParaRPr lang="en-US" sz="1400" dirty="0"/>
          </a:p>
        </p:txBody>
      </p:sp>
      <p:sp>
        <p:nvSpPr>
          <p:cNvPr id="7" name="Text 5"/>
          <p:cNvSpPr/>
          <p:nvPr/>
        </p:nvSpPr>
        <p:spPr>
          <a:xfrm>
            <a:off x="1574780" y="2730925"/>
            <a:ext cx="1371582"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Agent 1</a:t>
            </a:r>
            <a:endParaRPr lang="en-US" sz="1600" dirty="0"/>
          </a:p>
        </p:txBody>
      </p:sp>
      <p:sp>
        <p:nvSpPr>
          <p:cNvPr id="8" name="Text 6"/>
          <p:cNvSpPr/>
          <p:nvPr/>
        </p:nvSpPr>
        <p:spPr>
          <a:xfrm>
            <a:off x="5257732" y="2730925"/>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Agents</a:t>
            </a:r>
            <a:endParaRPr lang="en-US" sz="1600" dirty="0"/>
          </a:p>
        </p:txBody>
      </p:sp>
      <p:sp>
        <p:nvSpPr>
          <p:cNvPr id="9" name="Text 7"/>
          <p:cNvSpPr/>
          <p:nvPr/>
        </p:nvSpPr>
        <p:spPr>
          <a:xfrm>
            <a:off x="6527716" y="2730925"/>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Tools</a:t>
            </a:r>
            <a:endParaRPr lang="en-US" sz="1600" dirty="0"/>
          </a:p>
        </p:txBody>
      </p:sp>
      <p:sp>
        <p:nvSpPr>
          <p:cNvPr id="10" name="Shape 8"/>
          <p:cNvSpPr/>
          <p:nvPr/>
        </p:nvSpPr>
        <p:spPr>
          <a:xfrm>
            <a:off x="5206933" y="3099282"/>
            <a:ext cx="939788" cy="406463"/>
          </a:xfrm>
          <a:prstGeom prst="roundRect">
            <a:avLst>
              <a:gd name="adj" fmla="val 49492"/>
            </a:avLst>
          </a:prstGeom>
          <a:solidFill>
            <a:srgbClr val="FFFFFF">
              <a:alpha val="100000"/>
            </a:srgbClr>
          </a:solidFill>
          <a:ln/>
        </p:spPr>
        <p:txBody>
          <a:bodyPr/>
          <a:lstStyle/>
          <a:p>
            <a:endParaRPr lang="en-US"/>
          </a:p>
        </p:txBody>
      </p:sp>
      <p:sp>
        <p:nvSpPr>
          <p:cNvPr id="11" name="Shape 9"/>
          <p:cNvSpPr/>
          <p:nvPr/>
        </p:nvSpPr>
        <p:spPr>
          <a:xfrm>
            <a:off x="5206933" y="3099282"/>
            <a:ext cx="939788"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12" name="Shape 10"/>
          <p:cNvSpPr/>
          <p:nvPr/>
        </p:nvSpPr>
        <p:spPr>
          <a:xfrm>
            <a:off x="5206933" y="3099282"/>
            <a:ext cx="939788" cy="406463"/>
          </a:xfrm>
          <a:prstGeom prst="roundRect">
            <a:avLst>
              <a:gd name="adj" fmla="val 49492"/>
            </a:avLst>
          </a:prstGeom>
          <a:noFill/>
          <a:ln/>
        </p:spPr>
        <p:txBody>
          <a:bodyPr/>
          <a:lstStyle/>
          <a:p>
            <a:endParaRPr lang="en-US"/>
          </a:p>
        </p:txBody>
      </p:sp>
      <p:sp>
        <p:nvSpPr>
          <p:cNvPr id="13" name="Text 11"/>
          <p:cNvSpPr/>
          <p:nvPr/>
        </p:nvSpPr>
        <p:spPr>
          <a:xfrm>
            <a:off x="5359331" y="3175494"/>
            <a:ext cx="723891"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Agent 2</a:t>
            </a:r>
            <a:endParaRPr lang="en-US" sz="1400" dirty="0"/>
          </a:p>
        </p:txBody>
      </p:sp>
      <p:sp>
        <p:nvSpPr>
          <p:cNvPr id="14" name="Shape 12"/>
          <p:cNvSpPr/>
          <p:nvPr/>
        </p:nvSpPr>
        <p:spPr>
          <a:xfrm>
            <a:off x="6476916" y="3099282"/>
            <a:ext cx="812789" cy="406463"/>
          </a:xfrm>
          <a:prstGeom prst="roundRect">
            <a:avLst>
              <a:gd name="adj" fmla="val 49492"/>
            </a:avLst>
          </a:prstGeom>
          <a:solidFill>
            <a:srgbClr val="FFFFFF">
              <a:alpha val="100000"/>
            </a:srgbClr>
          </a:solidFill>
          <a:ln/>
        </p:spPr>
        <p:txBody>
          <a:bodyPr/>
          <a:lstStyle/>
          <a:p>
            <a:endParaRPr lang="en-US"/>
          </a:p>
        </p:txBody>
      </p:sp>
      <p:sp>
        <p:nvSpPr>
          <p:cNvPr id="15" name="Shape 13"/>
          <p:cNvSpPr/>
          <p:nvPr/>
        </p:nvSpPr>
        <p:spPr>
          <a:xfrm>
            <a:off x="6476916" y="3099282"/>
            <a:ext cx="8127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16" name="Shape 14"/>
          <p:cNvSpPr/>
          <p:nvPr/>
        </p:nvSpPr>
        <p:spPr>
          <a:xfrm>
            <a:off x="6476916" y="3099282"/>
            <a:ext cx="812789" cy="406463"/>
          </a:xfrm>
          <a:prstGeom prst="roundRect">
            <a:avLst>
              <a:gd name="adj" fmla="val 49492"/>
            </a:avLst>
          </a:prstGeom>
          <a:noFill/>
          <a:ln/>
        </p:spPr>
        <p:txBody>
          <a:bodyPr/>
          <a:lstStyle/>
          <a:p>
            <a:endParaRPr lang="en-US"/>
          </a:p>
        </p:txBody>
      </p:sp>
      <p:sp>
        <p:nvSpPr>
          <p:cNvPr id="17" name="Text 15"/>
          <p:cNvSpPr/>
          <p:nvPr/>
        </p:nvSpPr>
        <p:spPr>
          <a:xfrm>
            <a:off x="6629314" y="3175494"/>
            <a:ext cx="5968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Tool 1</a:t>
            </a:r>
            <a:endParaRPr lang="en-US" sz="1400" dirty="0"/>
          </a:p>
        </p:txBody>
      </p:sp>
      <p:sp>
        <p:nvSpPr>
          <p:cNvPr id="18" name="Shape 16"/>
          <p:cNvSpPr/>
          <p:nvPr/>
        </p:nvSpPr>
        <p:spPr>
          <a:xfrm>
            <a:off x="6476916" y="3696275"/>
            <a:ext cx="812789" cy="406463"/>
          </a:xfrm>
          <a:prstGeom prst="roundRect">
            <a:avLst>
              <a:gd name="adj" fmla="val 49492"/>
            </a:avLst>
          </a:prstGeom>
          <a:solidFill>
            <a:srgbClr val="FFFFFF">
              <a:alpha val="100000"/>
            </a:srgbClr>
          </a:solidFill>
          <a:ln/>
        </p:spPr>
        <p:txBody>
          <a:bodyPr/>
          <a:lstStyle/>
          <a:p>
            <a:endParaRPr lang="en-US"/>
          </a:p>
        </p:txBody>
      </p:sp>
      <p:sp>
        <p:nvSpPr>
          <p:cNvPr id="19" name="Shape 17"/>
          <p:cNvSpPr/>
          <p:nvPr/>
        </p:nvSpPr>
        <p:spPr>
          <a:xfrm>
            <a:off x="6476916" y="3696275"/>
            <a:ext cx="8127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20" name="Shape 18"/>
          <p:cNvSpPr/>
          <p:nvPr/>
        </p:nvSpPr>
        <p:spPr>
          <a:xfrm>
            <a:off x="6476916" y="3696275"/>
            <a:ext cx="812789" cy="406463"/>
          </a:xfrm>
          <a:prstGeom prst="roundRect">
            <a:avLst>
              <a:gd name="adj" fmla="val 49492"/>
            </a:avLst>
          </a:prstGeom>
          <a:noFill/>
          <a:ln/>
        </p:spPr>
        <p:txBody>
          <a:bodyPr/>
          <a:lstStyle/>
          <a:p>
            <a:endParaRPr lang="en-US"/>
          </a:p>
        </p:txBody>
      </p:sp>
      <p:sp>
        <p:nvSpPr>
          <p:cNvPr id="21" name="Text 19"/>
          <p:cNvSpPr/>
          <p:nvPr/>
        </p:nvSpPr>
        <p:spPr>
          <a:xfrm>
            <a:off x="6629314" y="3772487"/>
            <a:ext cx="5968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Tool 3</a:t>
            </a:r>
            <a:endParaRPr lang="en-US" sz="1400" dirty="0"/>
          </a:p>
        </p:txBody>
      </p:sp>
      <p:sp>
        <p:nvSpPr>
          <p:cNvPr id="22" name="Shape 20"/>
          <p:cNvSpPr/>
          <p:nvPr/>
        </p:nvSpPr>
        <p:spPr>
          <a:xfrm>
            <a:off x="1587479" y="4516911"/>
            <a:ext cx="5741726" cy="1867191"/>
          </a:xfrm>
          <a:prstGeom prst="rect">
            <a:avLst/>
          </a:prstGeom>
          <a:solidFill>
            <a:srgbClr val="FFFFFF">
              <a:alpha val="100000"/>
            </a:srgbClr>
          </a:solidFill>
          <a:ln/>
        </p:spPr>
        <p:txBody>
          <a:bodyPr/>
          <a:lstStyle/>
          <a:p>
            <a:endParaRPr lang="en-US"/>
          </a:p>
        </p:txBody>
      </p:sp>
      <p:sp>
        <p:nvSpPr>
          <p:cNvPr id="23" name="Text 21"/>
          <p:cNvSpPr/>
          <p:nvPr/>
        </p:nvSpPr>
        <p:spPr>
          <a:xfrm>
            <a:off x="1574780" y="4199386"/>
            <a:ext cx="2222471" cy="330251"/>
          </a:xfrm>
          <a:prstGeom prst="rect">
            <a:avLst/>
          </a:prstGeom>
          <a:noFill/>
          <a:ln/>
        </p:spPr>
        <p:txBody>
          <a:bodyPr wrap="square" lIns="0" tIns="0" rIns="0" bIns="0" rtlCol="0" anchor="t"/>
          <a:lstStyle/>
          <a:p>
            <a:pPr algn="l"/>
            <a:r>
              <a:rPr lang="en-US" sz="1400" dirty="0">
                <a:solidFill>
                  <a:srgbClr val="333333">
                    <a:alpha val="100000"/>
                  </a:srgbClr>
                </a:solidFill>
                <a:latin typeface="Segoe UI Semibold" pitchFamily="34" charset="0"/>
                <a:ea typeface="Segoe UI Semibold" pitchFamily="34" charset="-122"/>
                <a:cs typeface="Segoe UI Semibold" pitchFamily="34" charset="-120"/>
              </a:rPr>
              <a:t>Agent full context window</a:t>
            </a:r>
            <a:endParaRPr lang="en-US" sz="1400" dirty="0"/>
          </a:p>
        </p:txBody>
      </p:sp>
      <p:sp>
        <p:nvSpPr>
          <p:cNvPr id="24" name="Text 22"/>
          <p:cNvSpPr/>
          <p:nvPr/>
        </p:nvSpPr>
        <p:spPr>
          <a:xfrm>
            <a:off x="1727178" y="4593148"/>
            <a:ext cx="5600628" cy="584291"/>
          </a:xfrm>
          <a:prstGeom prst="rect">
            <a:avLst/>
          </a:prstGeom>
          <a:noFill/>
          <a:ln/>
        </p:spPr>
        <p:txBody>
          <a:bodyPr wrap="square" lIns="0" tIns="0" rIns="0" bIns="0" rtlCol="0" anchor="t"/>
          <a:lstStyle/>
          <a:p>
            <a:pPr algn="l"/>
            <a:r>
              <a:rPr lang="en-US" sz="1400" dirty="0">
                <a:solidFill>
                  <a:srgbClr val="333333">
                    <a:alpha val="100000"/>
                  </a:srgbClr>
                </a:solidFill>
                <a:latin typeface="Segoe UI Regular" pitchFamily="34" charset="0"/>
                <a:ea typeface="Segoe UI Regular" pitchFamily="34" charset="-122"/>
                <a:cs typeface="Segoe UI Regular" pitchFamily="34" charset="-120"/>
              </a:rPr>
              <a:t>Full context window of agent. This is the full set of text this agent sent </a:t>
            </a:r>
            <a:endParaRPr lang="en-US" sz="1400" dirty="0"/>
          </a:p>
          <a:p>
            <a:pPr algn="l"/>
            <a:r>
              <a:rPr lang="en-US" sz="1400" dirty="0">
                <a:solidFill>
                  <a:srgbClr val="333333">
                    <a:alpha val="100000"/>
                  </a:srgbClr>
                </a:solidFill>
                <a:latin typeface="Segoe UI Regular" pitchFamily="34" charset="0"/>
                <a:ea typeface="Segoe UI Regular" pitchFamily="34" charset="-122"/>
                <a:cs typeface="Segoe UI Regular" pitchFamily="34" charset="-120"/>
              </a:rPr>
              <a:t>to the LLM when last called.</a:t>
            </a:r>
            <a:endParaRPr lang="en-US" sz="1400" dirty="0"/>
          </a:p>
        </p:txBody>
      </p:sp>
      <p:sp>
        <p:nvSpPr>
          <p:cNvPr id="25" name="Shape 23"/>
          <p:cNvSpPr/>
          <p:nvPr/>
        </p:nvSpPr>
        <p:spPr>
          <a:xfrm>
            <a:off x="1587479" y="6485742"/>
            <a:ext cx="5741726" cy="12702"/>
          </a:xfrm>
          <a:prstGeom prst="rect">
            <a:avLst/>
          </a:prstGeom>
          <a:solidFill>
            <a:srgbClr val="0078D7">
              <a:alpha val="100000"/>
            </a:srgbClr>
          </a:solidFill>
          <a:ln/>
        </p:spPr>
        <p:txBody>
          <a:bodyPr/>
          <a:lstStyle/>
          <a:p>
            <a:endParaRPr lang="en-US"/>
          </a:p>
        </p:txBody>
      </p:sp>
      <p:sp>
        <p:nvSpPr>
          <p:cNvPr id="26" name="Text 24"/>
          <p:cNvSpPr/>
          <p:nvPr/>
        </p:nvSpPr>
        <p:spPr>
          <a:xfrm>
            <a:off x="1854176" y="6574656"/>
            <a:ext cx="698491" cy="279443"/>
          </a:xfrm>
          <a:prstGeom prst="rect">
            <a:avLst/>
          </a:prstGeom>
          <a:noFill/>
          <a:ln/>
        </p:spPr>
        <p:txBody>
          <a:bodyPr wrap="square" lIns="0" tIns="0" rIns="0" bIns="0" rtlCol="0" anchor="t"/>
          <a:lstStyle/>
          <a:p>
            <a:pPr algn="l"/>
            <a:r>
              <a:rPr lang="en-US" sz="1200" dirty="0">
                <a:solidFill>
                  <a:srgbClr val="000000">
                    <a:alpha val="12000"/>
                  </a:srgbClr>
                </a:solidFill>
                <a:latin typeface="Segoe UI Regular" pitchFamily="34" charset="0"/>
                <a:ea typeface="Segoe UI Regular" pitchFamily="34" charset="-122"/>
                <a:cs typeface="Segoe UI Regular" pitchFamily="34" charset="-120"/>
              </a:rPr>
              <a:t>Updating</a:t>
            </a:r>
            <a:endParaRPr lang="en-US" sz="1200" dirty="0"/>
          </a:p>
        </p:txBody>
      </p:sp>
      <p:sp>
        <p:nvSpPr>
          <p:cNvPr id="27" name="Shape 25"/>
          <p:cNvSpPr/>
          <p:nvPr/>
        </p:nvSpPr>
        <p:spPr>
          <a:xfrm>
            <a:off x="1580261" y="6596488"/>
            <a:ext cx="187645" cy="187677"/>
          </a:xfrm>
          <a:prstGeom prst="rect">
            <a:avLst/>
          </a:prstGeom>
          <a:noFill/>
          <a:ln/>
        </p:spPr>
        <p:txBody>
          <a:bodyPr/>
          <a:lstStyle/>
          <a:p>
            <a:endParaRPr lang="en-US"/>
          </a:p>
        </p:txBody>
      </p:sp>
      <p:sp>
        <p:nvSpPr>
          <p:cNvPr id="28" name="Shape 26"/>
          <p:cNvSpPr/>
          <p:nvPr/>
        </p:nvSpPr>
        <p:spPr>
          <a:xfrm>
            <a:off x="1595898" y="6612129"/>
            <a:ext cx="156371" cy="156397"/>
          </a:xfrm>
          <a:prstGeom prst="ellipse">
            <a:avLst/>
          </a:prstGeom>
          <a:noFill/>
          <a:ln w="12700">
            <a:solidFill>
              <a:srgbClr val="000000">
                <a:alpha val="12000"/>
              </a:srgbClr>
            </a:solidFill>
            <a:prstDash val="solid"/>
          </a:ln>
        </p:spPr>
        <p:txBody>
          <a:bodyPr/>
          <a:lstStyle/>
          <a:p>
            <a:endParaRPr lang="en-US"/>
          </a:p>
        </p:txBody>
      </p:sp>
      <p:pic>
        <p:nvPicPr>
          <p:cNvPr id="29" name="Image 0" descr="preencoded.png"/>
          <p:cNvPicPr>
            <a:picLocks noChangeAspect="1"/>
          </p:cNvPicPr>
          <p:nvPr/>
        </p:nvPicPr>
        <p:blipFill>
          <a:blip r:embed="rId3"/>
          <a:stretch>
            <a:fillRect/>
          </a:stretch>
        </p:blipFill>
        <p:spPr>
          <a:xfrm>
            <a:off x="1674084" y="6596488"/>
            <a:ext cx="93823" cy="93838"/>
          </a:xfrm>
          <a:prstGeom prst="rect">
            <a:avLst/>
          </a:prstGeom>
        </p:spPr>
      </p:pic>
      <p:sp>
        <p:nvSpPr>
          <p:cNvPr id="30" name="Shape 27"/>
          <p:cNvSpPr/>
          <p:nvPr/>
        </p:nvSpPr>
        <p:spPr>
          <a:xfrm>
            <a:off x="5206933" y="3696275"/>
            <a:ext cx="939788" cy="406463"/>
          </a:xfrm>
          <a:prstGeom prst="roundRect">
            <a:avLst>
              <a:gd name="adj" fmla="val 49492"/>
            </a:avLst>
          </a:prstGeom>
          <a:solidFill>
            <a:srgbClr val="FFFFFF">
              <a:alpha val="100000"/>
            </a:srgbClr>
          </a:solidFill>
          <a:ln/>
        </p:spPr>
        <p:txBody>
          <a:bodyPr/>
          <a:lstStyle/>
          <a:p>
            <a:endParaRPr lang="en-US"/>
          </a:p>
        </p:txBody>
      </p:sp>
      <p:sp>
        <p:nvSpPr>
          <p:cNvPr id="31" name="Shape 28"/>
          <p:cNvSpPr/>
          <p:nvPr/>
        </p:nvSpPr>
        <p:spPr>
          <a:xfrm>
            <a:off x="5206933" y="3696275"/>
            <a:ext cx="939788"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32" name="Shape 29"/>
          <p:cNvSpPr/>
          <p:nvPr/>
        </p:nvSpPr>
        <p:spPr>
          <a:xfrm>
            <a:off x="5206933" y="3696275"/>
            <a:ext cx="939788" cy="406463"/>
          </a:xfrm>
          <a:prstGeom prst="roundRect">
            <a:avLst>
              <a:gd name="adj" fmla="val 49492"/>
            </a:avLst>
          </a:prstGeom>
          <a:noFill/>
          <a:ln/>
        </p:spPr>
        <p:txBody>
          <a:bodyPr/>
          <a:lstStyle/>
          <a:p>
            <a:endParaRPr lang="en-US"/>
          </a:p>
        </p:txBody>
      </p:sp>
      <p:sp>
        <p:nvSpPr>
          <p:cNvPr id="33" name="Text 30"/>
          <p:cNvSpPr/>
          <p:nvPr/>
        </p:nvSpPr>
        <p:spPr>
          <a:xfrm>
            <a:off x="5359331" y="3772487"/>
            <a:ext cx="723891"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Agent 3</a:t>
            </a:r>
            <a:endParaRPr lang="en-US" sz="1400" dirty="0"/>
          </a:p>
        </p:txBody>
      </p:sp>
      <p:sp>
        <p:nvSpPr>
          <p:cNvPr id="34" name="Shape 31"/>
          <p:cNvSpPr/>
          <p:nvPr/>
        </p:nvSpPr>
        <p:spPr>
          <a:xfrm>
            <a:off x="10159869" y="2540395"/>
            <a:ext cx="6349918" cy="2540395"/>
          </a:xfrm>
          <a:prstGeom prst="roundRect">
            <a:avLst>
              <a:gd name="adj" fmla="val 2160"/>
            </a:avLst>
          </a:prstGeom>
          <a:solidFill>
            <a:srgbClr val="F2F2F2">
              <a:alpha val="100000"/>
            </a:srgbClr>
          </a:solidFill>
          <a:ln/>
          <a:effectLst>
            <a:outerShdw blurRad="190500" dist="139700" dir="5400000" algn="bl" rotWithShape="0">
              <a:srgbClr val="000000">
                <a:alpha val="20000"/>
              </a:srgbClr>
            </a:outerShdw>
          </a:effectLst>
        </p:spPr>
        <p:txBody>
          <a:bodyPr/>
          <a:lstStyle/>
          <a:p>
            <a:endParaRPr lang="en-US"/>
          </a:p>
        </p:txBody>
      </p:sp>
      <p:sp>
        <p:nvSpPr>
          <p:cNvPr id="35" name="Shape 32"/>
          <p:cNvSpPr/>
          <p:nvPr/>
        </p:nvSpPr>
        <p:spPr>
          <a:xfrm>
            <a:off x="10159869" y="2540395"/>
            <a:ext cx="6349918" cy="2540395"/>
          </a:xfrm>
          <a:prstGeom prst="roundRect">
            <a:avLst>
              <a:gd name="adj" fmla="val 2160"/>
            </a:avLst>
          </a:prstGeom>
          <a:solidFill>
            <a:srgbClr val="F2F2F2">
              <a:alpha val="100000"/>
            </a:srgbClr>
          </a:solidFill>
          <a:ln/>
          <a:effectLst>
            <a:outerShdw blurRad="584200" dist="114300" dir="5400000" algn="bl" rotWithShape="0">
              <a:srgbClr val="000000">
                <a:alpha val="12000"/>
              </a:srgbClr>
            </a:outerShdw>
          </a:effectLst>
        </p:spPr>
        <p:txBody>
          <a:bodyPr/>
          <a:lstStyle/>
          <a:p>
            <a:endParaRPr lang="en-US"/>
          </a:p>
        </p:txBody>
      </p:sp>
      <p:sp>
        <p:nvSpPr>
          <p:cNvPr id="36" name="Shape 33"/>
          <p:cNvSpPr/>
          <p:nvPr/>
        </p:nvSpPr>
        <p:spPr>
          <a:xfrm>
            <a:off x="10159869" y="2540395"/>
            <a:ext cx="6349918" cy="2540395"/>
          </a:xfrm>
          <a:prstGeom prst="roundRect">
            <a:avLst>
              <a:gd name="adj" fmla="val 2160"/>
            </a:avLst>
          </a:prstGeom>
          <a:solidFill>
            <a:srgbClr val="F2F2F2">
              <a:alpha val="100000"/>
            </a:srgbClr>
          </a:solidFill>
          <a:ln/>
          <a:effectLst>
            <a:outerShdw blurRad="482600" dist="304800" dir="5400000" algn="bl" rotWithShape="0">
              <a:srgbClr val="000000">
                <a:alpha val="14000"/>
              </a:srgbClr>
            </a:outerShdw>
          </a:effectLst>
        </p:spPr>
        <p:txBody>
          <a:bodyPr/>
          <a:lstStyle/>
          <a:p>
            <a:endParaRPr lang="en-US"/>
          </a:p>
        </p:txBody>
      </p:sp>
      <p:sp>
        <p:nvSpPr>
          <p:cNvPr id="37" name="Shape 34"/>
          <p:cNvSpPr/>
          <p:nvPr/>
        </p:nvSpPr>
        <p:spPr>
          <a:xfrm>
            <a:off x="10159869" y="2540395"/>
            <a:ext cx="6349918" cy="2540395"/>
          </a:xfrm>
          <a:prstGeom prst="roundRect">
            <a:avLst>
              <a:gd name="adj" fmla="val 2160"/>
            </a:avLst>
          </a:prstGeom>
          <a:solidFill>
            <a:srgbClr val="F2F2F2">
              <a:alpha val="100000"/>
            </a:srgbClr>
          </a:solidFill>
          <a:ln/>
        </p:spPr>
        <p:txBody>
          <a:bodyPr/>
          <a:lstStyle/>
          <a:p>
            <a:endParaRPr lang="en-US"/>
          </a:p>
        </p:txBody>
      </p:sp>
      <p:sp>
        <p:nvSpPr>
          <p:cNvPr id="38" name="Text 35"/>
          <p:cNvSpPr/>
          <p:nvPr/>
        </p:nvSpPr>
        <p:spPr>
          <a:xfrm>
            <a:off x="10464665" y="3081612"/>
            <a:ext cx="3035261" cy="1849518"/>
          </a:xfrm>
          <a:prstGeom prst="rect">
            <a:avLst/>
          </a:prstGeom>
          <a:noFill/>
          <a:ln/>
        </p:spPr>
        <p:txBody>
          <a:bodyPr wrap="square" lIns="0" tIns="0" rIns="0" bIns="0" rtlCol="0" anchor="t"/>
          <a:lstStyle/>
          <a:p>
            <a:pPr algn="l"/>
            <a:r>
              <a:rPr lang="en-US" sz="1400" kern="0" spc="25" dirty="0">
                <a:solidFill>
                  <a:srgbClr val="000000">
                    <a:alpha val="60000"/>
                  </a:srgbClr>
                </a:solidFill>
                <a:latin typeface="Roboto Regular" pitchFamily="34" charset="0"/>
                <a:ea typeface="Roboto Regular" pitchFamily="34" charset="-122"/>
                <a:cs typeface="Roboto Regular" pitchFamily="34" charset="-120"/>
              </a:rPr>
              <a:t>Tool description, and example of how inputs populate variables or functions and how output is formatted for return to the agent requesting the tool's use</a:t>
            </a:r>
            <a:endParaRPr lang="en-US" sz="1400" dirty="0"/>
          </a:p>
        </p:txBody>
      </p:sp>
      <p:sp>
        <p:nvSpPr>
          <p:cNvPr id="39" name="Text 36"/>
          <p:cNvSpPr/>
          <p:nvPr/>
        </p:nvSpPr>
        <p:spPr>
          <a:xfrm>
            <a:off x="10464665" y="2730925"/>
            <a:ext cx="1371582"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Tool 1</a:t>
            </a:r>
            <a:endParaRPr lang="en-US" sz="1600" dirty="0"/>
          </a:p>
        </p:txBody>
      </p:sp>
      <p:sp>
        <p:nvSpPr>
          <p:cNvPr id="40" name="Text 37"/>
          <p:cNvSpPr/>
          <p:nvPr/>
        </p:nvSpPr>
        <p:spPr>
          <a:xfrm>
            <a:off x="13766622" y="2730925"/>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Inputs</a:t>
            </a:r>
            <a:endParaRPr lang="en-US" sz="1600" dirty="0"/>
          </a:p>
        </p:txBody>
      </p:sp>
      <p:sp>
        <p:nvSpPr>
          <p:cNvPr id="41" name="Text 38"/>
          <p:cNvSpPr/>
          <p:nvPr/>
        </p:nvSpPr>
        <p:spPr>
          <a:xfrm>
            <a:off x="15036605" y="2730925"/>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Outputs</a:t>
            </a:r>
            <a:endParaRPr lang="en-US" sz="1600" dirty="0"/>
          </a:p>
        </p:txBody>
      </p:sp>
      <p:sp>
        <p:nvSpPr>
          <p:cNvPr id="42" name="Shape 39"/>
          <p:cNvSpPr/>
          <p:nvPr/>
        </p:nvSpPr>
        <p:spPr>
          <a:xfrm>
            <a:off x="13715823" y="3099282"/>
            <a:ext cx="1117586" cy="406463"/>
          </a:xfrm>
          <a:prstGeom prst="roundRect">
            <a:avLst>
              <a:gd name="adj" fmla="val 49492"/>
            </a:avLst>
          </a:prstGeom>
          <a:solidFill>
            <a:srgbClr val="FFFFFF">
              <a:alpha val="100000"/>
            </a:srgbClr>
          </a:solidFill>
          <a:ln/>
        </p:spPr>
        <p:txBody>
          <a:bodyPr/>
          <a:lstStyle/>
          <a:p>
            <a:endParaRPr lang="en-US"/>
          </a:p>
        </p:txBody>
      </p:sp>
      <p:sp>
        <p:nvSpPr>
          <p:cNvPr id="43" name="Shape 40"/>
          <p:cNvSpPr/>
          <p:nvPr/>
        </p:nvSpPr>
        <p:spPr>
          <a:xfrm>
            <a:off x="13715823" y="3099282"/>
            <a:ext cx="1117586"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44" name="Shape 41"/>
          <p:cNvSpPr/>
          <p:nvPr/>
        </p:nvSpPr>
        <p:spPr>
          <a:xfrm>
            <a:off x="13715823" y="3099282"/>
            <a:ext cx="1117586" cy="406463"/>
          </a:xfrm>
          <a:prstGeom prst="roundRect">
            <a:avLst>
              <a:gd name="adj" fmla="val 49492"/>
            </a:avLst>
          </a:prstGeom>
          <a:noFill/>
          <a:ln/>
        </p:spPr>
        <p:txBody>
          <a:bodyPr/>
          <a:lstStyle/>
          <a:p>
            <a:endParaRPr lang="en-US"/>
          </a:p>
        </p:txBody>
      </p:sp>
      <p:sp>
        <p:nvSpPr>
          <p:cNvPr id="45" name="Text 42"/>
          <p:cNvSpPr/>
          <p:nvPr/>
        </p:nvSpPr>
        <p:spPr>
          <a:xfrm>
            <a:off x="13868221" y="3175494"/>
            <a:ext cx="901688"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Variable 1</a:t>
            </a:r>
            <a:endParaRPr lang="en-US" sz="1400" dirty="0"/>
          </a:p>
        </p:txBody>
      </p:sp>
      <p:sp>
        <p:nvSpPr>
          <p:cNvPr id="46" name="Shape 43"/>
          <p:cNvSpPr/>
          <p:nvPr/>
        </p:nvSpPr>
        <p:spPr>
          <a:xfrm>
            <a:off x="14985806" y="3099282"/>
            <a:ext cx="838189" cy="406463"/>
          </a:xfrm>
          <a:prstGeom prst="roundRect">
            <a:avLst>
              <a:gd name="adj" fmla="val 49492"/>
            </a:avLst>
          </a:prstGeom>
          <a:solidFill>
            <a:srgbClr val="FFFFFF">
              <a:alpha val="100000"/>
            </a:srgbClr>
          </a:solidFill>
          <a:ln/>
        </p:spPr>
        <p:txBody>
          <a:bodyPr/>
          <a:lstStyle/>
          <a:p>
            <a:endParaRPr lang="en-US"/>
          </a:p>
        </p:txBody>
      </p:sp>
      <p:sp>
        <p:nvSpPr>
          <p:cNvPr id="47" name="Shape 44"/>
          <p:cNvSpPr/>
          <p:nvPr/>
        </p:nvSpPr>
        <p:spPr>
          <a:xfrm>
            <a:off x="14985806" y="3099282"/>
            <a:ext cx="8381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48" name="Shape 45"/>
          <p:cNvSpPr/>
          <p:nvPr/>
        </p:nvSpPr>
        <p:spPr>
          <a:xfrm>
            <a:off x="14985806" y="3099282"/>
            <a:ext cx="838189" cy="406463"/>
          </a:xfrm>
          <a:prstGeom prst="roundRect">
            <a:avLst>
              <a:gd name="adj" fmla="val 49492"/>
            </a:avLst>
          </a:prstGeom>
          <a:noFill/>
          <a:ln/>
        </p:spPr>
        <p:txBody>
          <a:bodyPr/>
          <a:lstStyle/>
          <a:p>
            <a:endParaRPr lang="en-US"/>
          </a:p>
        </p:txBody>
      </p:sp>
      <p:sp>
        <p:nvSpPr>
          <p:cNvPr id="49" name="Text 46"/>
          <p:cNvSpPr/>
          <p:nvPr/>
        </p:nvSpPr>
        <p:spPr>
          <a:xfrm>
            <a:off x="15138204" y="3175494"/>
            <a:ext cx="6222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Data 1</a:t>
            </a:r>
            <a:endParaRPr lang="en-US" sz="1400" dirty="0"/>
          </a:p>
        </p:txBody>
      </p:sp>
      <p:sp>
        <p:nvSpPr>
          <p:cNvPr id="50" name="Shape 47"/>
          <p:cNvSpPr/>
          <p:nvPr/>
        </p:nvSpPr>
        <p:spPr>
          <a:xfrm>
            <a:off x="14985806" y="3696275"/>
            <a:ext cx="838189" cy="406463"/>
          </a:xfrm>
          <a:prstGeom prst="roundRect">
            <a:avLst>
              <a:gd name="adj" fmla="val 49492"/>
            </a:avLst>
          </a:prstGeom>
          <a:solidFill>
            <a:srgbClr val="FFFFFF">
              <a:alpha val="100000"/>
            </a:srgbClr>
          </a:solidFill>
          <a:ln/>
        </p:spPr>
        <p:txBody>
          <a:bodyPr/>
          <a:lstStyle/>
          <a:p>
            <a:endParaRPr lang="en-US"/>
          </a:p>
        </p:txBody>
      </p:sp>
      <p:sp>
        <p:nvSpPr>
          <p:cNvPr id="51" name="Shape 48"/>
          <p:cNvSpPr/>
          <p:nvPr/>
        </p:nvSpPr>
        <p:spPr>
          <a:xfrm>
            <a:off x="14985806" y="3696275"/>
            <a:ext cx="8381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52" name="Shape 49"/>
          <p:cNvSpPr/>
          <p:nvPr/>
        </p:nvSpPr>
        <p:spPr>
          <a:xfrm>
            <a:off x="14985806" y="3696275"/>
            <a:ext cx="838189" cy="406463"/>
          </a:xfrm>
          <a:prstGeom prst="roundRect">
            <a:avLst>
              <a:gd name="adj" fmla="val 49492"/>
            </a:avLst>
          </a:prstGeom>
          <a:noFill/>
          <a:ln/>
        </p:spPr>
        <p:txBody>
          <a:bodyPr/>
          <a:lstStyle/>
          <a:p>
            <a:endParaRPr lang="en-US"/>
          </a:p>
        </p:txBody>
      </p:sp>
      <p:sp>
        <p:nvSpPr>
          <p:cNvPr id="53" name="Text 50"/>
          <p:cNvSpPr/>
          <p:nvPr/>
        </p:nvSpPr>
        <p:spPr>
          <a:xfrm>
            <a:off x="15138204" y="3772487"/>
            <a:ext cx="6222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Data 2</a:t>
            </a:r>
            <a:endParaRPr lang="en-US" sz="1400" dirty="0"/>
          </a:p>
        </p:txBody>
      </p:sp>
      <p:sp>
        <p:nvSpPr>
          <p:cNvPr id="54" name="Shape 51"/>
          <p:cNvSpPr/>
          <p:nvPr/>
        </p:nvSpPr>
        <p:spPr>
          <a:xfrm>
            <a:off x="10159869" y="5842909"/>
            <a:ext cx="6349918" cy="2540395"/>
          </a:xfrm>
          <a:prstGeom prst="roundRect">
            <a:avLst>
              <a:gd name="adj" fmla="val 2160"/>
            </a:avLst>
          </a:prstGeom>
          <a:solidFill>
            <a:srgbClr val="F2F2F2">
              <a:alpha val="100000"/>
            </a:srgbClr>
          </a:solidFill>
          <a:ln/>
          <a:effectLst>
            <a:outerShdw blurRad="190500" dist="139700" dir="5400000" algn="bl" rotWithShape="0">
              <a:srgbClr val="000000">
                <a:alpha val="20000"/>
              </a:srgbClr>
            </a:outerShdw>
          </a:effectLst>
        </p:spPr>
        <p:txBody>
          <a:bodyPr/>
          <a:lstStyle/>
          <a:p>
            <a:endParaRPr lang="en-US"/>
          </a:p>
        </p:txBody>
      </p:sp>
      <p:sp>
        <p:nvSpPr>
          <p:cNvPr id="55" name="Shape 52"/>
          <p:cNvSpPr/>
          <p:nvPr/>
        </p:nvSpPr>
        <p:spPr>
          <a:xfrm>
            <a:off x="10159869" y="5842909"/>
            <a:ext cx="6349918" cy="2540395"/>
          </a:xfrm>
          <a:prstGeom prst="roundRect">
            <a:avLst>
              <a:gd name="adj" fmla="val 2160"/>
            </a:avLst>
          </a:prstGeom>
          <a:solidFill>
            <a:srgbClr val="F2F2F2">
              <a:alpha val="100000"/>
            </a:srgbClr>
          </a:solidFill>
          <a:ln/>
          <a:effectLst>
            <a:outerShdw blurRad="584200" dist="114300" dir="5400000" algn="bl" rotWithShape="0">
              <a:srgbClr val="000000">
                <a:alpha val="12000"/>
              </a:srgbClr>
            </a:outerShdw>
          </a:effectLst>
        </p:spPr>
        <p:txBody>
          <a:bodyPr/>
          <a:lstStyle/>
          <a:p>
            <a:endParaRPr lang="en-US"/>
          </a:p>
        </p:txBody>
      </p:sp>
      <p:sp>
        <p:nvSpPr>
          <p:cNvPr id="56" name="Shape 53"/>
          <p:cNvSpPr/>
          <p:nvPr/>
        </p:nvSpPr>
        <p:spPr>
          <a:xfrm>
            <a:off x="10159869" y="5842909"/>
            <a:ext cx="6349918" cy="2540395"/>
          </a:xfrm>
          <a:prstGeom prst="roundRect">
            <a:avLst>
              <a:gd name="adj" fmla="val 2160"/>
            </a:avLst>
          </a:prstGeom>
          <a:solidFill>
            <a:srgbClr val="F2F2F2">
              <a:alpha val="100000"/>
            </a:srgbClr>
          </a:solidFill>
          <a:ln/>
          <a:effectLst>
            <a:outerShdw blurRad="482600" dist="304800" dir="5400000" algn="bl" rotWithShape="0">
              <a:srgbClr val="000000">
                <a:alpha val="14000"/>
              </a:srgbClr>
            </a:outerShdw>
          </a:effectLst>
        </p:spPr>
        <p:txBody>
          <a:bodyPr/>
          <a:lstStyle/>
          <a:p>
            <a:endParaRPr lang="en-US"/>
          </a:p>
        </p:txBody>
      </p:sp>
      <p:sp>
        <p:nvSpPr>
          <p:cNvPr id="57" name="Shape 54"/>
          <p:cNvSpPr/>
          <p:nvPr/>
        </p:nvSpPr>
        <p:spPr>
          <a:xfrm>
            <a:off x="10159869" y="5842909"/>
            <a:ext cx="6349918" cy="2540395"/>
          </a:xfrm>
          <a:prstGeom prst="roundRect">
            <a:avLst>
              <a:gd name="adj" fmla="val 2160"/>
            </a:avLst>
          </a:prstGeom>
          <a:solidFill>
            <a:srgbClr val="F2F2F2">
              <a:alpha val="100000"/>
            </a:srgbClr>
          </a:solidFill>
          <a:ln/>
        </p:spPr>
        <p:txBody>
          <a:bodyPr/>
          <a:lstStyle/>
          <a:p>
            <a:endParaRPr lang="en-US"/>
          </a:p>
        </p:txBody>
      </p:sp>
      <p:sp>
        <p:nvSpPr>
          <p:cNvPr id="58" name="Text 55"/>
          <p:cNvSpPr/>
          <p:nvPr/>
        </p:nvSpPr>
        <p:spPr>
          <a:xfrm>
            <a:off x="10464665" y="6384126"/>
            <a:ext cx="3035261" cy="1849518"/>
          </a:xfrm>
          <a:prstGeom prst="rect">
            <a:avLst/>
          </a:prstGeom>
          <a:noFill/>
          <a:ln/>
        </p:spPr>
        <p:txBody>
          <a:bodyPr wrap="square" lIns="0" tIns="0" rIns="0" bIns="0" rtlCol="0" anchor="t"/>
          <a:lstStyle/>
          <a:p>
            <a:pPr algn="l"/>
            <a:r>
              <a:rPr lang="en-US" sz="1400" kern="0" spc="25" dirty="0">
                <a:solidFill>
                  <a:srgbClr val="000000">
                    <a:alpha val="60000"/>
                  </a:srgbClr>
                </a:solidFill>
                <a:latin typeface="Roboto Regular" pitchFamily="34" charset="0"/>
                <a:ea typeface="Roboto Regular" pitchFamily="34" charset="-122"/>
                <a:cs typeface="Roboto Regular" pitchFamily="34" charset="-120"/>
              </a:rPr>
              <a:t>Tool description, and example of how inputs populate variables or functions and how output is formatted for return to the agent requesting the tool's use</a:t>
            </a:r>
            <a:endParaRPr lang="en-US" sz="1400" dirty="0"/>
          </a:p>
        </p:txBody>
      </p:sp>
      <p:sp>
        <p:nvSpPr>
          <p:cNvPr id="59" name="Text 56"/>
          <p:cNvSpPr/>
          <p:nvPr/>
        </p:nvSpPr>
        <p:spPr>
          <a:xfrm>
            <a:off x="10464665" y="6033439"/>
            <a:ext cx="1371582"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Tool 2</a:t>
            </a:r>
            <a:endParaRPr lang="en-US" sz="1600" dirty="0"/>
          </a:p>
        </p:txBody>
      </p:sp>
      <p:sp>
        <p:nvSpPr>
          <p:cNvPr id="60" name="Text 57"/>
          <p:cNvSpPr/>
          <p:nvPr/>
        </p:nvSpPr>
        <p:spPr>
          <a:xfrm>
            <a:off x="13766622" y="6033439"/>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Inputs</a:t>
            </a:r>
            <a:endParaRPr lang="en-US" sz="1600" dirty="0"/>
          </a:p>
        </p:txBody>
      </p:sp>
      <p:sp>
        <p:nvSpPr>
          <p:cNvPr id="61" name="Text 58"/>
          <p:cNvSpPr/>
          <p:nvPr/>
        </p:nvSpPr>
        <p:spPr>
          <a:xfrm>
            <a:off x="15036605" y="6033439"/>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Outputs</a:t>
            </a:r>
            <a:endParaRPr lang="en-US" sz="1600" dirty="0"/>
          </a:p>
        </p:txBody>
      </p:sp>
      <p:sp>
        <p:nvSpPr>
          <p:cNvPr id="62" name="Shape 59"/>
          <p:cNvSpPr/>
          <p:nvPr/>
        </p:nvSpPr>
        <p:spPr>
          <a:xfrm>
            <a:off x="13715823" y="6401796"/>
            <a:ext cx="1117586" cy="406463"/>
          </a:xfrm>
          <a:prstGeom prst="roundRect">
            <a:avLst>
              <a:gd name="adj" fmla="val 49492"/>
            </a:avLst>
          </a:prstGeom>
          <a:solidFill>
            <a:srgbClr val="FFFFFF">
              <a:alpha val="100000"/>
            </a:srgbClr>
          </a:solidFill>
          <a:ln/>
        </p:spPr>
        <p:txBody>
          <a:bodyPr/>
          <a:lstStyle/>
          <a:p>
            <a:endParaRPr lang="en-US"/>
          </a:p>
        </p:txBody>
      </p:sp>
      <p:sp>
        <p:nvSpPr>
          <p:cNvPr id="63" name="Shape 60"/>
          <p:cNvSpPr/>
          <p:nvPr/>
        </p:nvSpPr>
        <p:spPr>
          <a:xfrm>
            <a:off x="13715823" y="6401796"/>
            <a:ext cx="1117586"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64" name="Shape 61"/>
          <p:cNvSpPr/>
          <p:nvPr/>
        </p:nvSpPr>
        <p:spPr>
          <a:xfrm>
            <a:off x="13715823" y="6401796"/>
            <a:ext cx="1117586" cy="406463"/>
          </a:xfrm>
          <a:prstGeom prst="roundRect">
            <a:avLst>
              <a:gd name="adj" fmla="val 49492"/>
            </a:avLst>
          </a:prstGeom>
          <a:noFill/>
          <a:ln/>
        </p:spPr>
        <p:txBody>
          <a:bodyPr/>
          <a:lstStyle/>
          <a:p>
            <a:endParaRPr lang="en-US"/>
          </a:p>
        </p:txBody>
      </p:sp>
      <p:sp>
        <p:nvSpPr>
          <p:cNvPr id="65" name="Text 62"/>
          <p:cNvSpPr/>
          <p:nvPr/>
        </p:nvSpPr>
        <p:spPr>
          <a:xfrm>
            <a:off x="13868221" y="6478008"/>
            <a:ext cx="901688"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Variable 1</a:t>
            </a:r>
            <a:endParaRPr lang="en-US" sz="1400" dirty="0"/>
          </a:p>
        </p:txBody>
      </p:sp>
      <p:sp>
        <p:nvSpPr>
          <p:cNvPr id="66" name="Shape 63"/>
          <p:cNvSpPr/>
          <p:nvPr/>
        </p:nvSpPr>
        <p:spPr>
          <a:xfrm>
            <a:off x="14985806" y="6401796"/>
            <a:ext cx="838189" cy="406463"/>
          </a:xfrm>
          <a:prstGeom prst="roundRect">
            <a:avLst>
              <a:gd name="adj" fmla="val 49492"/>
            </a:avLst>
          </a:prstGeom>
          <a:solidFill>
            <a:srgbClr val="FFFFFF">
              <a:alpha val="100000"/>
            </a:srgbClr>
          </a:solidFill>
          <a:ln/>
        </p:spPr>
        <p:txBody>
          <a:bodyPr/>
          <a:lstStyle/>
          <a:p>
            <a:endParaRPr lang="en-US"/>
          </a:p>
        </p:txBody>
      </p:sp>
      <p:sp>
        <p:nvSpPr>
          <p:cNvPr id="67" name="Shape 64"/>
          <p:cNvSpPr/>
          <p:nvPr/>
        </p:nvSpPr>
        <p:spPr>
          <a:xfrm>
            <a:off x="14985806" y="6401796"/>
            <a:ext cx="8381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68" name="Shape 65"/>
          <p:cNvSpPr/>
          <p:nvPr/>
        </p:nvSpPr>
        <p:spPr>
          <a:xfrm>
            <a:off x="14985806" y="6401796"/>
            <a:ext cx="838189" cy="406463"/>
          </a:xfrm>
          <a:prstGeom prst="roundRect">
            <a:avLst>
              <a:gd name="adj" fmla="val 49492"/>
            </a:avLst>
          </a:prstGeom>
          <a:noFill/>
          <a:ln/>
        </p:spPr>
        <p:txBody>
          <a:bodyPr/>
          <a:lstStyle/>
          <a:p>
            <a:endParaRPr lang="en-US"/>
          </a:p>
        </p:txBody>
      </p:sp>
      <p:sp>
        <p:nvSpPr>
          <p:cNvPr id="69" name="Text 66"/>
          <p:cNvSpPr/>
          <p:nvPr/>
        </p:nvSpPr>
        <p:spPr>
          <a:xfrm>
            <a:off x="15138204" y="6478008"/>
            <a:ext cx="6222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Data 1</a:t>
            </a:r>
            <a:endParaRPr lang="en-US" sz="1400" dirty="0"/>
          </a:p>
        </p:txBody>
      </p:sp>
      <p:sp>
        <p:nvSpPr>
          <p:cNvPr id="70" name="Shape 67"/>
          <p:cNvSpPr/>
          <p:nvPr/>
        </p:nvSpPr>
        <p:spPr>
          <a:xfrm>
            <a:off x="14985806" y="6998789"/>
            <a:ext cx="838189" cy="406463"/>
          </a:xfrm>
          <a:prstGeom prst="roundRect">
            <a:avLst>
              <a:gd name="adj" fmla="val 49492"/>
            </a:avLst>
          </a:prstGeom>
          <a:solidFill>
            <a:srgbClr val="FFFFFF">
              <a:alpha val="100000"/>
            </a:srgbClr>
          </a:solidFill>
          <a:ln/>
        </p:spPr>
        <p:txBody>
          <a:bodyPr/>
          <a:lstStyle/>
          <a:p>
            <a:endParaRPr lang="en-US"/>
          </a:p>
        </p:txBody>
      </p:sp>
      <p:sp>
        <p:nvSpPr>
          <p:cNvPr id="71" name="Shape 68"/>
          <p:cNvSpPr/>
          <p:nvPr/>
        </p:nvSpPr>
        <p:spPr>
          <a:xfrm>
            <a:off x="14985806" y="6998789"/>
            <a:ext cx="8381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72" name="Shape 69"/>
          <p:cNvSpPr/>
          <p:nvPr/>
        </p:nvSpPr>
        <p:spPr>
          <a:xfrm>
            <a:off x="14985806" y="6998789"/>
            <a:ext cx="838189" cy="406463"/>
          </a:xfrm>
          <a:prstGeom prst="roundRect">
            <a:avLst>
              <a:gd name="adj" fmla="val 49492"/>
            </a:avLst>
          </a:prstGeom>
          <a:noFill/>
          <a:ln/>
        </p:spPr>
        <p:txBody>
          <a:bodyPr/>
          <a:lstStyle/>
          <a:p>
            <a:endParaRPr lang="en-US"/>
          </a:p>
        </p:txBody>
      </p:sp>
      <p:sp>
        <p:nvSpPr>
          <p:cNvPr id="73" name="Text 70"/>
          <p:cNvSpPr/>
          <p:nvPr/>
        </p:nvSpPr>
        <p:spPr>
          <a:xfrm>
            <a:off x="15138204" y="7075001"/>
            <a:ext cx="6222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Data 2</a:t>
            </a:r>
            <a:endParaRPr lang="en-US" sz="1400" dirty="0"/>
          </a:p>
        </p:txBody>
      </p:sp>
      <p:sp>
        <p:nvSpPr>
          <p:cNvPr id="74" name="Text 71"/>
          <p:cNvSpPr/>
          <p:nvPr/>
        </p:nvSpPr>
        <p:spPr>
          <a:xfrm>
            <a:off x="1396982" y="889138"/>
            <a:ext cx="2476468" cy="1105072"/>
          </a:xfrm>
          <a:prstGeom prst="rect">
            <a:avLst/>
          </a:prstGeom>
          <a:noFill/>
          <a:ln/>
        </p:spPr>
        <p:txBody>
          <a:bodyPr wrap="square" lIns="0" tIns="0" rIns="0" bIns="0" rtlCol="0" anchor="t"/>
          <a:lstStyle/>
          <a:p>
            <a:pPr algn="l"/>
            <a:r>
              <a:rPr lang="en-US" sz="4800" kern="0" spc="-38" dirty="0">
                <a:solidFill>
                  <a:srgbClr val="000000">
                    <a:alpha val="87000"/>
                  </a:srgbClr>
                </a:solidFill>
                <a:latin typeface="Roboto Mono Regular" pitchFamily="34" charset="0"/>
                <a:ea typeface="Roboto Mono Regular" pitchFamily="34" charset="-122"/>
                <a:cs typeface="Roboto Mono Regular" pitchFamily="34" charset="-120"/>
              </a:rPr>
              <a:t>Agents</a:t>
            </a:r>
            <a:endParaRPr lang="en-US" sz="4800" dirty="0"/>
          </a:p>
        </p:txBody>
      </p:sp>
      <p:sp>
        <p:nvSpPr>
          <p:cNvPr id="75" name="Text 72"/>
          <p:cNvSpPr/>
          <p:nvPr/>
        </p:nvSpPr>
        <p:spPr>
          <a:xfrm>
            <a:off x="1396982" y="508135"/>
            <a:ext cx="4317944" cy="368357"/>
          </a:xfrm>
          <a:prstGeom prst="rect">
            <a:avLst/>
          </a:prstGeom>
          <a:noFill/>
          <a:ln/>
        </p:spPr>
        <p:txBody>
          <a:bodyPr wrap="square" lIns="0" tIns="0" rIns="0" bIns="0" rtlCol="0" anchor="t"/>
          <a:lstStyle/>
          <a:p>
            <a:pPr algn="l"/>
            <a:r>
              <a:rPr lang="en-US" sz="1600" kern="0" spc="-13" dirty="0">
                <a:solidFill>
                  <a:srgbClr val="000000">
                    <a:alpha val="87000"/>
                  </a:srgbClr>
                </a:solidFill>
                <a:latin typeface="Roboto Mono Regular" pitchFamily="34" charset="0"/>
                <a:ea typeface="Roboto Mono Regular" pitchFamily="34" charset="-122"/>
                <a:cs typeface="Roboto Mono Regular" pitchFamily="34" charset="-120"/>
              </a:rPr>
              <a:t>PACIFIC SCIENCE &amp; ENGINEERING (PSE)</a:t>
            </a:r>
            <a:endParaRPr lang="en-US" sz="1600" dirty="0"/>
          </a:p>
        </p:txBody>
      </p:sp>
      <p:sp>
        <p:nvSpPr>
          <p:cNvPr id="76" name="Shape 73"/>
          <p:cNvSpPr/>
          <p:nvPr/>
        </p:nvSpPr>
        <p:spPr>
          <a:xfrm>
            <a:off x="1396982" y="1816383"/>
            <a:ext cx="6972210" cy="12708"/>
          </a:xfrm>
          <a:prstGeom prst="rect">
            <a:avLst/>
          </a:prstGeom>
          <a:solidFill>
            <a:srgbClr val="000000">
              <a:alpha val="52000"/>
            </a:srgbClr>
          </a:solidFill>
          <a:ln/>
        </p:spPr>
        <p:txBody>
          <a:bodyPr/>
          <a:lstStyle/>
          <a:p>
            <a:endParaRPr lang="en-US"/>
          </a:p>
        </p:txBody>
      </p:sp>
      <p:sp>
        <p:nvSpPr>
          <p:cNvPr id="77" name="Text 74"/>
          <p:cNvSpPr/>
          <p:nvPr/>
        </p:nvSpPr>
        <p:spPr>
          <a:xfrm>
            <a:off x="10159869" y="889138"/>
            <a:ext cx="2108173" cy="1105072"/>
          </a:xfrm>
          <a:prstGeom prst="rect">
            <a:avLst/>
          </a:prstGeom>
          <a:noFill/>
          <a:ln/>
        </p:spPr>
        <p:txBody>
          <a:bodyPr wrap="square" lIns="0" tIns="0" rIns="0" bIns="0" rtlCol="0" anchor="t"/>
          <a:lstStyle/>
          <a:p>
            <a:pPr algn="l"/>
            <a:r>
              <a:rPr lang="en-US" sz="4800" kern="0" spc="-38" dirty="0">
                <a:solidFill>
                  <a:srgbClr val="000000">
                    <a:alpha val="87000"/>
                  </a:srgbClr>
                </a:solidFill>
                <a:latin typeface="Roboto Mono Regular" pitchFamily="34" charset="0"/>
                <a:ea typeface="Roboto Mono Regular" pitchFamily="34" charset="-122"/>
                <a:cs typeface="Roboto Mono Regular" pitchFamily="34" charset="-120"/>
              </a:rPr>
              <a:t>Tools</a:t>
            </a:r>
            <a:endParaRPr lang="en-US" sz="4800" dirty="0"/>
          </a:p>
        </p:txBody>
      </p:sp>
      <p:sp>
        <p:nvSpPr>
          <p:cNvPr id="78" name="Shape 75"/>
          <p:cNvSpPr/>
          <p:nvPr/>
        </p:nvSpPr>
        <p:spPr>
          <a:xfrm>
            <a:off x="10159869" y="1816383"/>
            <a:ext cx="6972210" cy="12708"/>
          </a:xfrm>
          <a:prstGeom prst="rect">
            <a:avLst/>
          </a:prstGeom>
          <a:solidFill>
            <a:srgbClr val="000000">
              <a:alpha val="52000"/>
            </a:srgbClr>
          </a:solidFill>
          <a:ln/>
        </p:spPr>
        <p:txBody>
          <a:bodyPr/>
          <a:lstStyle/>
          <a:p>
            <a:endParaRPr lang="en-US"/>
          </a:p>
        </p:txBody>
      </p:sp>
      <p:sp>
        <p:nvSpPr>
          <p:cNvPr id="79" name="Text 76"/>
          <p:cNvSpPr/>
          <p:nvPr/>
        </p:nvSpPr>
        <p:spPr>
          <a:xfrm>
            <a:off x="19291050" y="889138"/>
            <a:ext cx="3924249" cy="1105072"/>
          </a:xfrm>
          <a:prstGeom prst="rect">
            <a:avLst/>
          </a:prstGeom>
          <a:noFill/>
          <a:ln/>
        </p:spPr>
        <p:txBody>
          <a:bodyPr wrap="square" lIns="0" tIns="0" rIns="0" bIns="0" rtlCol="0" anchor="t"/>
          <a:lstStyle/>
          <a:p>
            <a:pPr algn="l"/>
            <a:r>
              <a:rPr lang="en-US" sz="4800" kern="0" spc="-38" dirty="0">
                <a:solidFill>
                  <a:srgbClr val="000000">
                    <a:alpha val="87000"/>
                  </a:srgbClr>
                </a:solidFill>
                <a:latin typeface="Roboto Mono Regular" pitchFamily="34" charset="0"/>
                <a:ea typeface="Roboto Mono Regular" pitchFamily="34" charset="-122"/>
                <a:cs typeface="Roboto Mono Regular" pitchFamily="34" charset="-120"/>
              </a:rPr>
              <a:t>Blackboard</a:t>
            </a:r>
            <a:endParaRPr lang="en-US" sz="4800" dirty="0"/>
          </a:p>
        </p:txBody>
      </p:sp>
      <p:sp>
        <p:nvSpPr>
          <p:cNvPr id="80" name="Shape 77"/>
          <p:cNvSpPr/>
          <p:nvPr/>
        </p:nvSpPr>
        <p:spPr>
          <a:xfrm>
            <a:off x="19291050" y="1816383"/>
            <a:ext cx="6972210" cy="12708"/>
          </a:xfrm>
          <a:prstGeom prst="rect">
            <a:avLst/>
          </a:prstGeom>
          <a:solidFill>
            <a:srgbClr val="000000">
              <a:alpha val="52000"/>
            </a:srgbClr>
          </a:solidFill>
          <a:ln/>
        </p:spPr>
        <p:txBody>
          <a:bodyPr/>
          <a:lstStyle/>
          <a:p>
            <a:endParaRPr lang="en-US"/>
          </a:p>
        </p:txBody>
      </p:sp>
      <p:sp>
        <p:nvSpPr>
          <p:cNvPr id="81" name="Shape 78"/>
          <p:cNvSpPr/>
          <p:nvPr/>
        </p:nvSpPr>
        <p:spPr>
          <a:xfrm>
            <a:off x="1269984" y="7544974"/>
            <a:ext cx="6349918" cy="4369480"/>
          </a:xfrm>
          <a:prstGeom prst="roundRect">
            <a:avLst>
              <a:gd name="adj" fmla="val 1256"/>
            </a:avLst>
          </a:prstGeom>
          <a:solidFill>
            <a:srgbClr val="F2F2F2">
              <a:alpha val="100000"/>
            </a:srgbClr>
          </a:solidFill>
          <a:ln/>
          <a:effectLst>
            <a:outerShdw blurRad="190500" dist="139700" dir="5400000" algn="bl" rotWithShape="0">
              <a:srgbClr val="000000">
                <a:alpha val="20000"/>
              </a:srgbClr>
            </a:outerShdw>
          </a:effectLst>
        </p:spPr>
        <p:txBody>
          <a:bodyPr/>
          <a:lstStyle/>
          <a:p>
            <a:endParaRPr lang="en-US"/>
          </a:p>
        </p:txBody>
      </p:sp>
      <p:sp>
        <p:nvSpPr>
          <p:cNvPr id="82" name="Shape 79"/>
          <p:cNvSpPr/>
          <p:nvPr/>
        </p:nvSpPr>
        <p:spPr>
          <a:xfrm>
            <a:off x="1269984" y="7544974"/>
            <a:ext cx="6349918" cy="4369480"/>
          </a:xfrm>
          <a:prstGeom prst="roundRect">
            <a:avLst>
              <a:gd name="adj" fmla="val 1256"/>
            </a:avLst>
          </a:prstGeom>
          <a:solidFill>
            <a:srgbClr val="F2F2F2">
              <a:alpha val="100000"/>
            </a:srgbClr>
          </a:solidFill>
          <a:ln/>
          <a:effectLst>
            <a:outerShdw blurRad="584200" dist="114300" dir="5400000" algn="bl" rotWithShape="0">
              <a:srgbClr val="000000">
                <a:alpha val="12000"/>
              </a:srgbClr>
            </a:outerShdw>
          </a:effectLst>
        </p:spPr>
        <p:txBody>
          <a:bodyPr/>
          <a:lstStyle/>
          <a:p>
            <a:endParaRPr lang="en-US"/>
          </a:p>
        </p:txBody>
      </p:sp>
      <p:sp>
        <p:nvSpPr>
          <p:cNvPr id="83" name="Shape 80"/>
          <p:cNvSpPr/>
          <p:nvPr/>
        </p:nvSpPr>
        <p:spPr>
          <a:xfrm>
            <a:off x="1269984" y="7544974"/>
            <a:ext cx="6349918" cy="4369480"/>
          </a:xfrm>
          <a:prstGeom prst="roundRect">
            <a:avLst>
              <a:gd name="adj" fmla="val 1256"/>
            </a:avLst>
          </a:prstGeom>
          <a:solidFill>
            <a:srgbClr val="F2F2F2">
              <a:alpha val="100000"/>
            </a:srgbClr>
          </a:solidFill>
          <a:ln/>
          <a:effectLst>
            <a:outerShdw blurRad="482600" dist="304800" dir="5400000" algn="bl" rotWithShape="0">
              <a:srgbClr val="000000">
                <a:alpha val="14000"/>
              </a:srgbClr>
            </a:outerShdw>
          </a:effectLst>
        </p:spPr>
        <p:txBody>
          <a:bodyPr/>
          <a:lstStyle/>
          <a:p>
            <a:endParaRPr lang="en-US"/>
          </a:p>
        </p:txBody>
      </p:sp>
      <p:sp>
        <p:nvSpPr>
          <p:cNvPr id="84" name="Shape 81"/>
          <p:cNvSpPr/>
          <p:nvPr/>
        </p:nvSpPr>
        <p:spPr>
          <a:xfrm>
            <a:off x="1269984" y="7544974"/>
            <a:ext cx="6349918" cy="4369480"/>
          </a:xfrm>
          <a:prstGeom prst="roundRect">
            <a:avLst>
              <a:gd name="adj" fmla="val 1256"/>
            </a:avLst>
          </a:prstGeom>
          <a:solidFill>
            <a:srgbClr val="F2F2F2">
              <a:alpha val="100000"/>
            </a:srgbClr>
          </a:solidFill>
          <a:ln/>
        </p:spPr>
        <p:txBody>
          <a:bodyPr/>
          <a:lstStyle/>
          <a:p>
            <a:endParaRPr lang="en-US"/>
          </a:p>
        </p:txBody>
      </p:sp>
      <p:sp>
        <p:nvSpPr>
          <p:cNvPr id="85" name="Text 82"/>
          <p:cNvSpPr/>
          <p:nvPr/>
        </p:nvSpPr>
        <p:spPr>
          <a:xfrm>
            <a:off x="1574780" y="8086191"/>
            <a:ext cx="3035261" cy="513047"/>
          </a:xfrm>
          <a:prstGeom prst="rect">
            <a:avLst/>
          </a:prstGeom>
          <a:noFill/>
          <a:ln/>
        </p:spPr>
        <p:txBody>
          <a:bodyPr wrap="square" lIns="0" tIns="0" rIns="0" bIns="0" rtlCol="0" anchor="t"/>
          <a:lstStyle/>
          <a:p>
            <a:pPr algn="l"/>
            <a:r>
              <a:rPr lang="en-US" sz="1400" kern="0" spc="25" dirty="0">
                <a:solidFill>
                  <a:srgbClr val="000000">
                    <a:alpha val="60000"/>
                  </a:srgbClr>
                </a:solidFill>
                <a:latin typeface="Roboto Regular" pitchFamily="34" charset="0"/>
                <a:ea typeface="Roboto Regular" pitchFamily="34" charset="-122"/>
                <a:cs typeface="Roboto Regular" pitchFamily="34" charset="-120"/>
              </a:rPr>
              <a:t>Agent static system prompt</a:t>
            </a:r>
            <a:endParaRPr lang="en-US" sz="1400" dirty="0"/>
          </a:p>
        </p:txBody>
      </p:sp>
      <p:sp>
        <p:nvSpPr>
          <p:cNvPr id="86" name="Text 83"/>
          <p:cNvSpPr/>
          <p:nvPr/>
        </p:nvSpPr>
        <p:spPr>
          <a:xfrm>
            <a:off x="1574780" y="7735504"/>
            <a:ext cx="1371582"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Agent 2</a:t>
            </a:r>
            <a:endParaRPr lang="en-US" sz="1600" dirty="0"/>
          </a:p>
        </p:txBody>
      </p:sp>
      <p:sp>
        <p:nvSpPr>
          <p:cNvPr id="87" name="Text 84"/>
          <p:cNvSpPr/>
          <p:nvPr/>
        </p:nvSpPr>
        <p:spPr>
          <a:xfrm>
            <a:off x="5257732" y="7735504"/>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Agents</a:t>
            </a:r>
            <a:endParaRPr lang="en-US" sz="1600" dirty="0"/>
          </a:p>
        </p:txBody>
      </p:sp>
      <p:sp>
        <p:nvSpPr>
          <p:cNvPr id="88" name="Text 85"/>
          <p:cNvSpPr/>
          <p:nvPr/>
        </p:nvSpPr>
        <p:spPr>
          <a:xfrm>
            <a:off x="6527716" y="7735504"/>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Tools</a:t>
            </a:r>
            <a:endParaRPr lang="en-US" sz="1600" dirty="0"/>
          </a:p>
        </p:txBody>
      </p:sp>
      <p:sp>
        <p:nvSpPr>
          <p:cNvPr id="89" name="Shape 86"/>
          <p:cNvSpPr/>
          <p:nvPr/>
        </p:nvSpPr>
        <p:spPr>
          <a:xfrm>
            <a:off x="5206933" y="8103861"/>
            <a:ext cx="939788" cy="406463"/>
          </a:xfrm>
          <a:prstGeom prst="roundRect">
            <a:avLst>
              <a:gd name="adj" fmla="val 49492"/>
            </a:avLst>
          </a:prstGeom>
          <a:solidFill>
            <a:srgbClr val="FFFFFF">
              <a:alpha val="100000"/>
            </a:srgbClr>
          </a:solidFill>
          <a:ln/>
        </p:spPr>
        <p:txBody>
          <a:bodyPr/>
          <a:lstStyle/>
          <a:p>
            <a:endParaRPr lang="en-US"/>
          </a:p>
        </p:txBody>
      </p:sp>
      <p:sp>
        <p:nvSpPr>
          <p:cNvPr id="90" name="Shape 87"/>
          <p:cNvSpPr/>
          <p:nvPr/>
        </p:nvSpPr>
        <p:spPr>
          <a:xfrm>
            <a:off x="5206933" y="8103861"/>
            <a:ext cx="939788"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91" name="Shape 88"/>
          <p:cNvSpPr/>
          <p:nvPr/>
        </p:nvSpPr>
        <p:spPr>
          <a:xfrm>
            <a:off x="5206933" y="8103861"/>
            <a:ext cx="939788" cy="406463"/>
          </a:xfrm>
          <a:prstGeom prst="roundRect">
            <a:avLst>
              <a:gd name="adj" fmla="val 49492"/>
            </a:avLst>
          </a:prstGeom>
          <a:noFill/>
          <a:ln/>
        </p:spPr>
        <p:txBody>
          <a:bodyPr/>
          <a:lstStyle/>
          <a:p>
            <a:endParaRPr lang="en-US"/>
          </a:p>
        </p:txBody>
      </p:sp>
      <p:sp>
        <p:nvSpPr>
          <p:cNvPr id="92" name="Text 89"/>
          <p:cNvSpPr/>
          <p:nvPr/>
        </p:nvSpPr>
        <p:spPr>
          <a:xfrm>
            <a:off x="5359331" y="8180073"/>
            <a:ext cx="723891"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Agent 1</a:t>
            </a:r>
            <a:endParaRPr lang="en-US" sz="1400" dirty="0"/>
          </a:p>
        </p:txBody>
      </p:sp>
      <p:sp>
        <p:nvSpPr>
          <p:cNvPr id="93" name="Shape 90"/>
          <p:cNvSpPr/>
          <p:nvPr/>
        </p:nvSpPr>
        <p:spPr>
          <a:xfrm>
            <a:off x="6476916" y="8103861"/>
            <a:ext cx="812789" cy="406463"/>
          </a:xfrm>
          <a:prstGeom prst="roundRect">
            <a:avLst>
              <a:gd name="adj" fmla="val 49492"/>
            </a:avLst>
          </a:prstGeom>
          <a:solidFill>
            <a:srgbClr val="FFFFFF">
              <a:alpha val="100000"/>
            </a:srgbClr>
          </a:solidFill>
          <a:ln/>
        </p:spPr>
        <p:txBody>
          <a:bodyPr/>
          <a:lstStyle/>
          <a:p>
            <a:endParaRPr lang="en-US"/>
          </a:p>
        </p:txBody>
      </p:sp>
      <p:sp>
        <p:nvSpPr>
          <p:cNvPr id="94" name="Shape 91"/>
          <p:cNvSpPr/>
          <p:nvPr/>
        </p:nvSpPr>
        <p:spPr>
          <a:xfrm>
            <a:off x="6476916" y="8103861"/>
            <a:ext cx="812789" cy="406463"/>
          </a:xfrm>
          <a:prstGeom prst="roundRect">
            <a:avLst>
              <a:gd name="adj" fmla="val 49492"/>
            </a:avLst>
          </a:prstGeom>
          <a:solidFill>
            <a:srgbClr val="000000">
              <a:alpha val="0"/>
            </a:srgbClr>
          </a:solidFill>
          <a:ln w="25400">
            <a:solidFill>
              <a:srgbClr val="2289DA"/>
            </a:solidFill>
            <a:prstDash val="solid"/>
          </a:ln>
        </p:spPr>
        <p:txBody>
          <a:bodyPr/>
          <a:lstStyle/>
          <a:p>
            <a:endParaRPr lang="en-US"/>
          </a:p>
        </p:txBody>
      </p:sp>
      <p:sp>
        <p:nvSpPr>
          <p:cNvPr id="95" name="Shape 92"/>
          <p:cNvSpPr/>
          <p:nvPr/>
        </p:nvSpPr>
        <p:spPr>
          <a:xfrm>
            <a:off x="6476916" y="8103861"/>
            <a:ext cx="812789" cy="406463"/>
          </a:xfrm>
          <a:prstGeom prst="roundRect">
            <a:avLst>
              <a:gd name="adj" fmla="val 49492"/>
            </a:avLst>
          </a:prstGeom>
          <a:noFill/>
          <a:ln/>
        </p:spPr>
        <p:txBody>
          <a:bodyPr/>
          <a:lstStyle/>
          <a:p>
            <a:endParaRPr lang="en-US"/>
          </a:p>
        </p:txBody>
      </p:sp>
      <p:sp>
        <p:nvSpPr>
          <p:cNvPr id="96" name="Text 93"/>
          <p:cNvSpPr/>
          <p:nvPr/>
        </p:nvSpPr>
        <p:spPr>
          <a:xfrm>
            <a:off x="6629314" y="8180073"/>
            <a:ext cx="5968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Tool 4</a:t>
            </a:r>
            <a:endParaRPr lang="en-US" sz="1400" dirty="0"/>
          </a:p>
        </p:txBody>
      </p:sp>
      <p:sp>
        <p:nvSpPr>
          <p:cNvPr id="97" name="Shape 94"/>
          <p:cNvSpPr/>
          <p:nvPr/>
        </p:nvSpPr>
        <p:spPr>
          <a:xfrm>
            <a:off x="6476916" y="8700854"/>
            <a:ext cx="812789" cy="406463"/>
          </a:xfrm>
          <a:prstGeom prst="roundRect">
            <a:avLst>
              <a:gd name="adj" fmla="val 49492"/>
            </a:avLst>
          </a:prstGeom>
          <a:solidFill>
            <a:srgbClr val="FFFFFF">
              <a:alpha val="100000"/>
            </a:srgbClr>
          </a:solidFill>
          <a:ln/>
        </p:spPr>
        <p:txBody>
          <a:bodyPr/>
          <a:lstStyle/>
          <a:p>
            <a:endParaRPr lang="en-US"/>
          </a:p>
        </p:txBody>
      </p:sp>
      <p:sp>
        <p:nvSpPr>
          <p:cNvPr id="98" name="Shape 95"/>
          <p:cNvSpPr/>
          <p:nvPr/>
        </p:nvSpPr>
        <p:spPr>
          <a:xfrm>
            <a:off x="6476916" y="8700854"/>
            <a:ext cx="8127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99" name="Shape 96"/>
          <p:cNvSpPr/>
          <p:nvPr/>
        </p:nvSpPr>
        <p:spPr>
          <a:xfrm>
            <a:off x="6476916" y="8700854"/>
            <a:ext cx="812789" cy="406463"/>
          </a:xfrm>
          <a:prstGeom prst="roundRect">
            <a:avLst>
              <a:gd name="adj" fmla="val 49492"/>
            </a:avLst>
          </a:prstGeom>
          <a:noFill/>
          <a:ln/>
        </p:spPr>
        <p:txBody>
          <a:bodyPr/>
          <a:lstStyle/>
          <a:p>
            <a:endParaRPr lang="en-US"/>
          </a:p>
        </p:txBody>
      </p:sp>
      <p:sp>
        <p:nvSpPr>
          <p:cNvPr id="100" name="Text 97"/>
          <p:cNvSpPr/>
          <p:nvPr/>
        </p:nvSpPr>
        <p:spPr>
          <a:xfrm>
            <a:off x="6629314" y="8777066"/>
            <a:ext cx="5968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Tool 5</a:t>
            </a:r>
            <a:endParaRPr lang="en-US" sz="1400" dirty="0"/>
          </a:p>
        </p:txBody>
      </p:sp>
      <p:sp>
        <p:nvSpPr>
          <p:cNvPr id="101" name="Shape 98"/>
          <p:cNvSpPr/>
          <p:nvPr/>
        </p:nvSpPr>
        <p:spPr>
          <a:xfrm>
            <a:off x="1587479" y="9521490"/>
            <a:ext cx="5741726" cy="1867191"/>
          </a:xfrm>
          <a:prstGeom prst="rect">
            <a:avLst/>
          </a:prstGeom>
          <a:solidFill>
            <a:srgbClr val="FFFFFF">
              <a:alpha val="100000"/>
            </a:srgbClr>
          </a:solidFill>
          <a:ln/>
        </p:spPr>
        <p:txBody>
          <a:bodyPr/>
          <a:lstStyle/>
          <a:p>
            <a:endParaRPr lang="en-US"/>
          </a:p>
        </p:txBody>
      </p:sp>
      <p:sp>
        <p:nvSpPr>
          <p:cNvPr id="102" name="Text 99"/>
          <p:cNvSpPr/>
          <p:nvPr/>
        </p:nvSpPr>
        <p:spPr>
          <a:xfrm>
            <a:off x="1574780" y="9203965"/>
            <a:ext cx="2222471" cy="330251"/>
          </a:xfrm>
          <a:prstGeom prst="rect">
            <a:avLst/>
          </a:prstGeom>
          <a:noFill/>
          <a:ln/>
        </p:spPr>
        <p:txBody>
          <a:bodyPr wrap="square" lIns="0" tIns="0" rIns="0" bIns="0" rtlCol="0" anchor="t"/>
          <a:lstStyle/>
          <a:p>
            <a:pPr algn="l"/>
            <a:r>
              <a:rPr lang="en-US" sz="1400" dirty="0">
                <a:solidFill>
                  <a:srgbClr val="333333">
                    <a:alpha val="100000"/>
                  </a:srgbClr>
                </a:solidFill>
                <a:latin typeface="Segoe UI Semibold" pitchFamily="34" charset="0"/>
                <a:ea typeface="Segoe UI Semibold" pitchFamily="34" charset="-122"/>
                <a:cs typeface="Segoe UI Semibold" pitchFamily="34" charset="-120"/>
              </a:rPr>
              <a:t>Agent full context window</a:t>
            </a:r>
            <a:endParaRPr lang="en-US" sz="1400" dirty="0"/>
          </a:p>
        </p:txBody>
      </p:sp>
      <p:sp>
        <p:nvSpPr>
          <p:cNvPr id="103" name="Text 100"/>
          <p:cNvSpPr/>
          <p:nvPr/>
        </p:nvSpPr>
        <p:spPr>
          <a:xfrm>
            <a:off x="1727178" y="9597726"/>
            <a:ext cx="5600628" cy="584291"/>
          </a:xfrm>
          <a:prstGeom prst="rect">
            <a:avLst/>
          </a:prstGeom>
          <a:noFill/>
          <a:ln/>
        </p:spPr>
        <p:txBody>
          <a:bodyPr wrap="square" lIns="0" tIns="0" rIns="0" bIns="0" rtlCol="0" anchor="t"/>
          <a:lstStyle/>
          <a:p>
            <a:pPr algn="l"/>
            <a:r>
              <a:rPr lang="en-US" sz="1400" dirty="0">
                <a:solidFill>
                  <a:srgbClr val="333333">
                    <a:alpha val="100000"/>
                  </a:srgbClr>
                </a:solidFill>
                <a:latin typeface="Segoe UI Regular" pitchFamily="34" charset="0"/>
                <a:ea typeface="Segoe UI Regular" pitchFamily="34" charset="-122"/>
                <a:cs typeface="Segoe UI Regular" pitchFamily="34" charset="-120"/>
              </a:rPr>
              <a:t>Full context window of agent. This is the full set of text this agent sent </a:t>
            </a:r>
            <a:endParaRPr lang="en-US" sz="1400" dirty="0"/>
          </a:p>
          <a:p>
            <a:pPr algn="l"/>
            <a:r>
              <a:rPr lang="en-US" sz="1400" dirty="0">
                <a:solidFill>
                  <a:srgbClr val="333333">
                    <a:alpha val="100000"/>
                  </a:srgbClr>
                </a:solidFill>
                <a:latin typeface="Segoe UI Regular" pitchFamily="34" charset="0"/>
                <a:ea typeface="Segoe UI Regular" pitchFamily="34" charset="-122"/>
                <a:cs typeface="Segoe UI Regular" pitchFamily="34" charset="-120"/>
              </a:rPr>
              <a:t>to the LLM when last called.</a:t>
            </a:r>
            <a:endParaRPr lang="en-US" sz="1400" dirty="0"/>
          </a:p>
        </p:txBody>
      </p:sp>
      <p:sp>
        <p:nvSpPr>
          <p:cNvPr id="104" name="Shape 101"/>
          <p:cNvSpPr/>
          <p:nvPr/>
        </p:nvSpPr>
        <p:spPr>
          <a:xfrm>
            <a:off x="1587479" y="11490321"/>
            <a:ext cx="5741726" cy="12702"/>
          </a:xfrm>
          <a:prstGeom prst="rect">
            <a:avLst/>
          </a:prstGeom>
          <a:solidFill>
            <a:srgbClr val="0078D7">
              <a:alpha val="100000"/>
            </a:srgbClr>
          </a:solidFill>
          <a:ln/>
        </p:spPr>
        <p:txBody>
          <a:bodyPr/>
          <a:lstStyle/>
          <a:p>
            <a:endParaRPr lang="en-US"/>
          </a:p>
        </p:txBody>
      </p:sp>
      <p:sp>
        <p:nvSpPr>
          <p:cNvPr id="105" name="Text 102"/>
          <p:cNvSpPr/>
          <p:nvPr/>
        </p:nvSpPr>
        <p:spPr>
          <a:xfrm>
            <a:off x="1854176" y="11579235"/>
            <a:ext cx="698491" cy="279443"/>
          </a:xfrm>
          <a:prstGeom prst="rect">
            <a:avLst/>
          </a:prstGeom>
          <a:noFill/>
          <a:ln/>
        </p:spPr>
        <p:txBody>
          <a:bodyPr wrap="square" lIns="0" tIns="0" rIns="0" bIns="0" rtlCol="0" anchor="t"/>
          <a:lstStyle/>
          <a:p>
            <a:pPr algn="l"/>
            <a:r>
              <a:rPr lang="en-US" sz="1200" dirty="0">
                <a:solidFill>
                  <a:srgbClr val="106EBE">
                    <a:alpha val="100000"/>
                  </a:srgbClr>
                </a:solidFill>
                <a:latin typeface="Segoe UI Regular" pitchFamily="34" charset="0"/>
                <a:ea typeface="Segoe UI Regular" pitchFamily="34" charset="-122"/>
                <a:cs typeface="Segoe UI Regular" pitchFamily="34" charset="-120"/>
              </a:rPr>
              <a:t>Updating</a:t>
            </a:r>
            <a:endParaRPr lang="en-US" sz="1200" dirty="0"/>
          </a:p>
        </p:txBody>
      </p:sp>
      <p:sp>
        <p:nvSpPr>
          <p:cNvPr id="106" name="Shape 103"/>
          <p:cNvSpPr/>
          <p:nvPr/>
        </p:nvSpPr>
        <p:spPr>
          <a:xfrm>
            <a:off x="1580261" y="11601066"/>
            <a:ext cx="187645" cy="187677"/>
          </a:xfrm>
          <a:prstGeom prst="rect">
            <a:avLst/>
          </a:prstGeom>
          <a:noFill/>
          <a:ln/>
        </p:spPr>
        <p:txBody>
          <a:bodyPr/>
          <a:lstStyle/>
          <a:p>
            <a:endParaRPr lang="en-US"/>
          </a:p>
        </p:txBody>
      </p:sp>
      <p:sp>
        <p:nvSpPr>
          <p:cNvPr id="107" name="Shape 104"/>
          <p:cNvSpPr/>
          <p:nvPr/>
        </p:nvSpPr>
        <p:spPr>
          <a:xfrm>
            <a:off x="1595898" y="11616708"/>
            <a:ext cx="156371" cy="156397"/>
          </a:xfrm>
          <a:prstGeom prst="ellipse">
            <a:avLst/>
          </a:prstGeom>
          <a:noFill/>
          <a:ln w="12700">
            <a:solidFill>
              <a:srgbClr val="CDE6F7"/>
            </a:solidFill>
            <a:prstDash val="solid"/>
          </a:ln>
        </p:spPr>
        <p:txBody>
          <a:bodyPr/>
          <a:lstStyle/>
          <a:p>
            <a:endParaRPr lang="en-US"/>
          </a:p>
        </p:txBody>
      </p:sp>
      <p:pic>
        <p:nvPicPr>
          <p:cNvPr id="108" name="Image 1" descr="preencoded.png"/>
          <p:cNvPicPr>
            <a:picLocks noChangeAspect="1"/>
          </p:cNvPicPr>
          <p:nvPr/>
        </p:nvPicPr>
        <p:blipFill>
          <a:blip r:embed="rId4"/>
          <a:stretch>
            <a:fillRect/>
          </a:stretch>
        </p:blipFill>
        <p:spPr>
          <a:xfrm>
            <a:off x="1674084" y="11601066"/>
            <a:ext cx="93823" cy="93838"/>
          </a:xfrm>
          <a:prstGeom prst="rect">
            <a:avLst/>
          </a:prstGeom>
        </p:spPr>
      </p:pic>
      <p:sp>
        <p:nvSpPr>
          <p:cNvPr id="109" name="Shape 105"/>
          <p:cNvSpPr/>
          <p:nvPr/>
        </p:nvSpPr>
        <p:spPr>
          <a:xfrm>
            <a:off x="5206933" y="8700854"/>
            <a:ext cx="939788" cy="406463"/>
          </a:xfrm>
          <a:prstGeom prst="roundRect">
            <a:avLst>
              <a:gd name="adj" fmla="val 49492"/>
            </a:avLst>
          </a:prstGeom>
          <a:solidFill>
            <a:srgbClr val="FFFFFF">
              <a:alpha val="100000"/>
            </a:srgbClr>
          </a:solidFill>
          <a:ln/>
        </p:spPr>
        <p:txBody>
          <a:bodyPr/>
          <a:lstStyle/>
          <a:p>
            <a:endParaRPr lang="en-US"/>
          </a:p>
        </p:txBody>
      </p:sp>
      <p:sp>
        <p:nvSpPr>
          <p:cNvPr id="110" name="Shape 106"/>
          <p:cNvSpPr/>
          <p:nvPr/>
        </p:nvSpPr>
        <p:spPr>
          <a:xfrm>
            <a:off x="5206933" y="8700854"/>
            <a:ext cx="939788"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111" name="Shape 107"/>
          <p:cNvSpPr/>
          <p:nvPr/>
        </p:nvSpPr>
        <p:spPr>
          <a:xfrm>
            <a:off x="5206933" y="8700854"/>
            <a:ext cx="939788" cy="406463"/>
          </a:xfrm>
          <a:prstGeom prst="roundRect">
            <a:avLst>
              <a:gd name="adj" fmla="val 49492"/>
            </a:avLst>
          </a:prstGeom>
          <a:noFill/>
          <a:ln/>
        </p:spPr>
        <p:txBody>
          <a:bodyPr/>
          <a:lstStyle/>
          <a:p>
            <a:endParaRPr lang="en-US"/>
          </a:p>
        </p:txBody>
      </p:sp>
      <p:sp>
        <p:nvSpPr>
          <p:cNvPr id="112" name="Text 108"/>
          <p:cNvSpPr/>
          <p:nvPr/>
        </p:nvSpPr>
        <p:spPr>
          <a:xfrm>
            <a:off x="5359331" y="8777066"/>
            <a:ext cx="723891"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Agent 4</a:t>
            </a:r>
            <a:endParaRPr lang="en-US" sz="1400" dirty="0"/>
          </a:p>
        </p:txBody>
      </p:sp>
      <p:sp>
        <p:nvSpPr>
          <p:cNvPr id="113" name="Shape 109"/>
          <p:cNvSpPr/>
          <p:nvPr/>
        </p:nvSpPr>
        <p:spPr>
          <a:xfrm>
            <a:off x="1269984" y="12549553"/>
            <a:ext cx="6349918" cy="4369480"/>
          </a:xfrm>
          <a:prstGeom prst="roundRect">
            <a:avLst>
              <a:gd name="adj" fmla="val 1256"/>
            </a:avLst>
          </a:prstGeom>
          <a:solidFill>
            <a:srgbClr val="F2F2F2">
              <a:alpha val="100000"/>
            </a:srgbClr>
          </a:solidFill>
          <a:ln/>
          <a:effectLst>
            <a:outerShdw blurRad="190500" dist="139700" dir="5400000" algn="bl" rotWithShape="0">
              <a:srgbClr val="000000">
                <a:alpha val="20000"/>
              </a:srgbClr>
            </a:outerShdw>
          </a:effectLst>
        </p:spPr>
        <p:txBody>
          <a:bodyPr/>
          <a:lstStyle/>
          <a:p>
            <a:endParaRPr lang="en-US"/>
          </a:p>
        </p:txBody>
      </p:sp>
      <p:sp>
        <p:nvSpPr>
          <p:cNvPr id="114" name="Shape 110"/>
          <p:cNvSpPr/>
          <p:nvPr/>
        </p:nvSpPr>
        <p:spPr>
          <a:xfrm>
            <a:off x="1269984" y="12549553"/>
            <a:ext cx="6349918" cy="4369480"/>
          </a:xfrm>
          <a:prstGeom prst="roundRect">
            <a:avLst>
              <a:gd name="adj" fmla="val 1256"/>
            </a:avLst>
          </a:prstGeom>
          <a:solidFill>
            <a:srgbClr val="F2F2F2">
              <a:alpha val="100000"/>
            </a:srgbClr>
          </a:solidFill>
          <a:ln/>
          <a:effectLst>
            <a:outerShdw blurRad="584200" dist="114300" dir="5400000" algn="bl" rotWithShape="0">
              <a:srgbClr val="000000">
                <a:alpha val="12000"/>
              </a:srgbClr>
            </a:outerShdw>
          </a:effectLst>
        </p:spPr>
        <p:txBody>
          <a:bodyPr/>
          <a:lstStyle/>
          <a:p>
            <a:endParaRPr lang="en-US"/>
          </a:p>
        </p:txBody>
      </p:sp>
      <p:sp>
        <p:nvSpPr>
          <p:cNvPr id="115" name="Shape 111"/>
          <p:cNvSpPr/>
          <p:nvPr/>
        </p:nvSpPr>
        <p:spPr>
          <a:xfrm>
            <a:off x="1269984" y="12549553"/>
            <a:ext cx="6349918" cy="4369480"/>
          </a:xfrm>
          <a:prstGeom prst="roundRect">
            <a:avLst>
              <a:gd name="adj" fmla="val 1256"/>
            </a:avLst>
          </a:prstGeom>
          <a:solidFill>
            <a:srgbClr val="F2F2F2">
              <a:alpha val="100000"/>
            </a:srgbClr>
          </a:solidFill>
          <a:ln/>
          <a:effectLst>
            <a:outerShdw blurRad="482600" dist="304800" dir="5400000" algn="bl" rotWithShape="0">
              <a:srgbClr val="000000">
                <a:alpha val="14000"/>
              </a:srgbClr>
            </a:outerShdw>
          </a:effectLst>
        </p:spPr>
        <p:txBody>
          <a:bodyPr/>
          <a:lstStyle/>
          <a:p>
            <a:endParaRPr lang="en-US"/>
          </a:p>
        </p:txBody>
      </p:sp>
      <p:sp>
        <p:nvSpPr>
          <p:cNvPr id="116" name="Shape 112"/>
          <p:cNvSpPr/>
          <p:nvPr/>
        </p:nvSpPr>
        <p:spPr>
          <a:xfrm>
            <a:off x="1269984" y="12549553"/>
            <a:ext cx="6349918" cy="4369480"/>
          </a:xfrm>
          <a:prstGeom prst="roundRect">
            <a:avLst>
              <a:gd name="adj" fmla="val 1256"/>
            </a:avLst>
          </a:prstGeom>
          <a:solidFill>
            <a:srgbClr val="F2F2F2">
              <a:alpha val="100000"/>
            </a:srgbClr>
          </a:solidFill>
          <a:ln/>
        </p:spPr>
        <p:txBody>
          <a:bodyPr/>
          <a:lstStyle/>
          <a:p>
            <a:endParaRPr lang="en-US"/>
          </a:p>
        </p:txBody>
      </p:sp>
      <p:sp>
        <p:nvSpPr>
          <p:cNvPr id="117" name="Text 113"/>
          <p:cNvSpPr/>
          <p:nvPr/>
        </p:nvSpPr>
        <p:spPr>
          <a:xfrm>
            <a:off x="1574780" y="13090770"/>
            <a:ext cx="3035261" cy="513047"/>
          </a:xfrm>
          <a:prstGeom prst="rect">
            <a:avLst/>
          </a:prstGeom>
          <a:noFill/>
          <a:ln/>
        </p:spPr>
        <p:txBody>
          <a:bodyPr wrap="square" lIns="0" tIns="0" rIns="0" bIns="0" rtlCol="0" anchor="t"/>
          <a:lstStyle/>
          <a:p>
            <a:pPr algn="l"/>
            <a:r>
              <a:rPr lang="en-US" sz="1400" kern="0" spc="25" dirty="0">
                <a:solidFill>
                  <a:srgbClr val="000000">
                    <a:alpha val="60000"/>
                  </a:srgbClr>
                </a:solidFill>
                <a:latin typeface="Roboto Regular" pitchFamily="34" charset="0"/>
                <a:ea typeface="Roboto Regular" pitchFamily="34" charset="-122"/>
                <a:cs typeface="Roboto Regular" pitchFamily="34" charset="-120"/>
              </a:rPr>
              <a:t>Agent static system prompt</a:t>
            </a:r>
            <a:endParaRPr lang="en-US" sz="1400" dirty="0"/>
          </a:p>
        </p:txBody>
      </p:sp>
      <p:sp>
        <p:nvSpPr>
          <p:cNvPr id="118" name="Text 114"/>
          <p:cNvSpPr/>
          <p:nvPr/>
        </p:nvSpPr>
        <p:spPr>
          <a:xfrm>
            <a:off x="1574780" y="12740083"/>
            <a:ext cx="1371582"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Agent 3</a:t>
            </a:r>
            <a:endParaRPr lang="en-US" sz="1600" dirty="0"/>
          </a:p>
        </p:txBody>
      </p:sp>
      <p:sp>
        <p:nvSpPr>
          <p:cNvPr id="119" name="Text 115"/>
          <p:cNvSpPr/>
          <p:nvPr/>
        </p:nvSpPr>
        <p:spPr>
          <a:xfrm>
            <a:off x="5257732" y="12740083"/>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Agents</a:t>
            </a:r>
            <a:endParaRPr lang="en-US" sz="1600" dirty="0"/>
          </a:p>
        </p:txBody>
      </p:sp>
      <p:sp>
        <p:nvSpPr>
          <p:cNvPr id="120" name="Text 116"/>
          <p:cNvSpPr/>
          <p:nvPr/>
        </p:nvSpPr>
        <p:spPr>
          <a:xfrm>
            <a:off x="6527716" y="12740083"/>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Tools</a:t>
            </a:r>
            <a:endParaRPr lang="en-US" sz="1600" dirty="0"/>
          </a:p>
        </p:txBody>
      </p:sp>
      <p:sp>
        <p:nvSpPr>
          <p:cNvPr id="121" name="Shape 117"/>
          <p:cNvSpPr/>
          <p:nvPr/>
        </p:nvSpPr>
        <p:spPr>
          <a:xfrm>
            <a:off x="5206933" y="13108440"/>
            <a:ext cx="939788" cy="406463"/>
          </a:xfrm>
          <a:prstGeom prst="roundRect">
            <a:avLst>
              <a:gd name="adj" fmla="val 49492"/>
            </a:avLst>
          </a:prstGeom>
          <a:solidFill>
            <a:srgbClr val="FFFFFF">
              <a:alpha val="100000"/>
            </a:srgbClr>
          </a:solidFill>
          <a:ln/>
        </p:spPr>
        <p:txBody>
          <a:bodyPr/>
          <a:lstStyle/>
          <a:p>
            <a:endParaRPr lang="en-US"/>
          </a:p>
        </p:txBody>
      </p:sp>
      <p:sp>
        <p:nvSpPr>
          <p:cNvPr id="122" name="Shape 118"/>
          <p:cNvSpPr/>
          <p:nvPr/>
        </p:nvSpPr>
        <p:spPr>
          <a:xfrm>
            <a:off x="5206933" y="13108440"/>
            <a:ext cx="939788"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123" name="Shape 119"/>
          <p:cNvSpPr/>
          <p:nvPr/>
        </p:nvSpPr>
        <p:spPr>
          <a:xfrm>
            <a:off x="5206933" y="13108440"/>
            <a:ext cx="939788" cy="406463"/>
          </a:xfrm>
          <a:prstGeom prst="roundRect">
            <a:avLst>
              <a:gd name="adj" fmla="val 49492"/>
            </a:avLst>
          </a:prstGeom>
          <a:noFill/>
          <a:ln/>
        </p:spPr>
        <p:txBody>
          <a:bodyPr/>
          <a:lstStyle/>
          <a:p>
            <a:endParaRPr lang="en-US"/>
          </a:p>
        </p:txBody>
      </p:sp>
      <p:sp>
        <p:nvSpPr>
          <p:cNvPr id="124" name="Text 120"/>
          <p:cNvSpPr/>
          <p:nvPr/>
        </p:nvSpPr>
        <p:spPr>
          <a:xfrm>
            <a:off x="5359331" y="13184652"/>
            <a:ext cx="723891"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Agent 1</a:t>
            </a:r>
            <a:endParaRPr lang="en-US" sz="1400" dirty="0"/>
          </a:p>
        </p:txBody>
      </p:sp>
      <p:sp>
        <p:nvSpPr>
          <p:cNvPr id="125" name="Shape 121"/>
          <p:cNvSpPr/>
          <p:nvPr/>
        </p:nvSpPr>
        <p:spPr>
          <a:xfrm>
            <a:off x="6476916" y="13108440"/>
            <a:ext cx="812789" cy="406463"/>
          </a:xfrm>
          <a:prstGeom prst="roundRect">
            <a:avLst>
              <a:gd name="adj" fmla="val 49492"/>
            </a:avLst>
          </a:prstGeom>
          <a:solidFill>
            <a:srgbClr val="FFFFFF">
              <a:alpha val="100000"/>
            </a:srgbClr>
          </a:solidFill>
          <a:ln/>
        </p:spPr>
        <p:txBody>
          <a:bodyPr/>
          <a:lstStyle/>
          <a:p>
            <a:endParaRPr lang="en-US"/>
          </a:p>
        </p:txBody>
      </p:sp>
      <p:sp>
        <p:nvSpPr>
          <p:cNvPr id="126" name="Shape 122"/>
          <p:cNvSpPr/>
          <p:nvPr/>
        </p:nvSpPr>
        <p:spPr>
          <a:xfrm>
            <a:off x="6476916" y="13108440"/>
            <a:ext cx="8127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127" name="Shape 123"/>
          <p:cNvSpPr/>
          <p:nvPr/>
        </p:nvSpPr>
        <p:spPr>
          <a:xfrm>
            <a:off x="6476916" y="13108440"/>
            <a:ext cx="812789" cy="406463"/>
          </a:xfrm>
          <a:prstGeom prst="roundRect">
            <a:avLst>
              <a:gd name="adj" fmla="val 49492"/>
            </a:avLst>
          </a:prstGeom>
          <a:noFill/>
          <a:ln/>
        </p:spPr>
        <p:txBody>
          <a:bodyPr/>
          <a:lstStyle/>
          <a:p>
            <a:endParaRPr lang="en-US"/>
          </a:p>
        </p:txBody>
      </p:sp>
      <p:sp>
        <p:nvSpPr>
          <p:cNvPr id="128" name="Text 124"/>
          <p:cNvSpPr/>
          <p:nvPr/>
        </p:nvSpPr>
        <p:spPr>
          <a:xfrm>
            <a:off x="6629314" y="13184652"/>
            <a:ext cx="5968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Tool 2</a:t>
            </a:r>
            <a:endParaRPr lang="en-US" sz="1400" dirty="0"/>
          </a:p>
        </p:txBody>
      </p:sp>
      <p:sp>
        <p:nvSpPr>
          <p:cNvPr id="129" name="Shape 125"/>
          <p:cNvSpPr/>
          <p:nvPr/>
        </p:nvSpPr>
        <p:spPr>
          <a:xfrm>
            <a:off x="6476916" y="13705433"/>
            <a:ext cx="812789" cy="406463"/>
          </a:xfrm>
          <a:prstGeom prst="roundRect">
            <a:avLst>
              <a:gd name="adj" fmla="val 49492"/>
            </a:avLst>
          </a:prstGeom>
          <a:solidFill>
            <a:srgbClr val="FFFFFF">
              <a:alpha val="100000"/>
            </a:srgbClr>
          </a:solidFill>
          <a:ln/>
        </p:spPr>
        <p:txBody>
          <a:bodyPr/>
          <a:lstStyle/>
          <a:p>
            <a:endParaRPr lang="en-US"/>
          </a:p>
        </p:txBody>
      </p:sp>
      <p:sp>
        <p:nvSpPr>
          <p:cNvPr id="130" name="Shape 126"/>
          <p:cNvSpPr/>
          <p:nvPr/>
        </p:nvSpPr>
        <p:spPr>
          <a:xfrm>
            <a:off x="6476916" y="13705433"/>
            <a:ext cx="8127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131" name="Shape 127"/>
          <p:cNvSpPr/>
          <p:nvPr/>
        </p:nvSpPr>
        <p:spPr>
          <a:xfrm>
            <a:off x="6476916" y="13705433"/>
            <a:ext cx="812789" cy="406463"/>
          </a:xfrm>
          <a:prstGeom prst="roundRect">
            <a:avLst>
              <a:gd name="adj" fmla="val 49492"/>
            </a:avLst>
          </a:prstGeom>
          <a:noFill/>
          <a:ln/>
        </p:spPr>
        <p:txBody>
          <a:bodyPr/>
          <a:lstStyle/>
          <a:p>
            <a:endParaRPr lang="en-US"/>
          </a:p>
        </p:txBody>
      </p:sp>
      <p:sp>
        <p:nvSpPr>
          <p:cNvPr id="132" name="Text 128"/>
          <p:cNvSpPr/>
          <p:nvPr/>
        </p:nvSpPr>
        <p:spPr>
          <a:xfrm>
            <a:off x="6629314" y="13781645"/>
            <a:ext cx="5968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Tool 6</a:t>
            </a:r>
            <a:endParaRPr lang="en-US" sz="1400" dirty="0"/>
          </a:p>
        </p:txBody>
      </p:sp>
      <p:sp>
        <p:nvSpPr>
          <p:cNvPr id="133" name="Shape 129"/>
          <p:cNvSpPr/>
          <p:nvPr/>
        </p:nvSpPr>
        <p:spPr>
          <a:xfrm>
            <a:off x="1587479" y="14526069"/>
            <a:ext cx="5741726" cy="1867191"/>
          </a:xfrm>
          <a:prstGeom prst="rect">
            <a:avLst/>
          </a:prstGeom>
          <a:solidFill>
            <a:srgbClr val="FFFFFF">
              <a:alpha val="100000"/>
            </a:srgbClr>
          </a:solidFill>
          <a:ln/>
        </p:spPr>
        <p:txBody>
          <a:bodyPr/>
          <a:lstStyle/>
          <a:p>
            <a:endParaRPr lang="en-US"/>
          </a:p>
        </p:txBody>
      </p:sp>
      <p:sp>
        <p:nvSpPr>
          <p:cNvPr id="134" name="Text 130"/>
          <p:cNvSpPr/>
          <p:nvPr/>
        </p:nvSpPr>
        <p:spPr>
          <a:xfrm>
            <a:off x="1574780" y="14208544"/>
            <a:ext cx="2222471" cy="330251"/>
          </a:xfrm>
          <a:prstGeom prst="rect">
            <a:avLst/>
          </a:prstGeom>
          <a:noFill/>
          <a:ln/>
        </p:spPr>
        <p:txBody>
          <a:bodyPr wrap="square" lIns="0" tIns="0" rIns="0" bIns="0" rtlCol="0" anchor="t"/>
          <a:lstStyle/>
          <a:p>
            <a:pPr algn="l"/>
            <a:r>
              <a:rPr lang="en-US" sz="1400" dirty="0">
                <a:solidFill>
                  <a:srgbClr val="333333">
                    <a:alpha val="100000"/>
                  </a:srgbClr>
                </a:solidFill>
                <a:latin typeface="Segoe UI Semibold" pitchFamily="34" charset="0"/>
                <a:ea typeface="Segoe UI Semibold" pitchFamily="34" charset="-122"/>
                <a:cs typeface="Segoe UI Semibold" pitchFamily="34" charset="-120"/>
              </a:rPr>
              <a:t>Agent full context window</a:t>
            </a:r>
            <a:endParaRPr lang="en-US" sz="1400" dirty="0"/>
          </a:p>
        </p:txBody>
      </p:sp>
      <p:sp>
        <p:nvSpPr>
          <p:cNvPr id="135" name="Text 131"/>
          <p:cNvSpPr/>
          <p:nvPr/>
        </p:nvSpPr>
        <p:spPr>
          <a:xfrm>
            <a:off x="1727178" y="14602305"/>
            <a:ext cx="5600628" cy="584291"/>
          </a:xfrm>
          <a:prstGeom prst="rect">
            <a:avLst/>
          </a:prstGeom>
          <a:noFill/>
          <a:ln/>
        </p:spPr>
        <p:txBody>
          <a:bodyPr wrap="square" lIns="0" tIns="0" rIns="0" bIns="0" rtlCol="0" anchor="t"/>
          <a:lstStyle/>
          <a:p>
            <a:pPr algn="l"/>
            <a:r>
              <a:rPr lang="en-US" sz="1400" dirty="0">
                <a:solidFill>
                  <a:srgbClr val="333333">
                    <a:alpha val="100000"/>
                  </a:srgbClr>
                </a:solidFill>
                <a:latin typeface="Segoe UI Regular" pitchFamily="34" charset="0"/>
                <a:ea typeface="Segoe UI Regular" pitchFamily="34" charset="-122"/>
                <a:cs typeface="Segoe UI Regular" pitchFamily="34" charset="-120"/>
              </a:rPr>
              <a:t>Full context window of agent. This is the full set of text this agent sent </a:t>
            </a:r>
            <a:endParaRPr lang="en-US" sz="1400" dirty="0"/>
          </a:p>
          <a:p>
            <a:pPr algn="l"/>
            <a:r>
              <a:rPr lang="en-US" sz="1400" dirty="0">
                <a:solidFill>
                  <a:srgbClr val="333333">
                    <a:alpha val="100000"/>
                  </a:srgbClr>
                </a:solidFill>
                <a:latin typeface="Segoe UI Regular" pitchFamily="34" charset="0"/>
                <a:ea typeface="Segoe UI Regular" pitchFamily="34" charset="-122"/>
                <a:cs typeface="Segoe UI Regular" pitchFamily="34" charset="-120"/>
              </a:rPr>
              <a:t>to the LLM when last called.</a:t>
            </a:r>
            <a:endParaRPr lang="en-US" sz="1400" dirty="0"/>
          </a:p>
        </p:txBody>
      </p:sp>
      <p:sp>
        <p:nvSpPr>
          <p:cNvPr id="136" name="Shape 132"/>
          <p:cNvSpPr/>
          <p:nvPr/>
        </p:nvSpPr>
        <p:spPr>
          <a:xfrm>
            <a:off x="1587479" y="16494900"/>
            <a:ext cx="5741726" cy="12702"/>
          </a:xfrm>
          <a:prstGeom prst="rect">
            <a:avLst/>
          </a:prstGeom>
          <a:solidFill>
            <a:srgbClr val="0078D7">
              <a:alpha val="100000"/>
            </a:srgbClr>
          </a:solidFill>
          <a:ln/>
        </p:spPr>
        <p:txBody>
          <a:bodyPr/>
          <a:lstStyle/>
          <a:p>
            <a:endParaRPr lang="en-US"/>
          </a:p>
        </p:txBody>
      </p:sp>
      <p:sp>
        <p:nvSpPr>
          <p:cNvPr id="137" name="Text 133"/>
          <p:cNvSpPr/>
          <p:nvPr/>
        </p:nvSpPr>
        <p:spPr>
          <a:xfrm>
            <a:off x="1854176" y="16583814"/>
            <a:ext cx="698491" cy="279443"/>
          </a:xfrm>
          <a:prstGeom prst="rect">
            <a:avLst/>
          </a:prstGeom>
          <a:noFill/>
          <a:ln/>
        </p:spPr>
        <p:txBody>
          <a:bodyPr wrap="square" lIns="0" tIns="0" rIns="0" bIns="0" rtlCol="0" anchor="t"/>
          <a:lstStyle/>
          <a:p>
            <a:pPr algn="l"/>
            <a:r>
              <a:rPr lang="en-US" sz="1200" dirty="0">
                <a:solidFill>
                  <a:srgbClr val="000000">
                    <a:alpha val="12000"/>
                  </a:srgbClr>
                </a:solidFill>
                <a:latin typeface="Segoe UI Regular" pitchFamily="34" charset="0"/>
                <a:ea typeface="Segoe UI Regular" pitchFamily="34" charset="-122"/>
                <a:cs typeface="Segoe UI Regular" pitchFamily="34" charset="-120"/>
              </a:rPr>
              <a:t>Updating</a:t>
            </a:r>
            <a:endParaRPr lang="en-US" sz="1200" dirty="0"/>
          </a:p>
        </p:txBody>
      </p:sp>
      <p:sp>
        <p:nvSpPr>
          <p:cNvPr id="138" name="Shape 134"/>
          <p:cNvSpPr/>
          <p:nvPr/>
        </p:nvSpPr>
        <p:spPr>
          <a:xfrm>
            <a:off x="1580261" y="16605645"/>
            <a:ext cx="187645" cy="187677"/>
          </a:xfrm>
          <a:prstGeom prst="rect">
            <a:avLst/>
          </a:prstGeom>
          <a:noFill/>
          <a:ln/>
        </p:spPr>
        <p:txBody>
          <a:bodyPr/>
          <a:lstStyle/>
          <a:p>
            <a:endParaRPr lang="en-US"/>
          </a:p>
        </p:txBody>
      </p:sp>
      <p:sp>
        <p:nvSpPr>
          <p:cNvPr id="139" name="Shape 135"/>
          <p:cNvSpPr/>
          <p:nvPr/>
        </p:nvSpPr>
        <p:spPr>
          <a:xfrm>
            <a:off x="1595898" y="16621281"/>
            <a:ext cx="156371" cy="156397"/>
          </a:xfrm>
          <a:prstGeom prst="ellipse">
            <a:avLst/>
          </a:prstGeom>
          <a:noFill/>
          <a:ln w="12700">
            <a:solidFill>
              <a:srgbClr val="000000">
                <a:alpha val="12000"/>
              </a:srgbClr>
            </a:solidFill>
            <a:prstDash val="solid"/>
          </a:ln>
        </p:spPr>
        <p:txBody>
          <a:bodyPr/>
          <a:lstStyle/>
          <a:p>
            <a:endParaRPr lang="en-US"/>
          </a:p>
        </p:txBody>
      </p:sp>
      <p:sp>
        <p:nvSpPr>
          <p:cNvPr id="140" name="Shape 136"/>
          <p:cNvSpPr/>
          <p:nvPr/>
        </p:nvSpPr>
        <p:spPr>
          <a:xfrm>
            <a:off x="1269984" y="17554132"/>
            <a:ext cx="6349918" cy="4369480"/>
          </a:xfrm>
          <a:prstGeom prst="roundRect">
            <a:avLst>
              <a:gd name="adj" fmla="val 1256"/>
            </a:avLst>
          </a:prstGeom>
          <a:solidFill>
            <a:srgbClr val="F2F2F2">
              <a:alpha val="100000"/>
            </a:srgbClr>
          </a:solidFill>
          <a:ln/>
          <a:effectLst>
            <a:outerShdw blurRad="190500" dist="139700" dir="5400000" algn="bl" rotWithShape="0">
              <a:srgbClr val="000000">
                <a:alpha val="20000"/>
              </a:srgbClr>
            </a:outerShdw>
          </a:effectLst>
        </p:spPr>
        <p:txBody>
          <a:bodyPr/>
          <a:lstStyle/>
          <a:p>
            <a:endParaRPr lang="en-US"/>
          </a:p>
        </p:txBody>
      </p:sp>
      <p:sp>
        <p:nvSpPr>
          <p:cNvPr id="141" name="Shape 137"/>
          <p:cNvSpPr/>
          <p:nvPr/>
        </p:nvSpPr>
        <p:spPr>
          <a:xfrm>
            <a:off x="1269984" y="17554132"/>
            <a:ext cx="6349918" cy="4369480"/>
          </a:xfrm>
          <a:prstGeom prst="roundRect">
            <a:avLst>
              <a:gd name="adj" fmla="val 1256"/>
            </a:avLst>
          </a:prstGeom>
          <a:solidFill>
            <a:srgbClr val="F2F2F2">
              <a:alpha val="100000"/>
            </a:srgbClr>
          </a:solidFill>
          <a:ln/>
          <a:effectLst>
            <a:outerShdw blurRad="584200" dist="114300" dir="5400000" algn="bl" rotWithShape="0">
              <a:srgbClr val="000000">
                <a:alpha val="12000"/>
              </a:srgbClr>
            </a:outerShdw>
          </a:effectLst>
        </p:spPr>
        <p:txBody>
          <a:bodyPr/>
          <a:lstStyle/>
          <a:p>
            <a:endParaRPr lang="en-US"/>
          </a:p>
        </p:txBody>
      </p:sp>
      <p:sp>
        <p:nvSpPr>
          <p:cNvPr id="142" name="Shape 138"/>
          <p:cNvSpPr/>
          <p:nvPr/>
        </p:nvSpPr>
        <p:spPr>
          <a:xfrm>
            <a:off x="1269984" y="17554132"/>
            <a:ext cx="6349918" cy="4369480"/>
          </a:xfrm>
          <a:prstGeom prst="roundRect">
            <a:avLst>
              <a:gd name="adj" fmla="val 1256"/>
            </a:avLst>
          </a:prstGeom>
          <a:solidFill>
            <a:srgbClr val="F2F2F2">
              <a:alpha val="100000"/>
            </a:srgbClr>
          </a:solidFill>
          <a:ln/>
          <a:effectLst>
            <a:outerShdw blurRad="482600" dist="304800" dir="5400000" algn="bl" rotWithShape="0">
              <a:srgbClr val="000000">
                <a:alpha val="14000"/>
              </a:srgbClr>
            </a:outerShdw>
          </a:effectLst>
        </p:spPr>
        <p:txBody>
          <a:bodyPr/>
          <a:lstStyle/>
          <a:p>
            <a:endParaRPr lang="en-US"/>
          </a:p>
        </p:txBody>
      </p:sp>
      <p:sp>
        <p:nvSpPr>
          <p:cNvPr id="143" name="Shape 139"/>
          <p:cNvSpPr/>
          <p:nvPr/>
        </p:nvSpPr>
        <p:spPr>
          <a:xfrm>
            <a:off x="1269984" y="17554132"/>
            <a:ext cx="6349918" cy="4369480"/>
          </a:xfrm>
          <a:prstGeom prst="roundRect">
            <a:avLst>
              <a:gd name="adj" fmla="val 1256"/>
            </a:avLst>
          </a:prstGeom>
          <a:solidFill>
            <a:srgbClr val="F2F2F2">
              <a:alpha val="100000"/>
            </a:srgbClr>
          </a:solidFill>
          <a:ln/>
        </p:spPr>
        <p:txBody>
          <a:bodyPr/>
          <a:lstStyle/>
          <a:p>
            <a:endParaRPr lang="en-US"/>
          </a:p>
        </p:txBody>
      </p:sp>
      <p:sp>
        <p:nvSpPr>
          <p:cNvPr id="144" name="Text 140"/>
          <p:cNvSpPr/>
          <p:nvPr/>
        </p:nvSpPr>
        <p:spPr>
          <a:xfrm>
            <a:off x="1574780" y="18095349"/>
            <a:ext cx="3035261" cy="513047"/>
          </a:xfrm>
          <a:prstGeom prst="rect">
            <a:avLst/>
          </a:prstGeom>
          <a:noFill/>
          <a:ln/>
        </p:spPr>
        <p:txBody>
          <a:bodyPr wrap="square" lIns="0" tIns="0" rIns="0" bIns="0" rtlCol="0" anchor="t"/>
          <a:lstStyle/>
          <a:p>
            <a:pPr algn="l"/>
            <a:r>
              <a:rPr lang="en-US" sz="1400" kern="0" spc="25" dirty="0">
                <a:solidFill>
                  <a:srgbClr val="000000">
                    <a:alpha val="60000"/>
                  </a:srgbClr>
                </a:solidFill>
                <a:latin typeface="Roboto Regular" pitchFamily="34" charset="0"/>
                <a:ea typeface="Roboto Regular" pitchFamily="34" charset="-122"/>
                <a:cs typeface="Roboto Regular" pitchFamily="34" charset="-120"/>
              </a:rPr>
              <a:t>Agent static system prompt</a:t>
            </a:r>
            <a:endParaRPr lang="en-US" sz="1400" dirty="0"/>
          </a:p>
        </p:txBody>
      </p:sp>
      <p:sp>
        <p:nvSpPr>
          <p:cNvPr id="145" name="Text 141"/>
          <p:cNvSpPr/>
          <p:nvPr/>
        </p:nvSpPr>
        <p:spPr>
          <a:xfrm>
            <a:off x="1574780" y="17744661"/>
            <a:ext cx="1371582"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Agent 4</a:t>
            </a:r>
            <a:endParaRPr lang="en-US" sz="1600" dirty="0"/>
          </a:p>
        </p:txBody>
      </p:sp>
      <p:sp>
        <p:nvSpPr>
          <p:cNvPr id="146" name="Text 142"/>
          <p:cNvSpPr/>
          <p:nvPr/>
        </p:nvSpPr>
        <p:spPr>
          <a:xfrm>
            <a:off x="5257732" y="17744661"/>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Agents</a:t>
            </a:r>
            <a:endParaRPr lang="en-US" sz="1600" dirty="0"/>
          </a:p>
        </p:txBody>
      </p:sp>
      <p:sp>
        <p:nvSpPr>
          <p:cNvPr id="147" name="Text 143"/>
          <p:cNvSpPr/>
          <p:nvPr/>
        </p:nvSpPr>
        <p:spPr>
          <a:xfrm>
            <a:off x="6527716" y="17744661"/>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Tools</a:t>
            </a:r>
            <a:endParaRPr lang="en-US" sz="1600" dirty="0"/>
          </a:p>
        </p:txBody>
      </p:sp>
      <p:sp>
        <p:nvSpPr>
          <p:cNvPr id="148" name="Shape 144"/>
          <p:cNvSpPr/>
          <p:nvPr/>
        </p:nvSpPr>
        <p:spPr>
          <a:xfrm>
            <a:off x="5206933" y="18113019"/>
            <a:ext cx="939788" cy="406463"/>
          </a:xfrm>
          <a:prstGeom prst="roundRect">
            <a:avLst>
              <a:gd name="adj" fmla="val 49492"/>
            </a:avLst>
          </a:prstGeom>
          <a:solidFill>
            <a:srgbClr val="FFFFFF">
              <a:alpha val="100000"/>
            </a:srgbClr>
          </a:solidFill>
          <a:ln/>
        </p:spPr>
        <p:txBody>
          <a:bodyPr/>
          <a:lstStyle/>
          <a:p>
            <a:endParaRPr lang="en-US"/>
          </a:p>
        </p:txBody>
      </p:sp>
      <p:sp>
        <p:nvSpPr>
          <p:cNvPr id="149" name="Shape 145"/>
          <p:cNvSpPr/>
          <p:nvPr/>
        </p:nvSpPr>
        <p:spPr>
          <a:xfrm>
            <a:off x="5206933" y="18113019"/>
            <a:ext cx="939788"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150" name="Shape 146"/>
          <p:cNvSpPr/>
          <p:nvPr/>
        </p:nvSpPr>
        <p:spPr>
          <a:xfrm>
            <a:off x="5206933" y="18113019"/>
            <a:ext cx="939788" cy="406463"/>
          </a:xfrm>
          <a:prstGeom prst="roundRect">
            <a:avLst>
              <a:gd name="adj" fmla="val 49492"/>
            </a:avLst>
          </a:prstGeom>
          <a:noFill/>
          <a:ln/>
        </p:spPr>
        <p:txBody>
          <a:bodyPr/>
          <a:lstStyle/>
          <a:p>
            <a:endParaRPr lang="en-US"/>
          </a:p>
        </p:txBody>
      </p:sp>
      <p:sp>
        <p:nvSpPr>
          <p:cNvPr id="151" name="Text 147"/>
          <p:cNvSpPr/>
          <p:nvPr/>
        </p:nvSpPr>
        <p:spPr>
          <a:xfrm>
            <a:off x="5359331" y="18189231"/>
            <a:ext cx="723891"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Agent 2</a:t>
            </a:r>
            <a:endParaRPr lang="en-US" sz="1400" dirty="0"/>
          </a:p>
        </p:txBody>
      </p:sp>
      <p:sp>
        <p:nvSpPr>
          <p:cNvPr id="152" name="Shape 148"/>
          <p:cNvSpPr/>
          <p:nvPr/>
        </p:nvSpPr>
        <p:spPr>
          <a:xfrm>
            <a:off x="6476916" y="18113019"/>
            <a:ext cx="812789" cy="406463"/>
          </a:xfrm>
          <a:prstGeom prst="roundRect">
            <a:avLst>
              <a:gd name="adj" fmla="val 49492"/>
            </a:avLst>
          </a:prstGeom>
          <a:solidFill>
            <a:srgbClr val="FFFFFF">
              <a:alpha val="100000"/>
            </a:srgbClr>
          </a:solidFill>
          <a:ln/>
        </p:spPr>
        <p:txBody>
          <a:bodyPr/>
          <a:lstStyle/>
          <a:p>
            <a:endParaRPr lang="en-US"/>
          </a:p>
        </p:txBody>
      </p:sp>
      <p:sp>
        <p:nvSpPr>
          <p:cNvPr id="153" name="Shape 149"/>
          <p:cNvSpPr/>
          <p:nvPr/>
        </p:nvSpPr>
        <p:spPr>
          <a:xfrm>
            <a:off x="6476916" y="18113019"/>
            <a:ext cx="8127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154" name="Shape 150"/>
          <p:cNvSpPr/>
          <p:nvPr/>
        </p:nvSpPr>
        <p:spPr>
          <a:xfrm>
            <a:off x="6476916" y="18113019"/>
            <a:ext cx="812789" cy="406463"/>
          </a:xfrm>
          <a:prstGeom prst="roundRect">
            <a:avLst>
              <a:gd name="adj" fmla="val 49492"/>
            </a:avLst>
          </a:prstGeom>
          <a:noFill/>
          <a:ln/>
        </p:spPr>
        <p:txBody>
          <a:bodyPr/>
          <a:lstStyle/>
          <a:p>
            <a:endParaRPr lang="en-US"/>
          </a:p>
        </p:txBody>
      </p:sp>
      <p:sp>
        <p:nvSpPr>
          <p:cNvPr id="155" name="Text 151"/>
          <p:cNvSpPr/>
          <p:nvPr/>
        </p:nvSpPr>
        <p:spPr>
          <a:xfrm>
            <a:off x="6629314" y="18189231"/>
            <a:ext cx="5968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Tool 1</a:t>
            </a:r>
            <a:endParaRPr lang="en-US" sz="1400" dirty="0"/>
          </a:p>
        </p:txBody>
      </p:sp>
      <p:sp>
        <p:nvSpPr>
          <p:cNvPr id="156" name="Shape 152"/>
          <p:cNvSpPr/>
          <p:nvPr/>
        </p:nvSpPr>
        <p:spPr>
          <a:xfrm>
            <a:off x="1587479" y="19530647"/>
            <a:ext cx="5741726" cy="1867191"/>
          </a:xfrm>
          <a:prstGeom prst="rect">
            <a:avLst/>
          </a:prstGeom>
          <a:solidFill>
            <a:srgbClr val="FFFFFF">
              <a:alpha val="100000"/>
            </a:srgbClr>
          </a:solidFill>
          <a:ln/>
        </p:spPr>
        <p:txBody>
          <a:bodyPr/>
          <a:lstStyle/>
          <a:p>
            <a:endParaRPr lang="en-US"/>
          </a:p>
        </p:txBody>
      </p:sp>
      <p:sp>
        <p:nvSpPr>
          <p:cNvPr id="157" name="Text 153"/>
          <p:cNvSpPr/>
          <p:nvPr/>
        </p:nvSpPr>
        <p:spPr>
          <a:xfrm>
            <a:off x="1574780" y="19213123"/>
            <a:ext cx="2222471" cy="330251"/>
          </a:xfrm>
          <a:prstGeom prst="rect">
            <a:avLst/>
          </a:prstGeom>
          <a:noFill/>
          <a:ln/>
        </p:spPr>
        <p:txBody>
          <a:bodyPr wrap="square" lIns="0" tIns="0" rIns="0" bIns="0" rtlCol="0" anchor="t"/>
          <a:lstStyle/>
          <a:p>
            <a:pPr algn="l"/>
            <a:r>
              <a:rPr lang="en-US" sz="1400" dirty="0">
                <a:solidFill>
                  <a:srgbClr val="333333">
                    <a:alpha val="100000"/>
                  </a:srgbClr>
                </a:solidFill>
                <a:latin typeface="Segoe UI Semibold" pitchFamily="34" charset="0"/>
                <a:ea typeface="Segoe UI Semibold" pitchFamily="34" charset="-122"/>
                <a:cs typeface="Segoe UI Semibold" pitchFamily="34" charset="-120"/>
              </a:rPr>
              <a:t>Agent full context window</a:t>
            </a:r>
            <a:endParaRPr lang="en-US" sz="1400" dirty="0"/>
          </a:p>
        </p:txBody>
      </p:sp>
      <p:sp>
        <p:nvSpPr>
          <p:cNvPr id="158" name="Text 154"/>
          <p:cNvSpPr/>
          <p:nvPr/>
        </p:nvSpPr>
        <p:spPr>
          <a:xfrm>
            <a:off x="1727178" y="19606884"/>
            <a:ext cx="5600628" cy="584291"/>
          </a:xfrm>
          <a:prstGeom prst="rect">
            <a:avLst/>
          </a:prstGeom>
          <a:noFill/>
          <a:ln/>
        </p:spPr>
        <p:txBody>
          <a:bodyPr wrap="square" lIns="0" tIns="0" rIns="0" bIns="0" rtlCol="0" anchor="t"/>
          <a:lstStyle/>
          <a:p>
            <a:pPr algn="l"/>
            <a:r>
              <a:rPr lang="en-US" sz="1400" dirty="0">
                <a:solidFill>
                  <a:srgbClr val="333333">
                    <a:alpha val="100000"/>
                  </a:srgbClr>
                </a:solidFill>
                <a:latin typeface="Segoe UI Regular" pitchFamily="34" charset="0"/>
                <a:ea typeface="Segoe UI Regular" pitchFamily="34" charset="-122"/>
                <a:cs typeface="Segoe UI Regular" pitchFamily="34" charset="-120"/>
              </a:rPr>
              <a:t>Full context window of agent. This is the full set of text this agent sent </a:t>
            </a:r>
            <a:endParaRPr lang="en-US" sz="1400" dirty="0"/>
          </a:p>
          <a:p>
            <a:pPr algn="l"/>
            <a:r>
              <a:rPr lang="en-US" sz="1400" dirty="0">
                <a:solidFill>
                  <a:srgbClr val="333333">
                    <a:alpha val="100000"/>
                  </a:srgbClr>
                </a:solidFill>
                <a:latin typeface="Segoe UI Regular" pitchFamily="34" charset="0"/>
                <a:ea typeface="Segoe UI Regular" pitchFamily="34" charset="-122"/>
                <a:cs typeface="Segoe UI Regular" pitchFamily="34" charset="-120"/>
              </a:rPr>
              <a:t>to the LLM when last called.</a:t>
            </a:r>
            <a:endParaRPr lang="en-US" sz="1400" dirty="0"/>
          </a:p>
        </p:txBody>
      </p:sp>
      <p:sp>
        <p:nvSpPr>
          <p:cNvPr id="159" name="Shape 155"/>
          <p:cNvSpPr/>
          <p:nvPr/>
        </p:nvSpPr>
        <p:spPr>
          <a:xfrm>
            <a:off x="1587479" y="21499479"/>
            <a:ext cx="5741726" cy="12702"/>
          </a:xfrm>
          <a:prstGeom prst="rect">
            <a:avLst/>
          </a:prstGeom>
          <a:solidFill>
            <a:srgbClr val="0078D7">
              <a:alpha val="100000"/>
            </a:srgbClr>
          </a:solidFill>
          <a:ln/>
        </p:spPr>
        <p:txBody>
          <a:bodyPr/>
          <a:lstStyle/>
          <a:p>
            <a:endParaRPr lang="en-US"/>
          </a:p>
        </p:txBody>
      </p:sp>
      <p:sp>
        <p:nvSpPr>
          <p:cNvPr id="160" name="Text 156"/>
          <p:cNvSpPr/>
          <p:nvPr/>
        </p:nvSpPr>
        <p:spPr>
          <a:xfrm>
            <a:off x="1854176" y="21588392"/>
            <a:ext cx="698491" cy="279443"/>
          </a:xfrm>
          <a:prstGeom prst="rect">
            <a:avLst/>
          </a:prstGeom>
          <a:noFill/>
          <a:ln/>
        </p:spPr>
        <p:txBody>
          <a:bodyPr wrap="square" lIns="0" tIns="0" rIns="0" bIns="0" rtlCol="0" anchor="t"/>
          <a:lstStyle/>
          <a:p>
            <a:pPr algn="l"/>
            <a:r>
              <a:rPr lang="en-US" sz="1200" dirty="0">
                <a:solidFill>
                  <a:srgbClr val="000000">
                    <a:alpha val="12000"/>
                  </a:srgbClr>
                </a:solidFill>
                <a:latin typeface="Segoe UI Regular" pitchFamily="34" charset="0"/>
                <a:ea typeface="Segoe UI Regular" pitchFamily="34" charset="-122"/>
                <a:cs typeface="Segoe UI Regular" pitchFamily="34" charset="-120"/>
              </a:rPr>
              <a:t>Updating</a:t>
            </a:r>
            <a:endParaRPr lang="en-US" sz="1200" dirty="0"/>
          </a:p>
        </p:txBody>
      </p:sp>
      <p:sp>
        <p:nvSpPr>
          <p:cNvPr id="161" name="Shape 157"/>
          <p:cNvSpPr/>
          <p:nvPr/>
        </p:nvSpPr>
        <p:spPr>
          <a:xfrm>
            <a:off x="1580261" y="21610224"/>
            <a:ext cx="187645" cy="187677"/>
          </a:xfrm>
          <a:prstGeom prst="rect">
            <a:avLst/>
          </a:prstGeom>
          <a:noFill/>
          <a:ln/>
        </p:spPr>
        <p:txBody>
          <a:bodyPr/>
          <a:lstStyle/>
          <a:p>
            <a:endParaRPr lang="en-US"/>
          </a:p>
        </p:txBody>
      </p:sp>
      <p:sp>
        <p:nvSpPr>
          <p:cNvPr id="162" name="Shape 158"/>
          <p:cNvSpPr/>
          <p:nvPr/>
        </p:nvSpPr>
        <p:spPr>
          <a:xfrm>
            <a:off x="1595898" y="21625860"/>
            <a:ext cx="156371" cy="156397"/>
          </a:xfrm>
          <a:prstGeom prst="ellipse">
            <a:avLst/>
          </a:prstGeom>
          <a:noFill/>
          <a:ln w="12700">
            <a:solidFill>
              <a:srgbClr val="000000">
                <a:alpha val="12000"/>
              </a:srgbClr>
            </a:solidFill>
            <a:prstDash val="solid"/>
          </a:ln>
        </p:spPr>
        <p:txBody>
          <a:bodyPr/>
          <a:lstStyle/>
          <a:p>
            <a:endParaRPr lang="en-US"/>
          </a:p>
        </p:txBody>
      </p:sp>
      <p:sp>
        <p:nvSpPr>
          <p:cNvPr id="163" name="Shape 159"/>
          <p:cNvSpPr/>
          <p:nvPr/>
        </p:nvSpPr>
        <p:spPr>
          <a:xfrm>
            <a:off x="10159869" y="9018403"/>
            <a:ext cx="6349918" cy="2540395"/>
          </a:xfrm>
          <a:prstGeom prst="roundRect">
            <a:avLst>
              <a:gd name="adj" fmla="val 2160"/>
            </a:avLst>
          </a:prstGeom>
          <a:solidFill>
            <a:srgbClr val="F2F2F2">
              <a:alpha val="100000"/>
            </a:srgbClr>
          </a:solidFill>
          <a:ln/>
          <a:effectLst>
            <a:outerShdw blurRad="190500" dist="139700" dir="5400000" algn="bl" rotWithShape="0">
              <a:srgbClr val="000000">
                <a:alpha val="20000"/>
              </a:srgbClr>
            </a:outerShdw>
          </a:effectLst>
        </p:spPr>
        <p:txBody>
          <a:bodyPr/>
          <a:lstStyle/>
          <a:p>
            <a:endParaRPr lang="en-US"/>
          </a:p>
        </p:txBody>
      </p:sp>
      <p:sp>
        <p:nvSpPr>
          <p:cNvPr id="164" name="Shape 160"/>
          <p:cNvSpPr/>
          <p:nvPr/>
        </p:nvSpPr>
        <p:spPr>
          <a:xfrm>
            <a:off x="10159869" y="9018403"/>
            <a:ext cx="6349918" cy="2540395"/>
          </a:xfrm>
          <a:prstGeom prst="roundRect">
            <a:avLst>
              <a:gd name="adj" fmla="val 2160"/>
            </a:avLst>
          </a:prstGeom>
          <a:solidFill>
            <a:srgbClr val="F2F2F2">
              <a:alpha val="100000"/>
            </a:srgbClr>
          </a:solidFill>
          <a:ln/>
          <a:effectLst>
            <a:outerShdw blurRad="584200" dist="114300" dir="5400000" algn="bl" rotWithShape="0">
              <a:srgbClr val="000000">
                <a:alpha val="12000"/>
              </a:srgbClr>
            </a:outerShdw>
          </a:effectLst>
        </p:spPr>
        <p:txBody>
          <a:bodyPr/>
          <a:lstStyle/>
          <a:p>
            <a:endParaRPr lang="en-US"/>
          </a:p>
        </p:txBody>
      </p:sp>
      <p:sp>
        <p:nvSpPr>
          <p:cNvPr id="165" name="Shape 161"/>
          <p:cNvSpPr/>
          <p:nvPr/>
        </p:nvSpPr>
        <p:spPr>
          <a:xfrm>
            <a:off x="10159869" y="9018403"/>
            <a:ext cx="6349918" cy="2540395"/>
          </a:xfrm>
          <a:prstGeom prst="roundRect">
            <a:avLst>
              <a:gd name="adj" fmla="val 2160"/>
            </a:avLst>
          </a:prstGeom>
          <a:solidFill>
            <a:srgbClr val="F2F2F2">
              <a:alpha val="100000"/>
            </a:srgbClr>
          </a:solidFill>
          <a:ln/>
          <a:effectLst>
            <a:outerShdw blurRad="482600" dist="304800" dir="5400000" algn="bl" rotWithShape="0">
              <a:srgbClr val="000000">
                <a:alpha val="14000"/>
              </a:srgbClr>
            </a:outerShdw>
          </a:effectLst>
        </p:spPr>
        <p:txBody>
          <a:bodyPr/>
          <a:lstStyle/>
          <a:p>
            <a:endParaRPr lang="en-US"/>
          </a:p>
        </p:txBody>
      </p:sp>
      <p:sp>
        <p:nvSpPr>
          <p:cNvPr id="166" name="Shape 162"/>
          <p:cNvSpPr/>
          <p:nvPr/>
        </p:nvSpPr>
        <p:spPr>
          <a:xfrm>
            <a:off x="10159869" y="9018403"/>
            <a:ext cx="6349918" cy="2540395"/>
          </a:xfrm>
          <a:prstGeom prst="roundRect">
            <a:avLst>
              <a:gd name="adj" fmla="val 2160"/>
            </a:avLst>
          </a:prstGeom>
          <a:solidFill>
            <a:srgbClr val="F2F2F2">
              <a:alpha val="100000"/>
            </a:srgbClr>
          </a:solidFill>
          <a:ln/>
        </p:spPr>
        <p:txBody>
          <a:bodyPr/>
          <a:lstStyle/>
          <a:p>
            <a:endParaRPr lang="en-US"/>
          </a:p>
        </p:txBody>
      </p:sp>
      <p:sp>
        <p:nvSpPr>
          <p:cNvPr id="167" name="Text 163"/>
          <p:cNvSpPr/>
          <p:nvPr/>
        </p:nvSpPr>
        <p:spPr>
          <a:xfrm>
            <a:off x="10464665" y="9559621"/>
            <a:ext cx="3035261" cy="1849518"/>
          </a:xfrm>
          <a:prstGeom prst="rect">
            <a:avLst/>
          </a:prstGeom>
          <a:noFill/>
          <a:ln/>
        </p:spPr>
        <p:txBody>
          <a:bodyPr wrap="square" lIns="0" tIns="0" rIns="0" bIns="0" rtlCol="0" anchor="t"/>
          <a:lstStyle/>
          <a:p>
            <a:pPr algn="l"/>
            <a:r>
              <a:rPr lang="en-US" sz="1400" kern="0" spc="25" dirty="0">
                <a:solidFill>
                  <a:srgbClr val="000000">
                    <a:alpha val="60000"/>
                  </a:srgbClr>
                </a:solidFill>
                <a:latin typeface="Roboto Regular" pitchFamily="34" charset="0"/>
                <a:ea typeface="Roboto Regular" pitchFamily="34" charset="-122"/>
                <a:cs typeface="Roboto Regular" pitchFamily="34" charset="-120"/>
              </a:rPr>
              <a:t>Tool description, and example of how inputs populate variables or functions and how output is formatted for return to the agent requesting the tool's use</a:t>
            </a:r>
            <a:endParaRPr lang="en-US" sz="1400" dirty="0"/>
          </a:p>
        </p:txBody>
      </p:sp>
      <p:sp>
        <p:nvSpPr>
          <p:cNvPr id="168" name="Text 164"/>
          <p:cNvSpPr/>
          <p:nvPr/>
        </p:nvSpPr>
        <p:spPr>
          <a:xfrm>
            <a:off x="10464665" y="9208933"/>
            <a:ext cx="1371582"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Tool 3</a:t>
            </a:r>
            <a:endParaRPr lang="en-US" sz="1600" dirty="0"/>
          </a:p>
        </p:txBody>
      </p:sp>
      <p:sp>
        <p:nvSpPr>
          <p:cNvPr id="169" name="Text 165"/>
          <p:cNvSpPr/>
          <p:nvPr/>
        </p:nvSpPr>
        <p:spPr>
          <a:xfrm>
            <a:off x="13766622" y="9208933"/>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Inputs</a:t>
            </a:r>
            <a:endParaRPr lang="en-US" sz="1600" dirty="0"/>
          </a:p>
        </p:txBody>
      </p:sp>
      <p:sp>
        <p:nvSpPr>
          <p:cNvPr id="170" name="Text 166"/>
          <p:cNvSpPr/>
          <p:nvPr/>
        </p:nvSpPr>
        <p:spPr>
          <a:xfrm>
            <a:off x="15036605" y="9208933"/>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Outputs</a:t>
            </a:r>
            <a:endParaRPr lang="en-US" sz="1600" dirty="0"/>
          </a:p>
        </p:txBody>
      </p:sp>
      <p:sp>
        <p:nvSpPr>
          <p:cNvPr id="171" name="Shape 167"/>
          <p:cNvSpPr/>
          <p:nvPr/>
        </p:nvSpPr>
        <p:spPr>
          <a:xfrm>
            <a:off x="13715823" y="9577290"/>
            <a:ext cx="685791" cy="406463"/>
          </a:xfrm>
          <a:prstGeom prst="roundRect">
            <a:avLst>
              <a:gd name="adj" fmla="val 49492"/>
            </a:avLst>
          </a:prstGeom>
          <a:solidFill>
            <a:srgbClr val="FFFFFF">
              <a:alpha val="100000"/>
            </a:srgbClr>
          </a:solidFill>
          <a:ln/>
        </p:spPr>
        <p:txBody>
          <a:bodyPr/>
          <a:lstStyle/>
          <a:p>
            <a:endParaRPr lang="en-US"/>
          </a:p>
        </p:txBody>
      </p:sp>
      <p:sp>
        <p:nvSpPr>
          <p:cNvPr id="172" name="Shape 168"/>
          <p:cNvSpPr/>
          <p:nvPr/>
        </p:nvSpPr>
        <p:spPr>
          <a:xfrm>
            <a:off x="13715823" y="9577290"/>
            <a:ext cx="685791"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173" name="Shape 169"/>
          <p:cNvSpPr/>
          <p:nvPr/>
        </p:nvSpPr>
        <p:spPr>
          <a:xfrm>
            <a:off x="13715823" y="9577290"/>
            <a:ext cx="685791" cy="406463"/>
          </a:xfrm>
          <a:prstGeom prst="roundRect">
            <a:avLst>
              <a:gd name="adj" fmla="val 49492"/>
            </a:avLst>
          </a:prstGeom>
          <a:noFill/>
          <a:ln/>
        </p:spPr>
        <p:txBody>
          <a:bodyPr/>
          <a:lstStyle/>
          <a:p>
            <a:endParaRPr lang="en-US"/>
          </a:p>
        </p:txBody>
      </p:sp>
      <p:sp>
        <p:nvSpPr>
          <p:cNvPr id="174" name="Text 170"/>
          <p:cNvSpPr/>
          <p:nvPr/>
        </p:nvSpPr>
        <p:spPr>
          <a:xfrm>
            <a:off x="13868221" y="9653502"/>
            <a:ext cx="469894"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Var1</a:t>
            </a:r>
            <a:endParaRPr lang="en-US" sz="1400" dirty="0"/>
          </a:p>
        </p:txBody>
      </p:sp>
      <p:sp>
        <p:nvSpPr>
          <p:cNvPr id="175" name="Shape 171"/>
          <p:cNvSpPr/>
          <p:nvPr/>
        </p:nvSpPr>
        <p:spPr>
          <a:xfrm>
            <a:off x="14985806" y="9577290"/>
            <a:ext cx="698491" cy="406463"/>
          </a:xfrm>
          <a:prstGeom prst="roundRect">
            <a:avLst>
              <a:gd name="adj" fmla="val 49492"/>
            </a:avLst>
          </a:prstGeom>
          <a:solidFill>
            <a:srgbClr val="FFFFFF">
              <a:alpha val="100000"/>
            </a:srgbClr>
          </a:solidFill>
          <a:ln/>
        </p:spPr>
        <p:txBody>
          <a:bodyPr/>
          <a:lstStyle/>
          <a:p>
            <a:endParaRPr lang="en-US"/>
          </a:p>
        </p:txBody>
      </p:sp>
      <p:sp>
        <p:nvSpPr>
          <p:cNvPr id="176" name="Shape 172"/>
          <p:cNvSpPr/>
          <p:nvPr/>
        </p:nvSpPr>
        <p:spPr>
          <a:xfrm>
            <a:off x="14985806" y="9577290"/>
            <a:ext cx="698491"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177" name="Shape 173"/>
          <p:cNvSpPr/>
          <p:nvPr/>
        </p:nvSpPr>
        <p:spPr>
          <a:xfrm>
            <a:off x="14985806" y="9577290"/>
            <a:ext cx="698491" cy="406463"/>
          </a:xfrm>
          <a:prstGeom prst="roundRect">
            <a:avLst>
              <a:gd name="adj" fmla="val 49492"/>
            </a:avLst>
          </a:prstGeom>
          <a:noFill/>
          <a:ln/>
        </p:spPr>
        <p:txBody>
          <a:bodyPr/>
          <a:lstStyle/>
          <a:p>
            <a:endParaRPr lang="en-US"/>
          </a:p>
        </p:txBody>
      </p:sp>
      <p:sp>
        <p:nvSpPr>
          <p:cNvPr id="178" name="Text 174"/>
          <p:cNvSpPr/>
          <p:nvPr/>
        </p:nvSpPr>
        <p:spPr>
          <a:xfrm>
            <a:off x="15138204" y="9653502"/>
            <a:ext cx="482594"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Out1</a:t>
            </a:r>
            <a:endParaRPr lang="en-US" sz="1400" dirty="0"/>
          </a:p>
        </p:txBody>
      </p:sp>
      <p:sp>
        <p:nvSpPr>
          <p:cNvPr id="179" name="Shape 175"/>
          <p:cNvSpPr/>
          <p:nvPr/>
        </p:nvSpPr>
        <p:spPr>
          <a:xfrm>
            <a:off x="14985806" y="10174283"/>
            <a:ext cx="698491" cy="406463"/>
          </a:xfrm>
          <a:prstGeom prst="roundRect">
            <a:avLst>
              <a:gd name="adj" fmla="val 49492"/>
            </a:avLst>
          </a:prstGeom>
          <a:solidFill>
            <a:srgbClr val="FFFFFF">
              <a:alpha val="100000"/>
            </a:srgbClr>
          </a:solidFill>
          <a:ln/>
        </p:spPr>
        <p:txBody>
          <a:bodyPr/>
          <a:lstStyle/>
          <a:p>
            <a:endParaRPr lang="en-US"/>
          </a:p>
        </p:txBody>
      </p:sp>
      <p:sp>
        <p:nvSpPr>
          <p:cNvPr id="180" name="Shape 176"/>
          <p:cNvSpPr/>
          <p:nvPr/>
        </p:nvSpPr>
        <p:spPr>
          <a:xfrm>
            <a:off x="14985806" y="10174283"/>
            <a:ext cx="698491"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181" name="Shape 177"/>
          <p:cNvSpPr/>
          <p:nvPr/>
        </p:nvSpPr>
        <p:spPr>
          <a:xfrm>
            <a:off x="14985806" y="10174283"/>
            <a:ext cx="698491" cy="406463"/>
          </a:xfrm>
          <a:prstGeom prst="roundRect">
            <a:avLst>
              <a:gd name="adj" fmla="val 49492"/>
            </a:avLst>
          </a:prstGeom>
          <a:noFill/>
          <a:ln/>
        </p:spPr>
        <p:txBody>
          <a:bodyPr/>
          <a:lstStyle/>
          <a:p>
            <a:endParaRPr lang="en-US"/>
          </a:p>
        </p:txBody>
      </p:sp>
      <p:sp>
        <p:nvSpPr>
          <p:cNvPr id="182" name="Text 178"/>
          <p:cNvSpPr/>
          <p:nvPr/>
        </p:nvSpPr>
        <p:spPr>
          <a:xfrm>
            <a:off x="15138204" y="10250495"/>
            <a:ext cx="482594"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Out2</a:t>
            </a:r>
            <a:endParaRPr lang="en-US" sz="1400" dirty="0"/>
          </a:p>
        </p:txBody>
      </p:sp>
      <p:sp>
        <p:nvSpPr>
          <p:cNvPr id="183" name="Shape 179"/>
          <p:cNvSpPr/>
          <p:nvPr/>
        </p:nvSpPr>
        <p:spPr>
          <a:xfrm>
            <a:off x="13715823" y="10174283"/>
            <a:ext cx="685791" cy="406463"/>
          </a:xfrm>
          <a:prstGeom prst="roundRect">
            <a:avLst>
              <a:gd name="adj" fmla="val 49492"/>
            </a:avLst>
          </a:prstGeom>
          <a:solidFill>
            <a:srgbClr val="FFFFFF">
              <a:alpha val="100000"/>
            </a:srgbClr>
          </a:solidFill>
          <a:ln/>
        </p:spPr>
        <p:txBody>
          <a:bodyPr/>
          <a:lstStyle/>
          <a:p>
            <a:endParaRPr lang="en-US"/>
          </a:p>
        </p:txBody>
      </p:sp>
      <p:sp>
        <p:nvSpPr>
          <p:cNvPr id="184" name="Shape 180"/>
          <p:cNvSpPr/>
          <p:nvPr/>
        </p:nvSpPr>
        <p:spPr>
          <a:xfrm>
            <a:off x="13715823" y="10174283"/>
            <a:ext cx="685791"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185" name="Shape 181"/>
          <p:cNvSpPr/>
          <p:nvPr/>
        </p:nvSpPr>
        <p:spPr>
          <a:xfrm>
            <a:off x="13715823" y="10174283"/>
            <a:ext cx="685791" cy="406463"/>
          </a:xfrm>
          <a:prstGeom prst="roundRect">
            <a:avLst>
              <a:gd name="adj" fmla="val 49492"/>
            </a:avLst>
          </a:prstGeom>
          <a:noFill/>
          <a:ln/>
        </p:spPr>
        <p:txBody>
          <a:bodyPr/>
          <a:lstStyle/>
          <a:p>
            <a:endParaRPr lang="en-US"/>
          </a:p>
        </p:txBody>
      </p:sp>
      <p:sp>
        <p:nvSpPr>
          <p:cNvPr id="186" name="Text 182"/>
          <p:cNvSpPr/>
          <p:nvPr/>
        </p:nvSpPr>
        <p:spPr>
          <a:xfrm>
            <a:off x="13868221" y="10250495"/>
            <a:ext cx="469894"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Var2</a:t>
            </a:r>
            <a:endParaRPr lang="en-US" sz="1400" dirty="0"/>
          </a:p>
        </p:txBody>
      </p:sp>
      <p:sp>
        <p:nvSpPr>
          <p:cNvPr id="187" name="Shape 183"/>
          <p:cNvSpPr/>
          <p:nvPr/>
        </p:nvSpPr>
        <p:spPr>
          <a:xfrm>
            <a:off x="13715823" y="10771276"/>
            <a:ext cx="685791" cy="406463"/>
          </a:xfrm>
          <a:prstGeom prst="roundRect">
            <a:avLst>
              <a:gd name="adj" fmla="val 49492"/>
            </a:avLst>
          </a:prstGeom>
          <a:solidFill>
            <a:srgbClr val="FFFFFF">
              <a:alpha val="100000"/>
            </a:srgbClr>
          </a:solidFill>
          <a:ln/>
        </p:spPr>
        <p:txBody>
          <a:bodyPr/>
          <a:lstStyle/>
          <a:p>
            <a:endParaRPr lang="en-US"/>
          </a:p>
        </p:txBody>
      </p:sp>
      <p:sp>
        <p:nvSpPr>
          <p:cNvPr id="188" name="Shape 184"/>
          <p:cNvSpPr/>
          <p:nvPr/>
        </p:nvSpPr>
        <p:spPr>
          <a:xfrm>
            <a:off x="13715823" y="10771276"/>
            <a:ext cx="685791"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189" name="Shape 185"/>
          <p:cNvSpPr/>
          <p:nvPr/>
        </p:nvSpPr>
        <p:spPr>
          <a:xfrm>
            <a:off x="13715823" y="10771276"/>
            <a:ext cx="685791" cy="406463"/>
          </a:xfrm>
          <a:prstGeom prst="roundRect">
            <a:avLst>
              <a:gd name="adj" fmla="val 49492"/>
            </a:avLst>
          </a:prstGeom>
          <a:noFill/>
          <a:ln/>
        </p:spPr>
        <p:txBody>
          <a:bodyPr/>
          <a:lstStyle/>
          <a:p>
            <a:endParaRPr lang="en-US"/>
          </a:p>
        </p:txBody>
      </p:sp>
      <p:sp>
        <p:nvSpPr>
          <p:cNvPr id="190" name="Text 186"/>
          <p:cNvSpPr/>
          <p:nvPr/>
        </p:nvSpPr>
        <p:spPr>
          <a:xfrm>
            <a:off x="13868221" y="10847488"/>
            <a:ext cx="469894"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Var3</a:t>
            </a:r>
            <a:endParaRPr lang="en-US" sz="1400" dirty="0"/>
          </a:p>
        </p:txBody>
      </p:sp>
      <p:sp>
        <p:nvSpPr>
          <p:cNvPr id="191" name="Shape 187"/>
          <p:cNvSpPr/>
          <p:nvPr/>
        </p:nvSpPr>
        <p:spPr>
          <a:xfrm>
            <a:off x="10159869" y="12320917"/>
            <a:ext cx="6349918" cy="2540395"/>
          </a:xfrm>
          <a:prstGeom prst="roundRect">
            <a:avLst>
              <a:gd name="adj" fmla="val 2160"/>
            </a:avLst>
          </a:prstGeom>
          <a:solidFill>
            <a:srgbClr val="F2F2F2">
              <a:alpha val="100000"/>
            </a:srgbClr>
          </a:solidFill>
          <a:ln/>
          <a:effectLst>
            <a:outerShdw blurRad="190500" dist="139700" dir="5400000" algn="bl" rotWithShape="0">
              <a:srgbClr val="000000">
                <a:alpha val="20000"/>
              </a:srgbClr>
            </a:outerShdw>
          </a:effectLst>
        </p:spPr>
        <p:txBody>
          <a:bodyPr/>
          <a:lstStyle/>
          <a:p>
            <a:endParaRPr lang="en-US"/>
          </a:p>
        </p:txBody>
      </p:sp>
      <p:sp>
        <p:nvSpPr>
          <p:cNvPr id="192" name="Shape 188"/>
          <p:cNvSpPr/>
          <p:nvPr/>
        </p:nvSpPr>
        <p:spPr>
          <a:xfrm>
            <a:off x="10159869" y="12320917"/>
            <a:ext cx="6349918" cy="2540395"/>
          </a:xfrm>
          <a:prstGeom prst="roundRect">
            <a:avLst>
              <a:gd name="adj" fmla="val 2160"/>
            </a:avLst>
          </a:prstGeom>
          <a:solidFill>
            <a:srgbClr val="F2F2F2">
              <a:alpha val="100000"/>
            </a:srgbClr>
          </a:solidFill>
          <a:ln/>
          <a:effectLst>
            <a:outerShdw blurRad="584200" dist="114300" dir="5400000" algn="bl" rotWithShape="0">
              <a:srgbClr val="000000">
                <a:alpha val="12000"/>
              </a:srgbClr>
            </a:outerShdw>
          </a:effectLst>
        </p:spPr>
        <p:txBody>
          <a:bodyPr/>
          <a:lstStyle/>
          <a:p>
            <a:endParaRPr lang="en-US"/>
          </a:p>
        </p:txBody>
      </p:sp>
      <p:sp>
        <p:nvSpPr>
          <p:cNvPr id="193" name="Shape 189"/>
          <p:cNvSpPr/>
          <p:nvPr/>
        </p:nvSpPr>
        <p:spPr>
          <a:xfrm>
            <a:off x="10159869" y="12320917"/>
            <a:ext cx="6349918" cy="2540395"/>
          </a:xfrm>
          <a:prstGeom prst="roundRect">
            <a:avLst>
              <a:gd name="adj" fmla="val 2160"/>
            </a:avLst>
          </a:prstGeom>
          <a:solidFill>
            <a:srgbClr val="F2F2F2">
              <a:alpha val="100000"/>
            </a:srgbClr>
          </a:solidFill>
          <a:ln/>
          <a:effectLst>
            <a:outerShdw blurRad="482600" dist="304800" dir="5400000" algn="bl" rotWithShape="0">
              <a:srgbClr val="000000">
                <a:alpha val="14000"/>
              </a:srgbClr>
            </a:outerShdw>
          </a:effectLst>
        </p:spPr>
        <p:txBody>
          <a:bodyPr/>
          <a:lstStyle/>
          <a:p>
            <a:endParaRPr lang="en-US"/>
          </a:p>
        </p:txBody>
      </p:sp>
      <p:sp>
        <p:nvSpPr>
          <p:cNvPr id="194" name="Shape 190"/>
          <p:cNvSpPr/>
          <p:nvPr/>
        </p:nvSpPr>
        <p:spPr>
          <a:xfrm>
            <a:off x="10159869" y="12320917"/>
            <a:ext cx="6349918" cy="2540395"/>
          </a:xfrm>
          <a:prstGeom prst="roundRect">
            <a:avLst>
              <a:gd name="adj" fmla="val 2160"/>
            </a:avLst>
          </a:prstGeom>
          <a:solidFill>
            <a:srgbClr val="F2F2F2">
              <a:alpha val="100000"/>
            </a:srgbClr>
          </a:solidFill>
          <a:ln/>
        </p:spPr>
        <p:txBody>
          <a:bodyPr/>
          <a:lstStyle/>
          <a:p>
            <a:endParaRPr lang="en-US"/>
          </a:p>
        </p:txBody>
      </p:sp>
      <p:sp>
        <p:nvSpPr>
          <p:cNvPr id="195" name="Text 191"/>
          <p:cNvSpPr/>
          <p:nvPr/>
        </p:nvSpPr>
        <p:spPr>
          <a:xfrm>
            <a:off x="10464665" y="12862134"/>
            <a:ext cx="3035261" cy="1849518"/>
          </a:xfrm>
          <a:prstGeom prst="rect">
            <a:avLst/>
          </a:prstGeom>
          <a:noFill/>
          <a:ln/>
        </p:spPr>
        <p:txBody>
          <a:bodyPr wrap="square" lIns="0" tIns="0" rIns="0" bIns="0" rtlCol="0" anchor="t"/>
          <a:lstStyle/>
          <a:p>
            <a:pPr algn="l"/>
            <a:r>
              <a:rPr lang="en-US" sz="1400" kern="0" spc="25" dirty="0">
                <a:solidFill>
                  <a:srgbClr val="000000">
                    <a:alpha val="60000"/>
                  </a:srgbClr>
                </a:solidFill>
                <a:latin typeface="Roboto Regular" pitchFamily="34" charset="0"/>
                <a:ea typeface="Roboto Regular" pitchFamily="34" charset="-122"/>
                <a:cs typeface="Roboto Regular" pitchFamily="34" charset="-120"/>
              </a:rPr>
              <a:t>Tool description, and example of how inputs populate variables or functions and how output is formatted for return to the agent requesting the tool's use</a:t>
            </a:r>
            <a:endParaRPr lang="en-US" sz="1400" dirty="0"/>
          </a:p>
        </p:txBody>
      </p:sp>
      <p:sp>
        <p:nvSpPr>
          <p:cNvPr id="196" name="Text 192"/>
          <p:cNvSpPr/>
          <p:nvPr/>
        </p:nvSpPr>
        <p:spPr>
          <a:xfrm>
            <a:off x="10464665" y="12511447"/>
            <a:ext cx="1371582"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Tool 4</a:t>
            </a:r>
            <a:endParaRPr lang="en-US" sz="1600" dirty="0"/>
          </a:p>
        </p:txBody>
      </p:sp>
      <p:sp>
        <p:nvSpPr>
          <p:cNvPr id="197" name="Text 193"/>
          <p:cNvSpPr/>
          <p:nvPr/>
        </p:nvSpPr>
        <p:spPr>
          <a:xfrm>
            <a:off x="13766622" y="12511447"/>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Inputs</a:t>
            </a:r>
            <a:endParaRPr lang="en-US" sz="1600" dirty="0"/>
          </a:p>
        </p:txBody>
      </p:sp>
      <p:sp>
        <p:nvSpPr>
          <p:cNvPr id="198" name="Text 194"/>
          <p:cNvSpPr/>
          <p:nvPr/>
        </p:nvSpPr>
        <p:spPr>
          <a:xfrm>
            <a:off x="15036605" y="12511447"/>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Outputs</a:t>
            </a:r>
            <a:endParaRPr lang="en-US" sz="1600" dirty="0"/>
          </a:p>
        </p:txBody>
      </p:sp>
      <p:sp>
        <p:nvSpPr>
          <p:cNvPr id="199" name="Shape 195"/>
          <p:cNvSpPr/>
          <p:nvPr/>
        </p:nvSpPr>
        <p:spPr>
          <a:xfrm>
            <a:off x="13715823" y="12879804"/>
            <a:ext cx="1117586" cy="406463"/>
          </a:xfrm>
          <a:prstGeom prst="roundRect">
            <a:avLst>
              <a:gd name="adj" fmla="val 49492"/>
            </a:avLst>
          </a:prstGeom>
          <a:solidFill>
            <a:srgbClr val="FFFFFF">
              <a:alpha val="100000"/>
            </a:srgbClr>
          </a:solidFill>
          <a:ln/>
        </p:spPr>
        <p:txBody>
          <a:bodyPr/>
          <a:lstStyle/>
          <a:p>
            <a:endParaRPr lang="en-US"/>
          </a:p>
        </p:txBody>
      </p:sp>
      <p:sp>
        <p:nvSpPr>
          <p:cNvPr id="200" name="Shape 196"/>
          <p:cNvSpPr/>
          <p:nvPr/>
        </p:nvSpPr>
        <p:spPr>
          <a:xfrm>
            <a:off x="13715823" y="12879804"/>
            <a:ext cx="1117586"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201" name="Shape 197"/>
          <p:cNvSpPr/>
          <p:nvPr/>
        </p:nvSpPr>
        <p:spPr>
          <a:xfrm>
            <a:off x="13715823" y="12879804"/>
            <a:ext cx="1117586" cy="406463"/>
          </a:xfrm>
          <a:prstGeom prst="roundRect">
            <a:avLst>
              <a:gd name="adj" fmla="val 49492"/>
            </a:avLst>
          </a:prstGeom>
          <a:noFill/>
          <a:ln/>
        </p:spPr>
        <p:txBody>
          <a:bodyPr/>
          <a:lstStyle/>
          <a:p>
            <a:endParaRPr lang="en-US"/>
          </a:p>
        </p:txBody>
      </p:sp>
      <p:sp>
        <p:nvSpPr>
          <p:cNvPr id="202" name="Text 198"/>
          <p:cNvSpPr/>
          <p:nvPr/>
        </p:nvSpPr>
        <p:spPr>
          <a:xfrm>
            <a:off x="13868221" y="12956016"/>
            <a:ext cx="901688"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Variable 1</a:t>
            </a:r>
            <a:endParaRPr lang="en-US" sz="1400" dirty="0"/>
          </a:p>
        </p:txBody>
      </p:sp>
      <p:sp>
        <p:nvSpPr>
          <p:cNvPr id="203" name="Shape 199"/>
          <p:cNvSpPr/>
          <p:nvPr/>
        </p:nvSpPr>
        <p:spPr>
          <a:xfrm>
            <a:off x="14985806" y="12879804"/>
            <a:ext cx="838189" cy="406463"/>
          </a:xfrm>
          <a:prstGeom prst="roundRect">
            <a:avLst>
              <a:gd name="adj" fmla="val 49492"/>
            </a:avLst>
          </a:prstGeom>
          <a:solidFill>
            <a:srgbClr val="FFFFFF">
              <a:alpha val="100000"/>
            </a:srgbClr>
          </a:solidFill>
          <a:ln/>
        </p:spPr>
        <p:txBody>
          <a:bodyPr/>
          <a:lstStyle/>
          <a:p>
            <a:endParaRPr lang="en-US"/>
          </a:p>
        </p:txBody>
      </p:sp>
      <p:sp>
        <p:nvSpPr>
          <p:cNvPr id="204" name="Shape 200"/>
          <p:cNvSpPr/>
          <p:nvPr/>
        </p:nvSpPr>
        <p:spPr>
          <a:xfrm>
            <a:off x="14985806" y="12879804"/>
            <a:ext cx="8381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205" name="Shape 201"/>
          <p:cNvSpPr/>
          <p:nvPr/>
        </p:nvSpPr>
        <p:spPr>
          <a:xfrm>
            <a:off x="14985806" y="12879804"/>
            <a:ext cx="838189" cy="406463"/>
          </a:xfrm>
          <a:prstGeom prst="roundRect">
            <a:avLst>
              <a:gd name="adj" fmla="val 49492"/>
            </a:avLst>
          </a:prstGeom>
          <a:noFill/>
          <a:ln/>
        </p:spPr>
        <p:txBody>
          <a:bodyPr/>
          <a:lstStyle/>
          <a:p>
            <a:endParaRPr lang="en-US"/>
          </a:p>
        </p:txBody>
      </p:sp>
      <p:sp>
        <p:nvSpPr>
          <p:cNvPr id="206" name="Text 202"/>
          <p:cNvSpPr/>
          <p:nvPr/>
        </p:nvSpPr>
        <p:spPr>
          <a:xfrm>
            <a:off x="15138204" y="12956016"/>
            <a:ext cx="6222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Data 1</a:t>
            </a:r>
            <a:endParaRPr lang="en-US" sz="1400" dirty="0"/>
          </a:p>
        </p:txBody>
      </p:sp>
      <p:sp>
        <p:nvSpPr>
          <p:cNvPr id="207" name="Shape 203"/>
          <p:cNvSpPr/>
          <p:nvPr/>
        </p:nvSpPr>
        <p:spPr>
          <a:xfrm>
            <a:off x="14985806" y="13476797"/>
            <a:ext cx="838189" cy="406463"/>
          </a:xfrm>
          <a:prstGeom prst="roundRect">
            <a:avLst>
              <a:gd name="adj" fmla="val 49492"/>
            </a:avLst>
          </a:prstGeom>
          <a:solidFill>
            <a:srgbClr val="FFFFFF">
              <a:alpha val="100000"/>
            </a:srgbClr>
          </a:solidFill>
          <a:ln/>
        </p:spPr>
        <p:txBody>
          <a:bodyPr/>
          <a:lstStyle/>
          <a:p>
            <a:endParaRPr lang="en-US"/>
          </a:p>
        </p:txBody>
      </p:sp>
      <p:sp>
        <p:nvSpPr>
          <p:cNvPr id="208" name="Shape 204"/>
          <p:cNvSpPr/>
          <p:nvPr/>
        </p:nvSpPr>
        <p:spPr>
          <a:xfrm>
            <a:off x="14985806" y="13476797"/>
            <a:ext cx="8381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209" name="Shape 205"/>
          <p:cNvSpPr/>
          <p:nvPr/>
        </p:nvSpPr>
        <p:spPr>
          <a:xfrm>
            <a:off x="14985806" y="13476797"/>
            <a:ext cx="838189" cy="406463"/>
          </a:xfrm>
          <a:prstGeom prst="roundRect">
            <a:avLst>
              <a:gd name="adj" fmla="val 49492"/>
            </a:avLst>
          </a:prstGeom>
          <a:noFill/>
          <a:ln/>
        </p:spPr>
        <p:txBody>
          <a:bodyPr/>
          <a:lstStyle/>
          <a:p>
            <a:endParaRPr lang="en-US"/>
          </a:p>
        </p:txBody>
      </p:sp>
      <p:sp>
        <p:nvSpPr>
          <p:cNvPr id="210" name="Text 206"/>
          <p:cNvSpPr/>
          <p:nvPr/>
        </p:nvSpPr>
        <p:spPr>
          <a:xfrm>
            <a:off x="15138204" y="13553009"/>
            <a:ext cx="6222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Data 2</a:t>
            </a:r>
            <a:endParaRPr lang="en-US" sz="1400" dirty="0"/>
          </a:p>
        </p:txBody>
      </p:sp>
      <p:sp>
        <p:nvSpPr>
          <p:cNvPr id="211" name="Shape 207"/>
          <p:cNvSpPr/>
          <p:nvPr/>
        </p:nvSpPr>
        <p:spPr>
          <a:xfrm>
            <a:off x="13715823" y="13476797"/>
            <a:ext cx="1117586" cy="406463"/>
          </a:xfrm>
          <a:prstGeom prst="roundRect">
            <a:avLst>
              <a:gd name="adj" fmla="val 49492"/>
            </a:avLst>
          </a:prstGeom>
          <a:solidFill>
            <a:srgbClr val="FFFFFF">
              <a:alpha val="100000"/>
            </a:srgbClr>
          </a:solidFill>
          <a:ln/>
        </p:spPr>
        <p:txBody>
          <a:bodyPr/>
          <a:lstStyle/>
          <a:p>
            <a:endParaRPr lang="en-US"/>
          </a:p>
        </p:txBody>
      </p:sp>
      <p:sp>
        <p:nvSpPr>
          <p:cNvPr id="212" name="Shape 208"/>
          <p:cNvSpPr/>
          <p:nvPr/>
        </p:nvSpPr>
        <p:spPr>
          <a:xfrm>
            <a:off x="13715823" y="13476797"/>
            <a:ext cx="1117586"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213" name="Shape 209"/>
          <p:cNvSpPr/>
          <p:nvPr/>
        </p:nvSpPr>
        <p:spPr>
          <a:xfrm>
            <a:off x="13715823" y="13476797"/>
            <a:ext cx="1117586" cy="406463"/>
          </a:xfrm>
          <a:prstGeom prst="roundRect">
            <a:avLst>
              <a:gd name="adj" fmla="val 49492"/>
            </a:avLst>
          </a:prstGeom>
          <a:noFill/>
          <a:ln/>
        </p:spPr>
        <p:txBody>
          <a:bodyPr/>
          <a:lstStyle/>
          <a:p>
            <a:endParaRPr lang="en-US"/>
          </a:p>
        </p:txBody>
      </p:sp>
      <p:sp>
        <p:nvSpPr>
          <p:cNvPr id="214" name="Text 210"/>
          <p:cNvSpPr/>
          <p:nvPr/>
        </p:nvSpPr>
        <p:spPr>
          <a:xfrm>
            <a:off x="13868221" y="13553009"/>
            <a:ext cx="901688"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Variable 1</a:t>
            </a:r>
            <a:endParaRPr lang="en-US" sz="1400" dirty="0"/>
          </a:p>
        </p:txBody>
      </p:sp>
      <p:sp>
        <p:nvSpPr>
          <p:cNvPr id="215" name="Shape 211"/>
          <p:cNvSpPr/>
          <p:nvPr/>
        </p:nvSpPr>
        <p:spPr>
          <a:xfrm>
            <a:off x="10159869" y="15496412"/>
            <a:ext cx="6349918" cy="2540395"/>
          </a:xfrm>
          <a:prstGeom prst="roundRect">
            <a:avLst>
              <a:gd name="adj" fmla="val 2160"/>
            </a:avLst>
          </a:prstGeom>
          <a:solidFill>
            <a:srgbClr val="F2F2F2">
              <a:alpha val="100000"/>
            </a:srgbClr>
          </a:solidFill>
          <a:ln/>
          <a:effectLst>
            <a:outerShdw blurRad="190500" dist="139700" dir="5400000" algn="bl" rotWithShape="0">
              <a:srgbClr val="000000">
                <a:alpha val="20000"/>
              </a:srgbClr>
            </a:outerShdw>
          </a:effectLst>
        </p:spPr>
        <p:txBody>
          <a:bodyPr/>
          <a:lstStyle/>
          <a:p>
            <a:endParaRPr lang="en-US"/>
          </a:p>
        </p:txBody>
      </p:sp>
      <p:sp>
        <p:nvSpPr>
          <p:cNvPr id="216" name="Shape 212"/>
          <p:cNvSpPr/>
          <p:nvPr/>
        </p:nvSpPr>
        <p:spPr>
          <a:xfrm>
            <a:off x="10159869" y="15496412"/>
            <a:ext cx="6349918" cy="2540395"/>
          </a:xfrm>
          <a:prstGeom prst="roundRect">
            <a:avLst>
              <a:gd name="adj" fmla="val 2160"/>
            </a:avLst>
          </a:prstGeom>
          <a:solidFill>
            <a:srgbClr val="F2F2F2">
              <a:alpha val="100000"/>
            </a:srgbClr>
          </a:solidFill>
          <a:ln/>
          <a:effectLst>
            <a:outerShdw blurRad="584200" dist="114300" dir="5400000" algn="bl" rotWithShape="0">
              <a:srgbClr val="000000">
                <a:alpha val="12000"/>
              </a:srgbClr>
            </a:outerShdw>
          </a:effectLst>
        </p:spPr>
        <p:txBody>
          <a:bodyPr/>
          <a:lstStyle/>
          <a:p>
            <a:endParaRPr lang="en-US"/>
          </a:p>
        </p:txBody>
      </p:sp>
      <p:sp>
        <p:nvSpPr>
          <p:cNvPr id="217" name="Shape 213"/>
          <p:cNvSpPr/>
          <p:nvPr/>
        </p:nvSpPr>
        <p:spPr>
          <a:xfrm>
            <a:off x="10159869" y="15496412"/>
            <a:ext cx="6349918" cy="2540395"/>
          </a:xfrm>
          <a:prstGeom prst="roundRect">
            <a:avLst>
              <a:gd name="adj" fmla="val 2160"/>
            </a:avLst>
          </a:prstGeom>
          <a:solidFill>
            <a:srgbClr val="F2F2F2">
              <a:alpha val="100000"/>
            </a:srgbClr>
          </a:solidFill>
          <a:ln/>
          <a:effectLst>
            <a:outerShdw blurRad="482600" dist="304800" dir="5400000" algn="bl" rotWithShape="0">
              <a:srgbClr val="000000">
                <a:alpha val="14000"/>
              </a:srgbClr>
            </a:outerShdw>
          </a:effectLst>
        </p:spPr>
        <p:txBody>
          <a:bodyPr/>
          <a:lstStyle/>
          <a:p>
            <a:endParaRPr lang="en-US"/>
          </a:p>
        </p:txBody>
      </p:sp>
      <p:sp>
        <p:nvSpPr>
          <p:cNvPr id="218" name="Shape 214"/>
          <p:cNvSpPr/>
          <p:nvPr/>
        </p:nvSpPr>
        <p:spPr>
          <a:xfrm>
            <a:off x="10159869" y="15496412"/>
            <a:ext cx="6349918" cy="2540395"/>
          </a:xfrm>
          <a:prstGeom prst="roundRect">
            <a:avLst>
              <a:gd name="adj" fmla="val 2160"/>
            </a:avLst>
          </a:prstGeom>
          <a:solidFill>
            <a:srgbClr val="F2F2F2">
              <a:alpha val="100000"/>
            </a:srgbClr>
          </a:solidFill>
          <a:ln/>
        </p:spPr>
        <p:txBody>
          <a:bodyPr/>
          <a:lstStyle/>
          <a:p>
            <a:endParaRPr lang="en-US"/>
          </a:p>
        </p:txBody>
      </p:sp>
      <p:sp>
        <p:nvSpPr>
          <p:cNvPr id="219" name="Text 215"/>
          <p:cNvSpPr/>
          <p:nvPr/>
        </p:nvSpPr>
        <p:spPr>
          <a:xfrm>
            <a:off x="10464665" y="16037629"/>
            <a:ext cx="3035261" cy="1849518"/>
          </a:xfrm>
          <a:prstGeom prst="rect">
            <a:avLst/>
          </a:prstGeom>
          <a:noFill/>
          <a:ln/>
        </p:spPr>
        <p:txBody>
          <a:bodyPr wrap="square" lIns="0" tIns="0" rIns="0" bIns="0" rtlCol="0" anchor="t"/>
          <a:lstStyle/>
          <a:p>
            <a:pPr algn="l"/>
            <a:r>
              <a:rPr lang="en-US" sz="1400" kern="0" spc="25" dirty="0">
                <a:solidFill>
                  <a:srgbClr val="000000">
                    <a:alpha val="60000"/>
                  </a:srgbClr>
                </a:solidFill>
                <a:latin typeface="Roboto Regular" pitchFamily="34" charset="0"/>
                <a:ea typeface="Roboto Regular" pitchFamily="34" charset="-122"/>
                <a:cs typeface="Roboto Regular" pitchFamily="34" charset="-120"/>
              </a:rPr>
              <a:t>Tool description, and example of how inputs populate variables or functions and how output is formatted for return to the agent requesting the tool's use</a:t>
            </a:r>
            <a:endParaRPr lang="en-US" sz="1400" dirty="0"/>
          </a:p>
        </p:txBody>
      </p:sp>
      <p:sp>
        <p:nvSpPr>
          <p:cNvPr id="220" name="Text 216"/>
          <p:cNvSpPr/>
          <p:nvPr/>
        </p:nvSpPr>
        <p:spPr>
          <a:xfrm>
            <a:off x="10464665" y="15686941"/>
            <a:ext cx="1371582"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Tool 5</a:t>
            </a:r>
            <a:endParaRPr lang="en-US" sz="1600" dirty="0"/>
          </a:p>
        </p:txBody>
      </p:sp>
      <p:sp>
        <p:nvSpPr>
          <p:cNvPr id="221" name="Text 217"/>
          <p:cNvSpPr/>
          <p:nvPr/>
        </p:nvSpPr>
        <p:spPr>
          <a:xfrm>
            <a:off x="13766622" y="15686941"/>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Inputs</a:t>
            </a:r>
            <a:endParaRPr lang="en-US" sz="1600" dirty="0"/>
          </a:p>
        </p:txBody>
      </p:sp>
      <p:sp>
        <p:nvSpPr>
          <p:cNvPr id="222" name="Text 218"/>
          <p:cNvSpPr/>
          <p:nvPr/>
        </p:nvSpPr>
        <p:spPr>
          <a:xfrm>
            <a:off x="15036605" y="15686941"/>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Outputs</a:t>
            </a:r>
            <a:endParaRPr lang="en-US" sz="1600" dirty="0"/>
          </a:p>
        </p:txBody>
      </p:sp>
      <p:sp>
        <p:nvSpPr>
          <p:cNvPr id="223" name="Shape 219"/>
          <p:cNvSpPr/>
          <p:nvPr/>
        </p:nvSpPr>
        <p:spPr>
          <a:xfrm>
            <a:off x="13715823" y="16055298"/>
            <a:ext cx="1117586" cy="406463"/>
          </a:xfrm>
          <a:prstGeom prst="roundRect">
            <a:avLst>
              <a:gd name="adj" fmla="val 49492"/>
            </a:avLst>
          </a:prstGeom>
          <a:solidFill>
            <a:srgbClr val="FFFFFF">
              <a:alpha val="100000"/>
            </a:srgbClr>
          </a:solidFill>
          <a:ln/>
        </p:spPr>
        <p:txBody>
          <a:bodyPr/>
          <a:lstStyle/>
          <a:p>
            <a:endParaRPr lang="en-US"/>
          </a:p>
        </p:txBody>
      </p:sp>
      <p:sp>
        <p:nvSpPr>
          <p:cNvPr id="224" name="Shape 220"/>
          <p:cNvSpPr/>
          <p:nvPr/>
        </p:nvSpPr>
        <p:spPr>
          <a:xfrm>
            <a:off x="13715823" y="16055298"/>
            <a:ext cx="1117586"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225" name="Shape 221"/>
          <p:cNvSpPr/>
          <p:nvPr/>
        </p:nvSpPr>
        <p:spPr>
          <a:xfrm>
            <a:off x="13715823" y="16055298"/>
            <a:ext cx="1117586" cy="406463"/>
          </a:xfrm>
          <a:prstGeom prst="roundRect">
            <a:avLst>
              <a:gd name="adj" fmla="val 49492"/>
            </a:avLst>
          </a:prstGeom>
          <a:noFill/>
          <a:ln/>
        </p:spPr>
        <p:txBody>
          <a:bodyPr/>
          <a:lstStyle/>
          <a:p>
            <a:endParaRPr lang="en-US"/>
          </a:p>
        </p:txBody>
      </p:sp>
      <p:sp>
        <p:nvSpPr>
          <p:cNvPr id="226" name="Text 222"/>
          <p:cNvSpPr/>
          <p:nvPr/>
        </p:nvSpPr>
        <p:spPr>
          <a:xfrm>
            <a:off x="13868221" y="16131510"/>
            <a:ext cx="901688"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Variable 1</a:t>
            </a:r>
            <a:endParaRPr lang="en-US" sz="1400" dirty="0"/>
          </a:p>
        </p:txBody>
      </p:sp>
      <p:sp>
        <p:nvSpPr>
          <p:cNvPr id="227" name="Shape 223"/>
          <p:cNvSpPr/>
          <p:nvPr/>
        </p:nvSpPr>
        <p:spPr>
          <a:xfrm>
            <a:off x="14985806" y="16055298"/>
            <a:ext cx="838189" cy="406463"/>
          </a:xfrm>
          <a:prstGeom prst="roundRect">
            <a:avLst>
              <a:gd name="adj" fmla="val 49492"/>
            </a:avLst>
          </a:prstGeom>
          <a:solidFill>
            <a:srgbClr val="FFFFFF">
              <a:alpha val="100000"/>
            </a:srgbClr>
          </a:solidFill>
          <a:ln/>
        </p:spPr>
        <p:txBody>
          <a:bodyPr/>
          <a:lstStyle/>
          <a:p>
            <a:endParaRPr lang="en-US"/>
          </a:p>
        </p:txBody>
      </p:sp>
      <p:sp>
        <p:nvSpPr>
          <p:cNvPr id="228" name="Shape 224"/>
          <p:cNvSpPr/>
          <p:nvPr/>
        </p:nvSpPr>
        <p:spPr>
          <a:xfrm>
            <a:off x="14985806" y="16055298"/>
            <a:ext cx="8381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229" name="Shape 225"/>
          <p:cNvSpPr/>
          <p:nvPr/>
        </p:nvSpPr>
        <p:spPr>
          <a:xfrm>
            <a:off x="14985806" y="16055298"/>
            <a:ext cx="838189" cy="406463"/>
          </a:xfrm>
          <a:prstGeom prst="roundRect">
            <a:avLst>
              <a:gd name="adj" fmla="val 49492"/>
            </a:avLst>
          </a:prstGeom>
          <a:noFill/>
          <a:ln/>
        </p:spPr>
        <p:txBody>
          <a:bodyPr/>
          <a:lstStyle/>
          <a:p>
            <a:endParaRPr lang="en-US"/>
          </a:p>
        </p:txBody>
      </p:sp>
      <p:sp>
        <p:nvSpPr>
          <p:cNvPr id="230" name="Text 226"/>
          <p:cNvSpPr/>
          <p:nvPr/>
        </p:nvSpPr>
        <p:spPr>
          <a:xfrm>
            <a:off x="15138204" y="16131510"/>
            <a:ext cx="6222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Data 1</a:t>
            </a:r>
            <a:endParaRPr lang="en-US" sz="1400" dirty="0"/>
          </a:p>
        </p:txBody>
      </p:sp>
      <p:sp>
        <p:nvSpPr>
          <p:cNvPr id="231" name="Shape 227"/>
          <p:cNvSpPr/>
          <p:nvPr/>
        </p:nvSpPr>
        <p:spPr>
          <a:xfrm>
            <a:off x="14985806" y="16652291"/>
            <a:ext cx="838189" cy="406463"/>
          </a:xfrm>
          <a:prstGeom prst="roundRect">
            <a:avLst>
              <a:gd name="adj" fmla="val 49492"/>
            </a:avLst>
          </a:prstGeom>
          <a:solidFill>
            <a:srgbClr val="FFFFFF">
              <a:alpha val="100000"/>
            </a:srgbClr>
          </a:solidFill>
          <a:ln/>
        </p:spPr>
        <p:txBody>
          <a:bodyPr/>
          <a:lstStyle/>
          <a:p>
            <a:endParaRPr lang="en-US"/>
          </a:p>
        </p:txBody>
      </p:sp>
      <p:sp>
        <p:nvSpPr>
          <p:cNvPr id="232" name="Shape 228"/>
          <p:cNvSpPr/>
          <p:nvPr/>
        </p:nvSpPr>
        <p:spPr>
          <a:xfrm>
            <a:off x="14985806" y="16652291"/>
            <a:ext cx="8381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233" name="Shape 229"/>
          <p:cNvSpPr/>
          <p:nvPr/>
        </p:nvSpPr>
        <p:spPr>
          <a:xfrm>
            <a:off x="14985806" y="16652291"/>
            <a:ext cx="838189" cy="406463"/>
          </a:xfrm>
          <a:prstGeom prst="roundRect">
            <a:avLst>
              <a:gd name="adj" fmla="val 49492"/>
            </a:avLst>
          </a:prstGeom>
          <a:noFill/>
          <a:ln/>
        </p:spPr>
        <p:txBody>
          <a:bodyPr/>
          <a:lstStyle/>
          <a:p>
            <a:endParaRPr lang="en-US"/>
          </a:p>
        </p:txBody>
      </p:sp>
      <p:sp>
        <p:nvSpPr>
          <p:cNvPr id="234" name="Text 230"/>
          <p:cNvSpPr/>
          <p:nvPr/>
        </p:nvSpPr>
        <p:spPr>
          <a:xfrm>
            <a:off x="15138204" y="16728503"/>
            <a:ext cx="6222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Data 2</a:t>
            </a:r>
            <a:endParaRPr lang="en-US" sz="1400" dirty="0"/>
          </a:p>
        </p:txBody>
      </p:sp>
      <p:sp>
        <p:nvSpPr>
          <p:cNvPr id="235" name="Shape 231"/>
          <p:cNvSpPr/>
          <p:nvPr/>
        </p:nvSpPr>
        <p:spPr>
          <a:xfrm>
            <a:off x="10159869" y="18798925"/>
            <a:ext cx="6349918" cy="2540395"/>
          </a:xfrm>
          <a:prstGeom prst="roundRect">
            <a:avLst>
              <a:gd name="adj" fmla="val 2160"/>
            </a:avLst>
          </a:prstGeom>
          <a:solidFill>
            <a:srgbClr val="F2F2F2">
              <a:alpha val="100000"/>
            </a:srgbClr>
          </a:solidFill>
          <a:ln/>
          <a:effectLst>
            <a:outerShdw blurRad="190500" dist="139700" dir="5400000" algn="bl" rotWithShape="0">
              <a:srgbClr val="000000">
                <a:alpha val="20000"/>
              </a:srgbClr>
            </a:outerShdw>
          </a:effectLst>
        </p:spPr>
        <p:txBody>
          <a:bodyPr/>
          <a:lstStyle/>
          <a:p>
            <a:endParaRPr lang="en-US"/>
          </a:p>
        </p:txBody>
      </p:sp>
      <p:sp>
        <p:nvSpPr>
          <p:cNvPr id="236" name="Shape 232"/>
          <p:cNvSpPr/>
          <p:nvPr/>
        </p:nvSpPr>
        <p:spPr>
          <a:xfrm>
            <a:off x="10159869" y="18798925"/>
            <a:ext cx="6349918" cy="2540395"/>
          </a:xfrm>
          <a:prstGeom prst="roundRect">
            <a:avLst>
              <a:gd name="adj" fmla="val 2160"/>
            </a:avLst>
          </a:prstGeom>
          <a:solidFill>
            <a:srgbClr val="F2F2F2">
              <a:alpha val="100000"/>
            </a:srgbClr>
          </a:solidFill>
          <a:ln/>
          <a:effectLst>
            <a:outerShdw blurRad="584200" dist="114300" dir="5400000" algn="bl" rotWithShape="0">
              <a:srgbClr val="000000">
                <a:alpha val="12000"/>
              </a:srgbClr>
            </a:outerShdw>
          </a:effectLst>
        </p:spPr>
        <p:txBody>
          <a:bodyPr/>
          <a:lstStyle/>
          <a:p>
            <a:endParaRPr lang="en-US"/>
          </a:p>
        </p:txBody>
      </p:sp>
      <p:sp>
        <p:nvSpPr>
          <p:cNvPr id="237" name="Shape 233"/>
          <p:cNvSpPr/>
          <p:nvPr/>
        </p:nvSpPr>
        <p:spPr>
          <a:xfrm>
            <a:off x="10159869" y="18798925"/>
            <a:ext cx="6349918" cy="2540395"/>
          </a:xfrm>
          <a:prstGeom prst="roundRect">
            <a:avLst>
              <a:gd name="adj" fmla="val 2160"/>
            </a:avLst>
          </a:prstGeom>
          <a:solidFill>
            <a:srgbClr val="F2F2F2">
              <a:alpha val="100000"/>
            </a:srgbClr>
          </a:solidFill>
          <a:ln/>
          <a:effectLst>
            <a:outerShdw blurRad="482600" dist="304800" dir="5400000" algn="bl" rotWithShape="0">
              <a:srgbClr val="000000">
                <a:alpha val="14000"/>
              </a:srgbClr>
            </a:outerShdw>
          </a:effectLst>
        </p:spPr>
        <p:txBody>
          <a:bodyPr/>
          <a:lstStyle/>
          <a:p>
            <a:endParaRPr lang="en-US"/>
          </a:p>
        </p:txBody>
      </p:sp>
      <p:sp>
        <p:nvSpPr>
          <p:cNvPr id="238" name="Shape 234"/>
          <p:cNvSpPr/>
          <p:nvPr/>
        </p:nvSpPr>
        <p:spPr>
          <a:xfrm>
            <a:off x="10159869" y="18798925"/>
            <a:ext cx="6349918" cy="2540395"/>
          </a:xfrm>
          <a:prstGeom prst="roundRect">
            <a:avLst>
              <a:gd name="adj" fmla="val 2160"/>
            </a:avLst>
          </a:prstGeom>
          <a:solidFill>
            <a:srgbClr val="F2F2F2">
              <a:alpha val="100000"/>
            </a:srgbClr>
          </a:solidFill>
          <a:ln/>
        </p:spPr>
        <p:txBody>
          <a:bodyPr/>
          <a:lstStyle/>
          <a:p>
            <a:endParaRPr lang="en-US"/>
          </a:p>
        </p:txBody>
      </p:sp>
      <p:sp>
        <p:nvSpPr>
          <p:cNvPr id="239" name="Text 235"/>
          <p:cNvSpPr/>
          <p:nvPr/>
        </p:nvSpPr>
        <p:spPr>
          <a:xfrm>
            <a:off x="10464665" y="19340143"/>
            <a:ext cx="3035261" cy="1849518"/>
          </a:xfrm>
          <a:prstGeom prst="rect">
            <a:avLst/>
          </a:prstGeom>
          <a:noFill/>
          <a:ln/>
        </p:spPr>
        <p:txBody>
          <a:bodyPr wrap="square" lIns="0" tIns="0" rIns="0" bIns="0" rtlCol="0" anchor="t"/>
          <a:lstStyle/>
          <a:p>
            <a:pPr algn="l"/>
            <a:r>
              <a:rPr lang="en-US" sz="1400" kern="0" spc="25" dirty="0">
                <a:solidFill>
                  <a:srgbClr val="000000">
                    <a:alpha val="60000"/>
                  </a:srgbClr>
                </a:solidFill>
                <a:latin typeface="Roboto Regular" pitchFamily="34" charset="0"/>
                <a:ea typeface="Roboto Regular" pitchFamily="34" charset="-122"/>
                <a:cs typeface="Roboto Regular" pitchFamily="34" charset="-120"/>
              </a:rPr>
              <a:t>Tool description, and example of how inputs populate variables or functions and how output is formatted for return to the agent requesting the tool's use</a:t>
            </a:r>
            <a:endParaRPr lang="en-US" sz="1400" dirty="0"/>
          </a:p>
        </p:txBody>
      </p:sp>
      <p:sp>
        <p:nvSpPr>
          <p:cNvPr id="240" name="Text 236"/>
          <p:cNvSpPr/>
          <p:nvPr/>
        </p:nvSpPr>
        <p:spPr>
          <a:xfrm>
            <a:off x="10464665" y="18989455"/>
            <a:ext cx="1371582"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Tool 6</a:t>
            </a:r>
            <a:endParaRPr lang="en-US" sz="1600" dirty="0"/>
          </a:p>
        </p:txBody>
      </p:sp>
      <p:sp>
        <p:nvSpPr>
          <p:cNvPr id="241" name="Text 237"/>
          <p:cNvSpPr/>
          <p:nvPr/>
        </p:nvSpPr>
        <p:spPr>
          <a:xfrm>
            <a:off x="13766622" y="18989455"/>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Inputs</a:t>
            </a:r>
            <a:endParaRPr lang="en-US" sz="1600" dirty="0"/>
          </a:p>
        </p:txBody>
      </p:sp>
      <p:sp>
        <p:nvSpPr>
          <p:cNvPr id="242" name="Text 238"/>
          <p:cNvSpPr/>
          <p:nvPr/>
        </p:nvSpPr>
        <p:spPr>
          <a:xfrm>
            <a:off x="15036605" y="18989455"/>
            <a:ext cx="863589" cy="342953"/>
          </a:xfrm>
          <a:prstGeom prst="rect">
            <a:avLst/>
          </a:prstGeom>
          <a:noFill/>
          <a:ln/>
        </p:spPr>
        <p:txBody>
          <a:bodyPr wrap="square" lIns="0" tIns="0" rIns="0" bIns="0" rtlCol="0" anchor="t"/>
          <a:lstStyle/>
          <a:p>
            <a:pPr algn="l"/>
            <a:r>
              <a:rPr lang="en-US" sz="1600" kern="0" spc="14" dirty="0">
                <a:solidFill>
                  <a:srgbClr val="000000">
                    <a:alpha val="87000"/>
                  </a:srgbClr>
                </a:solidFill>
                <a:latin typeface="Roboto Regular" pitchFamily="34" charset="0"/>
                <a:ea typeface="Roboto Regular" pitchFamily="34" charset="-122"/>
                <a:cs typeface="Roboto Regular" pitchFamily="34" charset="-120"/>
              </a:rPr>
              <a:t>Outputs</a:t>
            </a:r>
            <a:endParaRPr lang="en-US" sz="1600" dirty="0"/>
          </a:p>
        </p:txBody>
      </p:sp>
      <p:sp>
        <p:nvSpPr>
          <p:cNvPr id="243" name="Shape 239"/>
          <p:cNvSpPr/>
          <p:nvPr/>
        </p:nvSpPr>
        <p:spPr>
          <a:xfrm>
            <a:off x="13715823" y="19357812"/>
            <a:ext cx="1117586" cy="406463"/>
          </a:xfrm>
          <a:prstGeom prst="roundRect">
            <a:avLst>
              <a:gd name="adj" fmla="val 49492"/>
            </a:avLst>
          </a:prstGeom>
          <a:solidFill>
            <a:srgbClr val="FFFFFF">
              <a:alpha val="100000"/>
            </a:srgbClr>
          </a:solidFill>
          <a:ln/>
        </p:spPr>
        <p:txBody>
          <a:bodyPr/>
          <a:lstStyle/>
          <a:p>
            <a:endParaRPr lang="en-US"/>
          </a:p>
        </p:txBody>
      </p:sp>
      <p:sp>
        <p:nvSpPr>
          <p:cNvPr id="244" name="Shape 240"/>
          <p:cNvSpPr/>
          <p:nvPr/>
        </p:nvSpPr>
        <p:spPr>
          <a:xfrm>
            <a:off x="13715823" y="19357812"/>
            <a:ext cx="1117586"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245" name="Shape 241"/>
          <p:cNvSpPr/>
          <p:nvPr/>
        </p:nvSpPr>
        <p:spPr>
          <a:xfrm>
            <a:off x="13715823" y="19357812"/>
            <a:ext cx="1117586" cy="406463"/>
          </a:xfrm>
          <a:prstGeom prst="roundRect">
            <a:avLst>
              <a:gd name="adj" fmla="val 49492"/>
            </a:avLst>
          </a:prstGeom>
          <a:noFill/>
          <a:ln/>
        </p:spPr>
        <p:txBody>
          <a:bodyPr/>
          <a:lstStyle/>
          <a:p>
            <a:endParaRPr lang="en-US"/>
          </a:p>
        </p:txBody>
      </p:sp>
      <p:sp>
        <p:nvSpPr>
          <p:cNvPr id="246" name="Text 242"/>
          <p:cNvSpPr/>
          <p:nvPr/>
        </p:nvSpPr>
        <p:spPr>
          <a:xfrm>
            <a:off x="13868221" y="19434024"/>
            <a:ext cx="901688"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Variable 1</a:t>
            </a:r>
            <a:endParaRPr lang="en-US" sz="1400" dirty="0"/>
          </a:p>
        </p:txBody>
      </p:sp>
      <p:sp>
        <p:nvSpPr>
          <p:cNvPr id="247" name="Shape 243"/>
          <p:cNvSpPr/>
          <p:nvPr/>
        </p:nvSpPr>
        <p:spPr>
          <a:xfrm>
            <a:off x="14985806" y="19357812"/>
            <a:ext cx="838189" cy="406463"/>
          </a:xfrm>
          <a:prstGeom prst="roundRect">
            <a:avLst>
              <a:gd name="adj" fmla="val 49492"/>
            </a:avLst>
          </a:prstGeom>
          <a:solidFill>
            <a:srgbClr val="FFFFFF">
              <a:alpha val="100000"/>
            </a:srgbClr>
          </a:solidFill>
          <a:ln/>
        </p:spPr>
        <p:txBody>
          <a:bodyPr/>
          <a:lstStyle/>
          <a:p>
            <a:endParaRPr lang="en-US"/>
          </a:p>
        </p:txBody>
      </p:sp>
      <p:sp>
        <p:nvSpPr>
          <p:cNvPr id="248" name="Shape 244"/>
          <p:cNvSpPr/>
          <p:nvPr/>
        </p:nvSpPr>
        <p:spPr>
          <a:xfrm>
            <a:off x="14985806" y="19357812"/>
            <a:ext cx="8381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249" name="Shape 245"/>
          <p:cNvSpPr/>
          <p:nvPr/>
        </p:nvSpPr>
        <p:spPr>
          <a:xfrm>
            <a:off x="14985806" y="19357812"/>
            <a:ext cx="838189" cy="406463"/>
          </a:xfrm>
          <a:prstGeom prst="roundRect">
            <a:avLst>
              <a:gd name="adj" fmla="val 49492"/>
            </a:avLst>
          </a:prstGeom>
          <a:noFill/>
          <a:ln/>
        </p:spPr>
        <p:txBody>
          <a:bodyPr/>
          <a:lstStyle/>
          <a:p>
            <a:endParaRPr lang="en-US"/>
          </a:p>
        </p:txBody>
      </p:sp>
      <p:sp>
        <p:nvSpPr>
          <p:cNvPr id="250" name="Text 246"/>
          <p:cNvSpPr/>
          <p:nvPr/>
        </p:nvSpPr>
        <p:spPr>
          <a:xfrm>
            <a:off x="15138204" y="19434024"/>
            <a:ext cx="6222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Data 1</a:t>
            </a:r>
            <a:endParaRPr lang="en-US" sz="1400" dirty="0"/>
          </a:p>
        </p:txBody>
      </p:sp>
      <p:sp>
        <p:nvSpPr>
          <p:cNvPr id="251" name="Shape 247"/>
          <p:cNvSpPr/>
          <p:nvPr/>
        </p:nvSpPr>
        <p:spPr>
          <a:xfrm>
            <a:off x="14985806" y="19954805"/>
            <a:ext cx="838189" cy="406463"/>
          </a:xfrm>
          <a:prstGeom prst="roundRect">
            <a:avLst>
              <a:gd name="adj" fmla="val 49492"/>
            </a:avLst>
          </a:prstGeom>
          <a:solidFill>
            <a:srgbClr val="FFFFFF">
              <a:alpha val="100000"/>
            </a:srgbClr>
          </a:solidFill>
          <a:ln/>
        </p:spPr>
        <p:txBody>
          <a:bodyPr/>
          <a:lstStyle/>
          <a:p>
            <a:endParaRPr lang="en-US"/>
          </a:p>
        </p:txBody>
      </p:sp>
      <p:sp>
        <p:nvSpPr>
          <p:cNvPr id="252" name="Shape 248"/>
          <p:cNvSpPr/>
          <p:nvPr/>
        </p:nvSpPr>
        <p:spPr>
          <a:xfrm>
            <a:off x="14985806" y="19954805"/>
            <a:ext cx="838189" cy="406463"/>
          </a:xfrm>
          <a:prstGeom prst="roundRect">
            <a:avLst>
              <a:gd name="adj" fmla="val 49492"/>
            </a:avLst>
          </a:prstGeom>
          <a:solidFill>
            <a:srgbClr val="000000">
              <a:alpha val="0"/>
            </a:srgbClr>
          </a:solidFill>
          <a:ln w="12700">
            <a:solidFill>
              <a:srgbClr val="000000">
                <a:alpha val="12000"/>
              </a:srgbClr>
            </a:solidFill>
            <a:prstDash val="solid"/>
          </a:ln>
        </p:spPr>
        <p:txBody>
          <a:bodyPr/>
          <a:lstStyle/>
          <a:p>
            <a:endParaRPr lang="en-US"/>
          </a:p>
        </p:txBody>
      </p:sp>
      <p:sp>
        <p:nvSpPr>
          <p:cNvPr id="253" name="Shape 249"/>
          <p:cNvSpPr/>
          <p:nvPr/>
        </p:nvSpPr>
        <p:spPr>
          <a:xfrm>
            <a:off x="14985806" y="19954805"/>
            <a:ext cx="838189" cy="406463"/>
          </a:xfrm>
          <a:prstGeom prst="roundRect">
            <a:avLst>
              <a:gd name="adj" fmla="val 49492"/>
            </a:avLst>
          </a:prstGeom>
          <a:noFill/>
          <a:ln/>
        </p:spPr>
        <p:txBody>
          <a:bodyPr/>
          <a:lstStyle/>
          <a:p>
            <a:endParaRPr lang="en-US"/>
          </a:p>
        </p:txBody>
      </p:sp>
      <p:sp>
        <p:nvSpPr>
          <p:cNvPr id="254" name="Text 250"/>
          <p:cNvSpPr/>
          <p:nvPr/>
        </p:nvSpPr>
        <p:spPr>
          <a:xfrm>
            <a:off x="15138204" y="20031017"/>
            <a:ext cx="622292" cy="330251"/>
          </a:xfrm>
          <a:prstGeom prst="rect">
            <a:avLst/>
          </a:prstGeom>
          <a:noFill/>
          <a:ln/>
        </p:spPr>
        <p:txBody>
          <a:bodyPr wrap="square" lIns="0" tIns="0" rIns="0" bIns="0" rtlCol="0" anchor="t"/>
          <a:lstStyle/>
          <a:p>
            <a:pPr algn="l"/>
            <a:r>
              <a:rPr lang="en-US" sz="1400" kern="0" spc="25" dirty="0">
                <a:solidFill>
                  <a:srgbClr val="000000">
                    <a:alpha val="87000"/>
                  </a:srgbClr>
                </a:solidFill>
                <a:latin typeface="Roboto Regular" pitchFamily="34" charset="0"/>
                <a:ea typeface="Roboto Regular" pitchFamily="34" charset="-122"/>
                <a:cs typeface="Roboto Regular" pitchFamily="34" charset="-120"/>
              </a:rPr>
              <a:t>Data 2</a:t>
            </a:r>
            <a:endParaRPr lang="en-US" sz="1400" dirty="0"/>
          </a:p>
        </p:txBody>
      </p:sp>
      <p:sp>
        <p:nvSpPr>
          <p:cNvPr id="255" name="Shape 251"/>
          <p:cNvSpPr/>
          <p:nvPr/>
        </p:nvSpPr>
        <p:spPr>
          <a:xfrm>
            <a:off x="15773196" y="4407586"/>
            <a:ext cx="609592" cy="609695"/>
          </a:xfrm>
          <a:prstGeom prst="rect">
            <a:avLst/>
          </a:prstGeom>
          <a:solidFill>
            <a:srgbClr val="000000">
              <a:alpha val="0"/>
            </a:srgbClr>
          </a:solidFill>
          <a:ln/>
        </p:spPr>
        <p:txBody>
          <a:bodyPr/>
          <a:lstStyle/>
          <a:p>
            <a:endParaRPr lang="en-US"/>
          </a:p>
        </p:txBody>
      </p:sp>
      <p:sp>
        <p:nvSpPr>
          <p:cNvPr id="256" name="Shape 252"/>
          <p:cNvSpPr/>
          <p:nvPr/>
        </p:nvSpPr>
        <p:spPr>
          <a:xfrm>
            <a:off x="15874795" y="4560010"/>
            <a:ext cx="50799" cy="50808"/>
          </a:xfrm>
          <a:prstGeom prst="ellipse">
            <a:avLst/>
          </a:prstGeom>
          <a:solidFill>
            <a:srgbClr val="000000">
              <a:alpha val="100000"/>
            </a:srgbClr>
          </a:solidFill>
          <a:ln/>
        </p:spPr>
        <p:txBody>
          <a:bodyPr/>
          <a:lstStyle/>
          <a:p>
            <a:endParaRPr lang="en-US"/>
          </a:p>
        </p:txBody>
      </p:sp>
      <p:sp>
        <p:nvSpPr>
          <p:cNvPr id="257" name="Shape 253"/>
          <p:cNvSpPr/>
          <p:nvPr/>
        </p:nvSpPr>
        <p:spPr>
          <a:xfrm>
            <a:off x="15950994" y="4560010"/>
            <a:ext cx="50799" cy="50808"/>
          </a:xfrm>
          <a:prstGeom prst="ellipse">
            <a:avLst/>
          </a:prstGeom>
          <a:solidFill>
            <a:srgbClr val="000000">
              <a:alpha val="100000"/>
            </a:srgbClr>
          </a:solidFill>
          <a:ln/>
        </p:spPr>
        <p:txBody>
          <a:bodyPr/>
          <a:lstStyle/>
          <a:p>
            <a:endParaRPr lang="en-US"/>
          </a:p>
        </p:txBody>
      </p:sp>
      <p:sp>
        <p:nvSpPr>
          <p:cNvPr id="258" name="Shape 254"/>
          <p:cNvSpPr/>
          <p:nvPr/>
        </p:nvSpPr>
        <p:spPr>
          <a:xfrm>
            <a:off x="16027193" y="4560010"/>
            <a:ext cx="50799" cy="50808"/>
          </a:xfrm>
          <a:prstGeom prst="ellipse">
            <a:avLst/>
          </a:prstGeom>
          <a:solidFill>
            <a:srgbClr val="000000">
              <a:alpha val="100000"/>
            </a:srgbClr>
          </a:solidFill>
          <a:ln/>
        </p:spPr>
        <p:txBody>
          <a:bodyPr/>
          <a:lstStyle/>
          <a:p>
            <a:endParaRPr lang="en-US"/>
          </a:p>
        </p:txBody>
      </p:sp>
      <p:pic>
        <p:nvPicPr>
          <p:cNvPr id="259" name="Image 2" descr="preencoded.png"/>
          <p:cNvPicPr>
            <a:picLocks noChangeAspect="1"/>
          </p:cNvPicPr>
          <p:nvPr/>
        </p:nvPicPr>
        <p:blipFill>
          <a:blip r:embed="rId5"/>
          <a:stretch>
            <a:fillRect/>
          </a:stretch>
        </p:blipFill>
        <p:spPr>
          <a:xfrm>
            <a:off x="15913181" y="4650958"/>
            <a:ext cx="139121" cy="201197"/>
          </a:xfrm>
          <a:prstGeom prst="rect">
            <a:avLst/>
          </a:prstGeom>
        </p:spPr>
      </p:pic>
      <p:pic>
        <p:nvPicPr>
          <p:cNvPr id="260" name="Image 3" descr="preencoded.png"/>
          <p:cNvPicPr>
            <a:picLocks noChangeAspect="1"/>
          </p:cNvPicPr>
          <p:nvPr/>
        </p:nvPicPr>
        <p:blipFill>
          <a:blip r:embed="rId6"/>
          <a:stretch>
            <a:fillRect/>
          </a:stretch>
        </p:blipFill>
        <p:spPr>
          <a:xfrm>
            <a:off x="16077992" y="4775943"/>
            <a:ext cx="177798" cy="50808"/>
          </a:xfrm>
          <a:prstGeom prst="rect">
            <a:avLst/>
          </a:prstGeom>
        </p:spPr>
      </p:pic>
      <p:pic>
        <p:nvPicPr>
          <p:cNvPr id="261" name="Image 4" descr="preencoded.png"/>
          <p:cNvPicPr>
            <a:picLocks noChangeAspect="1"/>
          </p:cNvPicPr>
          <p:nvPr/>
        </p:nvPicPr>
        <p:blipFill>
          <a:blip r:embed="rId7"/>
          <a:stretch>
            <a:fillRect/>
          </a:stretch>
        </p:blipFill>
        <p:spPr>
          <a:xfrm>
            <a:off x="15798596" y="4483798"/>
            <a:ext cx="558793" cy="457277"/>
          </a:xfrm>
          <a:prstGeom prst="rect">
            <a:avLst/>
          </a:prstGeom>
        </p:spPr>
      </p:pic>
      <p:sp>
        <p:nvSpPr>
          <p:cNvPr id="262" name="Shape 255"/>
          <p:cNvSpPr/>
          <p:nvPr/>
        </p:nvSpPr>
        <p:spPr>
          <a:xfrm>
            <a:off x="15773196" y="7710100"/>
            <a:ext cx="609592" cy="609695"/>
          </a:xfrm>
          <a:prstGeom prst="rect">
            <a:avLst/>
          </a:prstGeom>
          <a:noFill/>
          <a:ln/>
        </p:spPr>
        <p:txBody>
          <a:bodyPr/>
          <a:lstStyle/>
          <a:p>
            <a:endParaRPr lang="en-US"/>
          </a:p>
        </p:txBody>
      </p:sp>
      <p:pic>
        <p:nvPicPr>
          <p:cNvPr id="263" name="Image 5" descr="preencoded.png"/>
          <p:cNvPicPr>
            <a:picLocks noChangeAspect="1"/>
          </p:cNvPicPr>
          <p:nvPr/>
        </p:nvPicPr>
        <p:blipFill>
          <a:blip r:embed="rId8"/>
          <a:stretch>
            <a:fillRect/>
          </a:stretch>
        </p:blipFill>
        <p:spPr>
          <a:xfrm>
            <a:off x="15798596" y="7735504"/>
            <a:ext cx="558796" cy="558887"/>
          </a:xfrm>
          <a:prstGeom prst="rect">
            <a:avLst/>
          </a:prstGeom>
        </p:spPr>
      </p:pic>
      <p:sp>
        <p:nvSpPr>
          <p:cNvPr id="264" name="Shape 256"/>
          <p:cNvSpPr/>
          <p:nvPr/>
        </p:nvSpPr>
        <p:spPr>
          <a:xfrm>
            <a:off x="15773196" y="10885594"/>
            <a:ext cx="609592" cy="609695"/>
          </a:xfrm>
          <a:prstGeom prst="rect">
            <a:avLst/>
          </a:prstGeom>
          <a:noFill/>
          <a:ln/>
        </p:spPr>
        <p:txBody>
          <a:bodyPr/>
          <a:lstStyle/>
          <a:p>
            <a:endParaRPr lang="en-US"/>
          </a:p>
        </p:txBody>
      </p:sp>
      <p:pic>
        <p:nvPicPr>
          <p:cNvPr id="265" name="Image 6" descr="preencoded.png"/>
          <p:cNvPicPr>
            <a:picLocks noChangeAspect="1"/>
          </p:cNvPicPr>
          <p:nvPr/>
        </p:nvPicPr>
        <p:blipFill>
          <a:blip r:embed="rId9"/>
          <a:stretch>
            <a:fillRect/>
          </a:stretch>
        </p:blipFill>
        <p:spPr>
          <a:xfrm>
            <a:off x="15823995" y="10936402"/>
            <a:ext cx="507993" cy="508079"/>
          </a:xfrm>
          <a:prstGeom prst="rect">
            <a:avLst/>
          </a:prstGeom>
        </p:spPr>
      </p:pic>
      <p:pic>
        <p:nvPicPr>
          <p:cNvPr id="266" name="Image 7" descr="preencoded.png"/>
          <p:cNvPicPr>
            <a:picLocks noChangeAspect="1"/>
          </p:cNvPicPr>
          <p:nvPr/>
        </p:nvPicPr>
        <p:blipFill>
          <a:blip r:embed="rId10"/>
          <a:stretch>
            <a:fillRect/>
          </a:stretch>
        </p:blipFill>
        <p:spPr>
          <a:xfrm>
            <a:off x="15900194" y="11012614"/>
            <a:ext cx="126998" cy="127020"/>
          </a:xfrm>
          <a:prstGeom prst="rect">
            <a:avLst/>
          </a:prstGeom>
        </p:spPr>
      </p:pic>
      <p:pic>
        <p:nvPicPr>
          <p:cNvPr id="267" name="Image 8" descr="preencoded.png"/>
          <p:cNvPicPr>
            <a:picLocks noChangeAspect="1"/>
          </p:cNvPicPr>
          <p:nvPr/>
        </p:nvPicPr>
        <p:blipFill>
          <a:blip r:embed="rId11"/>
          <a:stretch>
            <a:fillRect/>
          </a:stretch>
        </p:blipFill>
        <p:spPr>
          <a:xfrm>
            <a:off x="15905274" y="11246329"/>
            <a:ext cx="116838" cy="116861"/>
          </a:xfrm>
          <a:prstGeom prst="rect">
            <a:avLst/>
          </a:prstGeom>
        </p:spPr>
      </p:pic>
      <p:sp>
        <p:nvSpPr>
          <p:cNvPr id="268" name="Shape 257"/>
          <p:cNvSpPr/>
          <p:nvPr/>
        </p:nvSpPr>
        <p:spPr>
          <a:xfrm>
            <a:off x="16128791" y="11057071"/>
            <a:ext cx="126998" cy="38106"/>
          </a:xfrm>
          <a:prstGeom prst="rect">
            <a:avLst/>
          </a:prstGeom>
          <a:solidFill>
            <a:srgbClr val="000000">
              <a:alpha val="100000"/>
            </a:srgbClr>
          </a:solidFill>
          <a:ln/>
        </p:spPr>
        <p:txBody>
          <a:bodyPr/>
          <a:lstStyle/>
          <a:p>
            <a:endParaRPr lang="en-US"/>
          </a:p>
        </p:txBody>
      </p:sp>
      <p:sp>
        <p:nvSpPr>
          <p:cNvPr id="269" name="Shape 258"/>
          <p:cNvSpPr/>
          <p:nvPr/>
        </p:nvSpPr>
        <p:spPr>
          <a:xfrm>
            <a:off x="16128791" y="11317461"/>
            <a:ext cx="126998" cy="38106"/>
          </a:xfrm>
          <a:prstGeom prst="rect">
            <a:avLst/>
          </a:prstGeom>
          <a:solidFill>
            <a:srgbClr val="000000">
              <a:alpha val="100000"/>
            </a:srgbClr>
          </a:solidFill>
          <a:ln/>
        </p:spPr>
        <p:txBody>
          <a:bodyPr/>
          <a:lstStyle/>
          <a:p>
            <a:endParaRPr lang="en-US"/>
          </a:p>
        </p:txBody>
      </p:sp>
      <p:sp>
        <p:nvSpPr>
          <p:cNvPr id="270" name="Shape 259"/>
          <p:cNvSpPr/>
          <p:nvPr/>
        </p:nvSpPr>
        <p:spPr>
          <a:xfrm>
            <a:off x="16128791" y="11253951"/>
            <a:ext cx="126998" cy="38106"/>
          </a:xfrm>
          <a:prstGeom prst="rect">
            <a:avLst/>
          </a:prstGeom>
          <a:solidFill>
            <a:srgbClr val="000000">
              <a:alpha val="100000"/>
            </a:srgbClr>
          </a:solidFill>
          <a:ln/>
        </p:spPr>
        <p:txBody>
          <a:bodyPr/>
          <a:lstStyle/>
          <a:p>
            <a:endParaRPr lang="en-US"/>
          </a:p>
        </p:txBody>
      </p:sp>
      <p:sp>
        <p:nvSpPr>
          <p:cNvPr id="271" name="Shape 260"/>
          <p:cNvSpPr/>
          <p:nvPr/>
        </p:nvSpPr>
        <p:spPr>
          <a:xfrm>
            <a:off x="15773196" y="17363602"/>
            <a:ext cx="609592" cy="609695"/>
          </a:xfrm>
          <a:prstGeom prst="rect">
            <a:avLst/>
          </a:prstGeom>
          <a:noFill/>
          <a:ln/>
        </p:spPr>
        <p:txBody>
          <a:bodyPr/>
          <a:lstStyle/>
          <a:p>
            <a:endParaRPr lang="en-US"/>
          </a:p>
        </p:txBody>
      </p:sp>
      <p:pic>
        <p:nvPicPr>
          <p:cNvPr id="272" name="Image 9" descr="preencoded.png"/>
          <p:cNvPicPr>
            <a:picLocks noChangeAspect="1"/>
          </p:cNvPicPr>
          <p:nvPr/>
        </p:nvPicPr>
        <p:blipFill>
          <a:blip r:embed="rId12"/>
          <a:stretch>
            <a:fillRect/>
          </a:stretch>
        </p:blipFill>
        <p:spPr>
          <a:xfrm>
            <a:off x="16027126" y="17531078"/>
            <a:ext cx="101630" cy="327901"/>
          </a:xfrm>
          <a:prstGeom prst="rect">
            <a:avLst/>
          </a:prstGeom>
        </p:spPr>
      </p:pic>
      <p:pic>
        <p:nvPicPr>
          <p:cNvPr id="273" name="Image 10" descr="preencoded.png"/>
          <p:cNvPicPr>
            <a:picLocks noChangeAspect="1"/>
          </p:cNvPicPr>
          <p:nvPr/>
        </p:nvPicPr>
        <p:blipFill>
          <a:blip r:embed="rId13"/>
          <a:stretch>
            <a:fillRect/>
          </a:stretch>
        </p:blipFill>
        <p:spPr>
          <a:xfrm>
            <a:off x="16255825" y="17531078"/>
            <a:ext cx="101630" cy="327901"/>
          </a:xfrm>
          <a:prstGeom prst="rect">
            <a:avLst/>
          </a:prstGeom>
        </p:spPr>
      </p:pic>
      <p:pic>
        <p:nvPicPr>
          <p:cNvPr id="274" name="Image 11" descr="preencoded.png"/>
          <p:cNvPicPr>
            <a:picLocks noChangeAspect="1"/>
          </p:cNvPicPr>
          <p:nvPr/>
        </p:nvPicPr>
        <p:blipFill>
          <a:blip r:embed="rId14"/>
          <a:stretch>
            <a:fillRect/>
          </a:stretch>
        </p:blipFill>
        <p:spPr>
          <a:xfrm>
            <a:off x="16115772" y="17591921"/>
            <a:ext cx="153037" cy="203554"/>
          </a:xfrm>
          <a:prstGeom prst="rect">
            <a:avLst/>
          </a:prstGeom>
        </p:spPr>
      </p:pic>
      <p:pic>
        <p:nvPicPr>
          <p:cNvPr id="275" name="Image 12" descr="preencoded.png"/>
          <p:cNvPicPr>
            <a:picLocks noChangeAspect="1"/>
          </p:cNvPicPr>
          <p:nvPr/>
        </p:nvPicPr>
        <p:blipFill>
          <a:blip r:embed="rId15"/>
          <a:stretch>
            <a:fillRect/>
          </a:stretch>
        </p:blipFill>
        <p:spPr>
          <a:xfrm>
            <a:off x="15798596" y="17414410"/>
            <a:ext cx="279396" cy="508079"/>
          </a:xfrm>
          <a:prstGeom prst="rect">
            <a:avLst/>
          </a:prstGeom>
        </p:spPr>
      </p:pic>
      <p:sp>
        <p:nvSpPr>
          <p:cNvPr id="276" name="Shape 261"/>
          <p:cNvSpPr/>
          <p:nvPr/>
        </p:nvSpPr>
        <p:spPr>
          <a:xfrm>
            <a:off x="15773196" y="20666116"/>
            <a:ext cx="609592" cy="609695"/>
          </a:xfrm>
          <a:prstGeom prst="rect">
            <a:avLst/>
          </a:prstGeom>
          <a:noFill/>
          <a:ln/>
        </p:spPr>
        <p:txBody>
          <a:bodyPr/>
          <a:lstStyle/>
          <a:p>
            <a:endParaRPr lang="en-US"/>
          </a:p>
        </p:txBody>
      </p:sp>
      <p:pic>
        <p:nvPicPr>
          <p:cNvPr id="277" name="Image 13" descr="preencoded.png"/>
          <p:cNvPicPr>
            <a:picLocks noChangeAspect="1"/>
          </p:cNvPicPr>
          <p:nvPr/>
        </p:nvPicPr>
        <p:blipFill>
          <a:blip r:embed="rId16"/>
          <a:stretch>
            <a:fillRect/>
          </a:stretch>
        </p:blipFill>
        <p:spPr>
          <a:xfrm>
            <a:off x="15798596" y="20742328"/>
            <a:ext cx="558793" cy="457271"/>
          </a:xfrm>
          <a:prstGeom prst="rect">
            <a:avLst/>
          </a:prstGeom>
        </p:spPr>
      </p:pic>
      <p:pic>
        <p:nvPicPr>
          <p:cNvPr id="278" name="Image 14" descr="preencoded.png"/>
          <p:cNvPicPr>
            <a:picLocks noChangeAspect="1"/>
          </p:cNvPicPr>
          <p:nvPr/>
        </p:nvPicPr>
        <p:blipFill>
          <a:blip r:embed="rId17"/>
          <a:stretch>
            <a:fillRect/>
          </a:stretch>
        </p:blipFill>
        <p:spPr>
          <a:xfrm>
            <a:off x="15976393" y="20970963"/>
            <a:ext cx="50799" cy="127020"/>
          </a:xfrm>
          <a:prstGeom prst="rect">
            <a:avLst/>
          </a:prstGeom>
        </p:spPr>
      </p:pic>
      <p:pic>
        <p:nvPicPr>
          <p:cNvPr id="279" name="Image 15" descr="preencoded.png"/>
          <p:cNvPicPr>
            <a:picLocks noChangeAspect="1"/>
          </p:cNvPicPr>
          <p:nvPr/>
        </p:nvPicPr>
        <p:blipFill>
          <a:blip r:embed="rId18"/>
          <a:stretch>
            <a:fillRect/>
          </a:stretch>
        </p:blipFill>
        <p:spPr>
          <a:xfrm>
            <a:off x="16052592" y="20920156"/>
            <a:ext cx="50799" cy="177828"/>
          </a:xfrm>
          <a:prstGeom prst="rect">
            <a:avLst/>
          </a:prstGeom>
        </p:spPr>
      </p:pic>
      <p:pic>
        <p:nvPicPr>
          <p:cNvPr id="280" name="Image 16" descr="preencoded.png"/>
          <p:cNvPicPr>
            <a:picLocks noChangeAspect="1"/>
          </p:cNvPicPr>
          <p:nvPr/>
        </p:nvPicPr>
        <p:blipFill>
          <a:blip r:embed="rId19"/>
          <a:stretch>
            <a:fillRect/>
          </a:stretch>
        </p:blipFill>
        <p:spPr>
          <a:xfrm>
            <a:off x="16128791" y="20983665"/>
            <a:ext cx="50799" cy="114318"/>
          </a:xfrm>
          <a:prstGeom prst="rect">
            <a:avLst/>
          </a:prstGeom>
        </p:spPr>
      </p:pic>
      <p:sp>
        <p:nvSpPr>
          <p:cNvPr id="281" name="Shape 262"/>
          <p:cNvSpPr/>
          <p:nvPr/>
        </p:nvSpPr>
        <p:spPr>
          <a:xfrm>
            <a:off x="15773196" y="14188108"/>
            <a:ext cx="609592" cy="609695"/>
          </a:xfrm>
          <a:prstGeom prst="rect">
            <a:avLst/>
          </a:prstGeom>
          <a:noFill/>
          <a:ln/>
        </p:spPr>
        <p:txBody>
          <a:bodyPr/>
          <a:lstStyle/>
          <a:p>
            <a:endParaRPr lang="en-US"/>
          </a:p>
        </p:txBody>
      </p:sp>
      <p:pic>
        <p:nvPicPr>
          <p:cNvPr id="282" name="Image 17" descr="preencoded.png"/>
          <p:cNvPicPr>
            <a:picLocks noChangeAspect="1"/>
          </p:cNvPicPr>
          <p:nvPr/>
        </p:nvPicPr>
        <p:blipFill>
          <a:blip r:embed="rId20"/>
          <a:stretch>
            <a:fillRect/>
          </a:stretch>
        </p:blipFill>
        <p:spPr>
          <a:xfrm>
            <a:off x="15798589" y="14241459"/>
            <a:ext cx="558799" cy="502993"/>
          </a:xfrm>
          <a:prstGeom prst="rect">
            <a:avLst/>
          </a:prstGeom>
        </p:spPr>
      </p:pic>
      <p:pic>
        <p:nvPicPr>
          <p:cNvPr id="283" name="Image 18" descr="preencoded.png"/>
          <p:cNvPicPr>
            <a:picLocks noChangeAspect="1"/>
          </p:cNvPicPr>
          <p:nvPr/>
        </p:nvPicPr>
        <p:blipFill>
          <a:blip r:embed="rId21"/>
          <a:stretch>
            <a:fillRect/>
          </a:stretch>
        </p:blipFill>
        <p:spPr>
          <a:xfrm>
            <a:off x="8889885" y="3804242"/>
            <a:ext cx="1269984" cy="12702"/>
          </a:xfrm>
          <a:prstGeom prst="rect">
            <a:avLst/>
          </a:prstGeom>
        </p:spPr>
      </p:pic>
      <p:pic>
        <p:nvPicPr>
          <p:cNvPr id="284" name="Image 19" descr="preencoded.png"/>
          <p:cNvPicPr>
            <a:picLocks noChangeAspect="1"/>
          </p:cNvPicPr>
          <p:nvPr/>
        </p:nvPicPr>
        <p:blipFill>
          <a:blip r:embed="rId22"/>
          <a:stretch>
            <a:fillRect/>
          </a:stretch>
        </p:blipFill>
        <p:spPr>
          <a:xfrm>
            <a:off x="8889885" y="3810593"/>
            <a:ext cx="0" cy="0"/>
          </a:xfrm>
          <a:prstGeom prst="rect">
            <a:avLst/>
          </a:prstGeom>
        </p:spPr>
      </p:pic>
      <p:pic>
        <p:nvPicPr>
          <p:cNvPr id="285" name="Image 20" descr="preencoded.png"/>
          <p:cNvPicPr>
            <a:picLocks noChangeAspect="1"/>
          </p:cNvPicPr>
          <p:nvPr/>
        </p:nvPicPr>
        <p:blipFill>
          <a:blip r:embed="rId22"/>
          <a:stretch>
            <a:fillRect/>
          </a:stretch>
        </p:blipFill>
        <p:spPr>
          <a:xfrm>
            <a:off x="10159869" y="3810593"/>
            <a:ext cx="0" cy="0"/>
          </a:xfrm>
          <a:prstGeom prst="rect">
            <a:avLst/>
          </a:prstGeom>
        </p:spPr>
      </p:pic>
      <p:pic>
        <p:nvPicPr>
          <p:cNvPr id="286" name="Image 21" descr="preencoded.png"/>
          <p:cNvPicPr>
            <a:picLocks noChangeAspect="1"/>
          </p:cNvPicPr>
          <p:nvPr/>
        </p:nvPicPr>
        <p:blipFill>
          <a:blip r:embed="rId21"/>
          <a:stretch>
            <a:fillRect/>
          </a:stretch>
        </p:blipFill>
        <p:spPr>
          <a:xfrm>
            <a:off x="8889885" y="7106756"/>
            <a:ext cx="1269984" cy="12702"/>
          </a:xfrm>
          <a:prstGeom prst="rect">
            <a:avLst/>
          </a:prstGeom>
        </p:spPr>
      </p:pic>
      <p:pic>
        <p:nvPicPr>
          <p:cNvPr id="287" name="Image 22" descr="preencoded.png"/>
          <p:cNvPicPr>
            <a:picLocks noChangeAspect="1"/>
          </p:cNvPicPr>
          <p:nvPr/>
        </p:nvPicPr>
        <p:blipFill>
          <a:blip r:embed="rId22"/>
          <a:stretch>
            <a:fillRect/>
          </a:stretch>
        </p:blipFill>
        <p:spPr>
          <a:xfrm>
            <a:off x="8889885" y="7113107"/>
            <a:ext cx="0" cy="0"/>
          </a:xfrm>
          <a:prstGeom prst="rect">
            <a:avLst/>
          </a:prstGeom>
        </p:spPr>
      </p:pic>
      <p:pic>
        <p:nvPicPr>
          <p:cNvPr id="288" name="Image 23" descr="preencoded.png"/>
          <p:cNvPicPr>
            <a:picLocks noChangeAspect="1"/>
          </p:cNvPicPr>
          <p:nvPr/>
        </p:nvPicPr>
        <p:blipFill>
          <a:blip r:embed="rId22"/>
          <a:stretch>
            <a:fillRect/>
          </a:stretch>
        </p:blipFill>
        <p:spPr>
          <a:xfrm>
            <a:off x="10159869" y="7113107"/>
            <a:ext cx="0" cy="0"/>
          </a:xfrm>
          <a:prstGeom prst="rect">
            <a:avLst/>
          </a:prstGeom>
        </p:spPr>
      </p:pic>
      <p:pic>
        <p:nvPicPr>
          <p:cNvPr id="289" name="Image 24" descr="preencoded.png"/>
          <p:cNvPicPr>
            <a:picLocks noChangeAspect="1"/>
          </p:cNvPicPr>
          <p:nvPr/>
        </p:nvPicPr>
        <p:blipFill>
          <a:blip r:embed="rId21"/>
          <a:stretch>
            <a:fillRect/>
          </a:stretch>
        </p:blipFill>
        <p:spPr>
          <a:xfrm>
            <a:off x="8889885" y="10282250"/>
            <a:ext cx="1269984" cy="12702"/>
          </a:xfrm>
          <a:prstGeom prst="rect">
            <a:avLst/>
          </a:prstGeom>
        </p:spPr>
      </p:pic>
      <p:pic>
        <p:nvPicPr>
          <p:cNvPr id="290" name="Image 25" descr="preencoded.png"/>
          <p:cNvPicPr>
            <a:picLocks noChangeAspect="1"/>
          </p:cNvPicPr>
          <p:nvPr/>
        </p:nvPicPr>
        <p:blipFill>
          <a:blip r:embed="rId22"/>
          <a:stretch>
            <a:fillRect/>
          </a:stretch>
        </p:blipFill>
        <p:spPr>
          <a:xfrm>
            <a:off x="8889885" y="10288601"/>
            <a:ext cx="0" cy="0"/>
          </a:xfrm>
          <a:prstGeom prst="rect">
            <a:avLst/>
          </a:prstGeom>
        </p:spPr>
      </p:pic>
      <p:pic>
        <p:nvPicPr>
          <p:cNvPr id="291" name="Image 26" descr="preencoded.png"/>
          <p:cNvPicPr>
            <a:picLocks noChangeAspect="1"/>
          </p:cNvPicPr>
          <p:nvPr/>
        </p:nvPicPr>
        <p:blipFill>
          <a:blip r:embed="rId22"/>
          <a:stretch>
            <a:fillRect/>
          </a:stretch>
        </p:blipFill>
        <p:spPr>
          <a:xfrm>
            <a:off x="10159869" y="10288601"/>
            <a:ext cx="0" cy="0"/>
          </a:xfrm>
          <a:prstGeom prst="rect">
            <a:avLst/>
          </a:prstGeom>
        </p:spPr>
      </p:pic>
      <p:pic>
        <p:nvPicPr>
          <p:cNvPr id="292" name="Image 27" descr="preencoded.png"/>
          <p:cNvPicPr>
            <a:picLocks noChangeAspect="1"/>
          </p:cNvPicPr>
          <p:nvPr/>
        </p:nvPicPr>
        <p:blipFill>
          <a:blip r:embed="rId21"/>
          <a:stretch>
            <a:fillRect/>
          </a:stretch>
        </p:blipFill>
        <p:spPr>
          <a:xfrm>
            <a:off x="8889885" y="13584764"/>
            <a:ext cx="1269984" cy="12702"/>
          </a:xfrm>
          <a:prstGeom prst="rect">
            <a:avLst/>
          </a:prstGeom>
        </p:spPr>
      </p:pic>
      <p:pic>
        <p:nvPicPr>
          <p:cNvPr id="293" name="Image 28" descr="preencoded.png"/>
          <p:cNvPicPr>
            <a:picLocks noChangeAspect="1"/>
          </p:cNvPicPr>
          <p:nvPr/>
        </p:nvPicPr>
        <p:blipFill>
          <a:blip r:embed="rId22"/>
          <a:stretch>
            <a:fillRect/>
          </a:stretch>
        </p:blipFill>
        <p:spPr>
          <a:xfrm>
            <a:off x="8889885" y="13591115"/>
            <a:ext cx="0" cy="0"/>
          </a:xfrm>
          <a:prstGeom prst="rect">
            <a:avLst/>
          </a:prstGeom>
        </p:spPr>
      </p:pic>
      <p:pic>
        <p:nvPicPr>
          <p:cNvPr id="294" name="Image 29" descr="preencoded.png"/>
          <p:cNvPicPr>
            <a:picLocks noChangeAspect="1"/>
          </p:cNvPicPr>
          <p:nvPr/>
        </p:nvPicPr>
        <p:blipFill>
          <a:blip r:embed="rId22"/>
          <a:stretch>
            <a:fillRect/>
          </a:stretch>
        </p:blipFill>
        <p:spPr>
          <a:xfrm>
            <a:off x="10159869" y="13591115"/>
            <a:ext cx="0" cy="0"/>
          </a:xfrm>
          <a:prstGeom prst="rect">
            <a:avLst/>
          </a:prstGeom>
        </p:spPr>
      </p:pic>
      <p:pic>
        <p:nvPicPr>
          <p:cNvPr id="295" name="Image 30" descr="preencoded.png"/>
          <p:cNvPicPr>
            <a:picLocks noChangeAspect="1"/>
          </p:cNvPicPr>
          <p:nvPr/>
        </p:nvPicPr>
        <p:blipFill>
          <a:blip r:embed="rId21"/>
          <a:stretch>
            <a:fillRect/>
          </a:stretch>
        </p:blipFill>
        <p:spPr>
          <a:xfrm>
            <a:off x="8889885" y="16760258"/>
            <a:ext cx="1269984" cy="12702"/>
          </a:xfrm>
          <a:prstGeom prst="rect">
            <a:avLst/>
          </a:prstGeom>
        </p:spPr>
      </p:pic>
      <p:pic>
        <p:nvPicPr>
          <p:cNvPr id="296" name="Image 31" descr="preencoded.png"/>
          <p:cNvPicPr>
            <a:picLocks noChangeAspect="1"/>
          </p:cNvPicPr>
          <p:nvPr/>
        </p:nvPicPr>
        <p:blipFill>
          <a:blip r:embed="rId22"/>
          <a:stretch>
            <a:fillRect/>
          </a:stretch>
        </p:blipFill>
        <p:spPr>
          <a:xfrm>
            <a:off x="8889885" y="16766609"/>
            <a:ext cx="0" cy="0"/>
          </a:xfrm>
          <a:prstGeom prst="rect">
            <a:avLst/>
          </a:prstGeom>
        </p:spPr>
      </p:pic>
      <p:pic>
        <p:nvPicPr>
          <p:cNvPr id="297" name="Image 32" descr="preencoded.png"/>
          <p:cNvPicPr>
            <a:picLocks noChangeAspect="1"/>
          </p:cNvPicPr>
          <p:nvPr/>
        </p:nvPicPr>
        <p:blipFill>
          <a:blip r:embed="rId22"/>
          <a:stretch>
            <a:fillRect/>
          </a:stretch>
        </p:blipFill>
        <p:spPr>
          <a:xfrm>
            <a:off x="10159869" y="16766609"/>
            <a:ext cx="0" cy="0"/>
          </a:xfrm>
          <a:prstGeom prst="rect">
            <a:avLst/>
          </a:prstGeom>
        </p:spPr>
      </p:pic>
      <p:pic>
        <p:nvPicPr>
          <p:cNvPr id="298" name="Image 33" descr="preencoded.png"/>
          <p:cNvPicPr>
            <a:picLocks noChangeAspect="1"/>
          </p:cNvPicPr>
          <p:nvPr/>
        </p:nvPicPr>
        <p:blipFill>
          <a:blip r:embed="rId21"/>
          <a:stretch>
            <a:fillRect/>
          </a:stretch>
        </p:blipFill>
        <p:spPr>
          <a:xfrm>
            <a:off x="8889885" y="20062772"/>
            <a:ext cx="1269984" cy="12702"/>
          </a:xfrm>
          <a:prstGeom prst="rect">
            <a:avLst/>
          </a:prstGeom>
        </p:spPr>
      </p:pic>
      <p:pic>
        <p:nvPicPr>
          <p:cNvPr id="299" name="Image 34" descr="preencoded.png"/>
          <p:cNvPicPr>
            <a:picLocks noChangeAspect="1"/>
          </p:cNvPicPr>
          <p:nvPr/>
        </p:nvPicPr>
        <p:blipFill>
          <a:blip r:embed="rId22"/>
          <a:stretch>
            <a:fillRect/>
          </a:stretch>
        </p:blipFill>
        <p:spPr>
          <a:xfrm>
            <a:off x="8889885" y="20069123"/>
            <a:ext cx="0" cy="0"/>
          </a:xfrm>
          <a:prstGeom prst="rect">
            <a:avLst/>
          </a:prstGeom>
        </p:spPr>
      </p:pic>
      <p:pic>
        <p:nvPicPr>
          <p:cNvPr id="300" name="Image 35" descr="preencoded.png"/>
          <p:cNvPicPr>
            <a:picLocks noChangeAspect="1"/>
          </p:cNvPicPr>
          <p:nvPr/>
        </p:nvPicPr>
        <p:blipFill>
          <a:blip r:embed="rId22"/>
          <a:stretch>
            <a:fillRect/>
          </a:stretch>
        </p:blipFill>
        <p:spPr>
          <a:xfrm>
            <a:off x="10159869" y="20069123"/>
            <a:ext cx="0" cy="0"/>
          </a:xfrm>
          <a:prstGeom prst="rect">
            <a:avLst/>
          </a:prstGeom>
        </p:spPr>
      </p:pic>
      <p:pic>
        <p:nvPicPr>
          <p:cNvPr id="301" name="Image 36" descr="preencoded.png"/>
          <p:cNvPicPr>
            <a:picLocks noChangeAspect="1"/>
          </p:cNvPicPr>
          <p:nvPr/>
        </p:nvPicPr>
        <p:blipFill>
          <a:blip r:embed="rId21"/>
          <a:stretch>
            <a:fillRect/>
          </a:stretch>
        </p:blipFill>
        <p:spPr>
          <a:xfrm>
            <a:off x="7619901" y="19732521"/>
            <a:ext cx="1269984" cy="12702"/>
          </a:xfrm>
          <a:prstGeom prst="rect">
            <a:avLst/>
          </a:prstGeom>
        </p:spPr>
      </p:pic>
      <p:pic>
        <p:nvPicPr>
          <p:cNvPr id="302" name="Image 37" descr="preencoded.png"/>
          <p:cNvPicPr>
            <a:picLocks noChangeAspect="1"/>
          </p:cNvPicPr>
          <p:nvPr/>
        </p:nvPicPr>
        <p:blipFill>
          <a:blip r:embed="rId22"/>
          <a:stretch>
            <a:fillRect/>
          </a:stretch>
        </p:blipFill>
        <p:spPr>
          <a:xfrm>
            <a:off x="7619901" y="19738872"/>
            <a:ext cx="0" cy="0"/>
          </a:xfrm>
          <a:prstGeom prst="rect">
            <a:avLst/>
          </a:prstGeom>
        </p:spPr>
      </p:pic>
      <p:pic>
        <p:nvPicPr>
          <p:cNvPr id="303" name="Image 38" descr="preencoded.png"/>
          <p:cNvPicPr>
            <a:picLocks noChangeAspect="1"/>
          </p:cNvPicPr>
          <p:nvPr/>
        </p:nvPicPr>
        <p:blipFill>
          <a:blip r:embed="rId22"/>
          <a:stretch>
            <a:fillRect/>
          </a:stretch>
        </p:blipFill>
        <p:spPr>
          <a:xfrm>
            <a:off x="8889885" y="19738872"/>
            <a:ext cx="0" cy="0"/>
          </a:xfrm>
          <a:prstGeom prst="rect">
            <a:avLst/>
          </a:prstGeom>
        </p:spPr>
      </p:pic>
      <p:pic>
        <p:nvPicPr>
          <p:cNvPr id="304" name="Image 39" descr="preencoded.png"/>
          <p:cNvPicPr>
            <a:picLocks noChangeAspect="1"/>
          </p:cNvPicPr>
          <p:nvPr/>
        </p:nvPicPr>
        <p:blipFill>
          <a:blip r:embed="rId21"/>
          <a:stretch>
            <a:fillRect/>
          </a:stretch>
        </p:blipFill>
        <p:spPr>
          <a:xfrm>
            <a:off x="7619901" y="14727942"/>
            <a:ext cx="1269984" cy="12702"/>
          </a:xfrm>
          <a:prstGeom prst="rect">
            <a:avLst/>
          </a:prstGeom>
        </p:spPr>
      </p:pic>
      <p:pic>
        <p:nvPicPr>
          <p:cNvPr id="305" name="Image 40" descr="preencoded.png"/>
          <p:cNvPicPr>
            <a:picLocks noChangeAspect="1"/>
          </p:cNvPicPr>
          <p:nvPr/>
        </p:nvPicPr>
        <p:blipFill>
          <a:blip r:embed="rId22"/>
          <a:stretch>
            <a:fillRect/>
          </a:stretch>
        </p:blipFill>
        <p:spPr>
          <a:xfrm>
            <a:off x="7619901" y="14734293"/>
            <a:ext cx="0" cy="0"/>
          </a:xfrm>
          <a:prstGeom prst="rect">
            <a:avLst/>
          </a:prstGeom>
        </p:spPr>
      </p:pic>
      <p:pic>
        <p:nvPicPr>
          <p:cNvPr id="306" name="Image 41" descr="preencoded.png"/>
          <p:cNvPicPr>
            <a:picLocks noChangeAspect="1"/>
          </p:cNvPicPr>
          <p:nvPr/>
        </p:nvPicPr>
        <p:blipFill>
          <a:blip r:embed="rId22"/>
          <a:stretch>
            <a:fillRect/>
          </a:stretch>
        </p:blipFill>
        <p:spPr>
          <a:xfrm>
            <a:off x="8889885" y="14734293"/>
            <a:ext cx="0" cy="0"/>
          </a:xfrm>
          <a:prstGeom prst="rect">
            <a:avLst/>
          </a:prstGeom>
        </p:spPr>
      </p:pic>
      <p:pic>
        <p:nvPicPr>
          <p:cNvPr id="307" name="Image 42" descr="preencoded.png"/>
          <p:cNvPicPr>
            <a:picLocks noChangeAspect="1"/>
          </p:cNvPicPr>
          <p:nvPr/>
        </p:nvPicPr>
        <p:blipFill>
          <a:blip r:embed="rId21"/>
          <a:stretch>
            <a:fillRect/>
          </a:stretch>
        </p:blipFill>
        <p:spPr>
          <a:xfrm>
            <a:off x="7619901" y="9723363"/>
            <a:ext cx="1269984" cy="12702"/>
          </a:xfrm>
          <a:prstGeom prst="rect">
            <a:avLst/>
          </a:prstGeom>
        </p:spPr>
      </p:pic>
      <p:pic>
        <p:nvPicPr>
          <p:cNvPr id="308" name="Image 43" descr="preencoded.png"/>
          <p:cNvPicPr>
            <a:picLocks noChangeAspect="1"/>
          </p:cNvPicPr>
          <p:nvPr/>
        </p:nvPicPr>
        <p:blipFill>
          <a:blip r:embed="rId22"/>
          <a:stretch>
            <a:fillRect/>
          </a:stretch>
        </p:blipFill>
        <p:spPr>
          <a:xfrm>
            <a:off x="7619901" y="9729714"/>
            <a:ext cx="0" cy="0"/>
          </a:xfrm>
          <a:prstGeom prst="rect">
            <a:avLst/>
          </a:prstGeom>
        </p:spPr>
      </p:pic>
      <p:pic>
        <p:nvPicPr>
          <p:cNvPr id="309" name="Image 44" descr="preencoded.png"/>
          <p:cNvPicPr>
            <a:picLocks noChangeAspect="1"/>
          </p:cNvPicPr>
          <p:nvPr/>
        </p:nvPicPr>
        <p:blipFill>
          <a:blip r:embed="rId22"/>
          <a:stretch>
            <a:fillRect/>
          </a:stretch>
        </p:blipFill>
        <p:spPr>
          <a:xfrm>
            <a:off x="8889885" y="9729714"/>
            <a:ext cx="0" cy="0"/>
          </a:xfrm>
          <a:prstGeom prst="rect">
            <a:avLst/>
          </a:prstGeom>
        </p:spPr>
      </p:pic>
      <p:pic>
        <p:nvPicPr>
          <p:cNvPr id="310" name="Image 45" descr="preencoded.png"/>
          <p:cNvPicPr>
            <a:picLocks noChangeAspect="1"/>
          </p:cNvPicPr>
          <p:nvPr/>
        </p:nvPicPr>
        <p:blipFill>
          <a:blip r:embed="rId21"/>
          <a:stretch>
            <a:fillRect/>
          </a:stretch>
        </p:blipFill>
        <p:spPr>
          <a:xfrm>
            <a:off x="7619901" y="4718784"/>
            <a:ext cx="1269984" cy="12702"/>
          </a:xfrm>
          <a:prstGeom prst="rect">
            <a:avLst/>
          </a:prstGeom>
        </p:spPr>
      </p:pic>
      <p:pic>
        <p:nvPicPr>
          <p:cNvPr id="311" name="Image 46" descr="preencoded.png"/>
          <p:cNvPicPr>
            <a:picLocks noChangeAspect="1"/>
          </p:cNvPicPr>
          <p:nvPr/>
        </p:nvPicPr>
        <p:blipFill>
          <a:blip r:embed="rId22"/>
          <a:stretch>
            <a:fillRect/>
          </a:stretch>
        </p:blipFill>
        <p:spPr>
          <a:xfrm>
            <a:off x="7619901" y="4725135"/>
            <a:ext cx="0" cy="0"/>
          </a:xfrm>
          <a:prstGeom prst="rect">
            <a:avLst/>
          </a:prstGeom>
        </p:spPr>
      </p:pic>
      <p:pic>
        <p:nvPicPr>
          <p:cNvPr id="312" name="Image 47" descr="preencoded.png"/>
          <p:cNvPicPr>
            <a:picLocks noChangeAspect="1"/>
          </p:cNvPicPr>
          <p:nvPr/>
        </p:nvPicPr>
        <p:blipFill>
          <a:blip r:embed="rId22"/>
          <a:stretch>
            <a:fillRect/>
          </a:stretch>
        </p:blipFill>
        <p:spPr>
          <a:xfrm>
            <a:off x="8889885" y="4725135"/>
            <a:ext cx="0" cy="0"/>
          </a:xfrm>
          <a:prstGeom prst="rect">
            <a:avLst/>
          </a:prstGeom>
        </p:spPr>
      </p:pic>
      <p:pic>
        <p:nvPicPr>
          <p:cNvPr id="313" name="Image 48" descr="preencoded.png"/>
          <p:cNvPicPr>
            <a:picLocks noChangeAspect="1"/>
          </p:cNvPicPr>
          <p:nvPr/>
        </p:nvPicPr>
        <p:blipFill>
          <a:blip r:embed="rId23"/>
          <a:stretch>
            <a:fillRect/>
          </a:stretch>
        </p:blipFill>
        <p:spPr>
          <a:xfrm>
            <a:off x="8890455" y="3810593"/>
            <a:ext cx="12700" cy="16258530"/>
          </a:xfrm>
          <a:prstGeom prst="rect">
            <a:avLst/>
          </a:prstGeom>
        </p:spPr>
      </p:pic>
      <p:pic>
        <p:nvPicPr>
          <p:cNvPr id="314" name="Image 49" descr="preencoded.png"/>
          <p:cNvPicPr>
            <a:picLocks noChangeAspect="1"/>
          </p:cNvPicPr>
          <p:nvPr/>
        </p:nvPicPr>
        <p:blipFill>
          <a:blip r:embed="rId24"/>
          <a:stretch>
            <a:fillRect/>
          </a:stretch>
        </p:blipFill>
        <p:spPr>
          <a:xfrm>
            <a:off x="8852356" y="9729708"/>
            <a:ext cx="88899" cy="3861407"/>
          </a:xfrm>
          <a:prstGeom prst="rect">
            <a:avLst/>
          </a:prstGeom>
        </p:spPr>
      </p:pic>
      <p:pic>
        <p:nvPicPr>
          <p:cNvPr id="315" name="Image 50" descr="preencoded.png"/>
          <p:cNvPicPr>
            <a:picLocks noChangeAspect="1"/>
          </p:cNvPicPr>
          <p:nvPr/>
        </p:nvPicPr>
        <p:blipFill>
          <a:blip r:embed="rId25"/>
          <a:stretch>
            <a:fillRect/>
          </a:stretch>
        </p:blipFill>
        <p:spPr>
          <a:xfrm>
            <a:off x="7619901" y="9685257"/>
            <a:ext cx="1269984" cy="88914"/>
          </a:xfrm>
          <a:prstGeom prst="rect">
            <a:avLst/>
          </a:prstGeom>
        </p:spPr>
      </p:pic>
      <p:pic>
        <p:nvPicPr>
          <p:cNvPr id="316" name="Image 51" descr="preencoded.png"/>
          <p:cNvPicPr>
            <a:picLocks noChangeAspect="1"/>
          </p:cNvPicPr>
          <p:nvPr/>
        </p:nvPicPr>
        <p:blipFill>
          <a:blip r:embed="rId22"/>
          <a:stretch>
            <a:fillRect/>
          </a:stretch>
        </p:blipFill>
        <p:spPr>
          <a:xfrm>
            <a:off x="7619901" y="9729714"/>
            <a:ext cx="0" cy="0"/>
          </a:xfrm>
          <a:prstGeom prst="rect">
            <a:avLst/>
          </a:prstGeom>
        </p:spPr>
      </p:pic>
      <p:pic>
        <p:nvPicPr>
          <p:cNvPr id="317" name="Image 52" descr="preencoded.png"/>
          <p:cNvPicPr>
            <a:picLocks noChangeAspect="1"/>
          </p:cNvPicPr>
          <p:nvPr/>
        </p:nvPicPr>
        <p:blipFill>
          <a:blip r:embed="rId22"/>
          <a:stretch>
            <a:fillRect/>
          </a:stretch>
        </p:blipFill>
        <p:spPr>
          <a:xfrm>
            <a:off x="8889885" y="9729714"/>
            <a:ext cx="0" cy="0"/>
          </a:xfrm>
          <a:prstGeom prst="rect">
            <a:avLst/>
          </a:prstGeom>
        </p:spPr>
      </p:pic>
      <p:pic>
        <p:nvPicPr>
          <p:cNvPr id="318" name="Image 53" descr="preencoded.png"/>
          <p:cNvPicPr>
            <a:picLocks noChangeAspect="1"/>
          </p:cNvPicPr>
          <p:nvPr/>
        </p:nvPicPr>
        <p:blipFill>
          <a:blip r:embed="rId25"/>
          <a:stretch>
            <a:fillRect/>
          </a:stretch>
        </p:blipFill>
        <p:spPr>
          <a:xfrm>
            <a:off x="8889885" y="13546658"/>
            <a:ext cx="1269984" cy="88914"/>
          </a:xfrm>
          <a:prstGeom prst="rect">
            <a:avLst/>
          </a:prstGeom>
        </p:spPr>
      </p:pic>
      <p:pic>
        <p:nvPicPr>
          <p:cNvPr id="319" name="Image 54" descr="preencoded.png"/>
          <p:cNvPicPr>
            <a:picLocks noChangeAspect="1"/>
          </p:cNvPicPr>
          <p:nvPr/>
        </p:nvPicPr>
        <p:blipFill>
          <a:blip r:embed="rId22"/>
          <a:stretch>
            <a:fillRect/>
          </a:stretch>
        </p:blipFill>
        <p:spPr>
          <a:xfrm>
            <a:off x="8889885" y="13591115"/>
            <a:ext cx="0" cy="0"/>
          </a:xfrm>
          <a:prstGeom prst="rect">
            <a:avLst/>
          </a:prstGeom>
        </p:spPr>
      </p:pic>
      <p:pic>
        <p:nvPicPr>
          <p:cNvPr id="320" name="Image 55" descr="preencoded.png"/>
          <p:cNvPicPr>
            <a:picLocks noChangeAspect="1"/>
          </p:cNvPicPr>
          <p:nvPr/>
        </p:nvPicPr>
        <p:blipFill>
          <a:blip r:embed="rId22"/>
          <a:stretch>
            <a:fillRect/>
          </a:stretch>
        </p:blipFill>
        <p:spPr>
          <a:xfrm>
            <a:off x="10159869" y="13591115"/>
            <a:ext cx="0" cy="0"/>
          </a:xfrm>
          <a:prstGeom prst="rect">
            <a:avLst/>
          </a:prstGeom>
        </p:spPr>
      </p:pic>
      <p:sp>
        <p:nvSpPr>
          <p:cNvPr id="321" name="Shape 263"/>
          <p:cNvSpPr/>
          <p:nvPr/>
        </p:nvSpPr>
        <p:spPr>
          <a:xfrm>
            <a:off x="19354550" y="2337164"/>
            <a:ext cx="18109966" cy="19586448"/>
          </a:xfrm>
          <a:prstGeom prst="rect">
            <a:avLst/>
          </a:prstGeom>
          <a:solidFill>
            <a:srgbClr val="FFFFFF">
              <a:alpha val="100000"/>
            </a:srgbClr>
          </a:solidFill>
          <a:ln/>
        </p:spPr>
        <p:txBody>
          <a:bodyPr/>
          <a:lstStyle/>
          <a:p>
            <a:endParaRPr lang="en-US"/>
          </a:p>
        </p:txBody>
      </p:sp>
      <p:pic>
        <p:nvPicPr>
          <p:cNvPr id="322" name="Image 56" descr="preencoded.png"/>
          <p:cNvPicPr>
            <a:picLocks noChangeAspect="1"/>
          </p:cNvPicPr>
          <p:nvPr/>
        </p:nvPicPr>
        <p:blipFill>
          <a:blip r:embed="rId26"/>
          <a:stretch>
            <a:fillRect/>
          </a:stretch>
        </p:blipFill>
        <p:spPr>
          <a:xfrm>
            <a:off x="19335500" y="2318111"/>
            <a:ext cx="18148065" cy="19624554"/>
          </a:xfrm>
          <a:prstGeom prst="rect">
            <a:avLst/>
          </a:prstGeom>
        </p:spPr>
      </p:pic>
      <p:sp>
        <p:nvSpPr>
          <p:cNvPr id="323" name="Shape 264"/>
          <p:cNvSpPr/>
          <p:nvPr/>
        </p:nvSpPr>
        <p:spPr>
          <a:xfrm>
            <a:off x="19354550" y="2337164"/>
            <a:ext cx="18109966" cy="19586448"/>
          </a:xfrm>
          <a:prstGeom prst="rect">
            <a:avLst/>
          </a:prstGeom>
          <a:solidFill>
            <a:srgbClr val="FFFFFF">
              <a:alpha val="100000"/>
            </a:srgbClr>
          </a:solidFill>
          <a:ln/>
        </p:spPr>
        <p:txBody>
          <a:bodyPr/>
          <a:lstStyle/>
          <a:p>
            <a:endParaRPr lang="en-US"/>
          </a:p>
        </p:txBody>
      </p:sp>
      <p:pic>
        <p:nvPicPr>
          <p:cNvPr id="324" name="Image 57" descr="preencoded.png"/>
          <p:cNvPicPr>
            <a:picLocks noChangeAspect="1"/>
          </p:cNvPicPr>
          <p:nvPr/>
        </p:nvPicPr>
        <p:blipFill>
          <a:blip r:embed="rId26"/>
          <a:stretch>
            <a:fillRect/>
          </a:stretch>
        </p:blipFill>
        <p:spPr>
          <a:xfrm>
            <a:off x="19335500" y="2318111"/>
            <a:ext cx="18148065" cy="19624554"/>
          </a:xfrm>
          <a:prstGeom prst="rect">
            <a:avLst/>
          </a:prstGeom>
        </p:spPr>
      </p:pic>
      <p:pic>
        <p:nvPicPr>
          <p:cNvPr id="325" name="Image 58" descr="preencoded.png"/>
          <p:cNvPicPr>
            <a:picLocks noChangeAspect="1"/>
          </p:cNvPicPr>
          <p:nvPr/>
        </p:nvPicPr>
        <p:blipFill>
          <a:blip r:embed="rId27"/>
          <a:stretch>
            <a:fillRect/>
          </a:stretch>
        </p:blipFill>
        <p:spPr>
          <a:xfrm>
            <a:off x="18770357" y="1752873"/>
            <a:ext cx="19481548" cy="20958261"/>
          </a:xfrm>
          <a:prstGeom prst="rect">
            <a:avLst/>
          </a:prstGeom>
        </p:spPr>
      </p:pic>
      <p:pic>
        <p:nvPicPr>
          <p:cNvPr id="326" name="Image 59" descr="preencoded.png"/>
          <p:cNvPicPr>
            <a:picLocks noChangeAspect="1"/>
          </p:cNvPicPr>
          <p:nvPr/>
        </p:nvPicPr>
        <p:blipFill>
          <a:blip r:embed="rId26"/>
          <a:stretch>
            <a:fillRect/>
          </a:stretch>
        </p:blipFill>
        <p:spPr>
          <a:xfrm>
            <a:off x="19335500" y="2318111"/>
            <a:ext cx="18148065" cy="19624554"/>
          </a:xfrm>
          <a:prstGeom prst="rect">
            <a:avLst/>
          </a:prstGeom>
        </p:spPr>
      </p:pic>
      <p:pic>
        <p:nvPicPr>
          <p:cNvPr id="327" name="Image 60" descr="preencoded.png"/>
          <p:cNvPicPr>
            <a:picLocks noChangeAspect="1"/>
          </p:cNvPicPr>
          <p:nvPr/>
        </p:nvPicPr>
        <p:blipFill>
          <a:blip r:embed="rId28"/>
          <a:stretch>
            <a:fillRect/>
          </a:stretch>
        </p:blipFill>
        <p:spPr>
          <a:xfrm>
            <a:off x="19964143" y="11685819"/>
            <a:ext cx="634992" cy="635099"/>
          </a:xfrm>
          <a:prstGeom prst="rect">
            <a:avLst/>
          </a:prstGeom>
        </p:spPr>
      </p:pic>
      <p:sp>
        <p:nvSpPr>
          <p:cNvPr id="328" name="Shape 265"/>
          <p:cNvSpPr/>
          <p:nvPr/>
        </p:nvSpPr>
        <p:spPr>
          <a:xfrm>
            <a:off x="20446723" y="12165665"/>
            <a:ext cx="155220" cy="155246"/>
          </a:xfrm>
          <a:prstGeom prst="ellipse">
            <a:avLst/>
          </a:prstGeom>
          <a:solidFill>
            <a:srgbClr val="15BA00">
              <a:alpha val="100000"/>
            </a:srgbClr>
          </a:solidFill>
          <a:ln w="25400">
            <a:solidFill>
              <a:srgbClr val="FFFFFF"/>
            </a:solidFill>
            <a:prstDash val="solid"/>
          </a:ln>
        </p:spPr>
        <p:txBody>
          <a:bodyPr/>
          <a:lstStyle/>
          <a:p>
            <a:endParaRPr lang="en-US"/>
          </a:p>
        </p:txBody>
      </p:sp>
      <p:pic>
        <p:nvPicPr>
          <p:cNvPr id="329" name="Image 61" descr="preencoded.png"/>
          <p:cNvPicPr>
            <a:picLocks noChangeAspect="1"/>
          </p:cNvPicPr>
          <p:nvPr/>
        </p:nvPicPr>
        <p:blipFill>
          <a:blip r:embed="rId29"/>
          <a:stretch>
            <a:fillRect/>
          </a:stretch>
        </p:blipFill>
        <p:spPr>
          <a:xfrm>
            <a:off x="20866005" y="2475484"/>
            <a:ext cx="15365386" cy="1879899"/>
          </a:xfrm>
          <a:prstGeom prst="rect">
            <a:avLst/>
          </a:prstGeom>
        </p:spPr>
      </p:pic>
      <p:sp>
        <p:nvSpPr>
          <p:cNvPr id="330" name="Text 266"/>
          <p:cNvSpPr/>
          <p:nvPr/>
        </p:nvSpPr>
        <p:spPr>
          <a:xfrm>
            <a:off x="21221425" y="3340620"/>
            <a:ext cx="9410578" cy="558887"/>
          </a:xfrm>
          <a:prstGeom prst="rect">
            <a:avLst/>
          </a:prstGeom>
          <a:noFill/>
          <a:ln/>
        </p:spPr>
        <p:txBody>
          <a:bodyPr wrap="square" lIns="0" tIns="0" rIns="0" bIns="0" rtlCol="0" anchor="t"/>
          <a:lstStyle/>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LLM's response to the Agent's message. Note that an Agent is not capable of generative text on their own, so this response from the LLM is the</a:t>
            </a:r>
            <a:endParaRPr lang="en-US" sz="1200" dirty="0"/>
          </a:p>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thought or reasoning process of this Agent. This can be thought of as an inner monologue.</a:t>
            </a:r>
            <a:endParaRPr lang="en-US" sz="1200" dirty="0"/>
          </a:p>
        </p:txBody>
      </p:sp>
      <p:sp>
        <p:nvSpPr>
          <p:cNvPr id="331" name="Shape 267"/>
          <p:cNvSpPr/>
          <p:nvPr/>
        </p:nvSpPr>
        <p:spPr>
          <a:xfrm>
            <a:off x="21208726" y="3277110"/>
            <a:ext cx="4368743" cy="12702"/>
          </a:xfrm>
          <a:prstGeom prst="rect">
            <a:avLst/>
          </a:prstGeom>
          <a:solidFill>
            <a:srgbClr val="000000">
              <a:alpha val="12000"/>
            </a:srgbClr>
          </a:solidFill>
          <a:ln/>
        </p:spPr>
        <p:txBody>
          <a:bodyPr/>
          <a:lstStyle/>
          <a:p>
            <a:endParaRPr lang="en-US"/>
          </a:p>
        </p:txBody>
      </p:sp>
      <p:sp>
        <p:nvSpPr>
          <p:cNvPr id="332" name="Text 268"/>
          <p:cNvSpPr/>
          <p:nvPr/>
        </p:nvSpPr>
        <p:spPr>
          <a:xfrm>
            <a:off x="21208726" y="3086580"/>
            <a:ext cx="838189" cy="228636"/>
          </a:xfrm>
          <a:prstGeom prst="rect">
            <a:avLst/>
          </a:prstGeom>
          <a:noFill/>
          <a:ln/>
        </p:spPr>
        <p:txBody>
          <a:bodyPr wrap="square" lIns="0" tIns="0" rIns="0" bIns="0" rtlCol="0" anchor="t"/>
          <a:lstStyle/>
          <a:p>
            <a:pPr algn="l"/>
            <a:r>
              <a:rPr lang="en-US" sz="1000" kern="0" spc="150" dirty="0">
                <a:solidFill>
                  <a:srgbClr val="000000">
                    <a:alpha val="60000"/>
                  </a:srgbClr>
                </a:solidFill>
                <a:latin typeface="Roboto Medium" pitchFamily="34" charset="0"/>
                <a:ea typeface="Roboto Medium" pitchFamily="34" charset="-122"/>
                <a:cs typeface="Roboto Medium" pitchFamily="34" charset="-120"/>
              </a:rPr>
              <a:t>RESPONSE</a:t>
            </a:r>
            <a:endParaRPr lang="en-US" sz="1000" dirty="0"/>
          </a:p>
        </p:txBody>
      </p:sp>
      <p:pic>
        <p:nvPicPr>
          <p:cNvPr id="333" name="Image 62" descr="preencoded.png"/>
          <p:cNvPicPr>
            <a:picLocks noChangeAspect="1"/>
          </p:cNvPicPr>
          <p:nvPr/>
        </p:nvPicPr>
        <p:blipFill>
          <a:blip r:embed="rId30"/>
          <a:stretch>
            <a:fillRect/>
          </a:stretch>
        </p:blipFill>
        <p:spPr>
          <a:xfrm>
            <a:off x="20510388" y="11177739"/>
            <a:ext cx="15722398" cy="3315216"/>
          </a:xfrm>
          <a:prstGeom prst="rect">
            <a:avLst/>
          </a:prstGeom>
        </p:spPr>
      </p:pic>
      <p:sp>
        <p:nvSpPr>
          <p:cNvPr id="334" name="Text 269"/>
          <p:cNvSpPr/>
          <p:nvPr/>
        </p:nvSpPr>
        <p:spPr>
          <a:xfrm>
            <a:off x="21146634" y="11380971"/>
            <a:ext cx="1035037" cy="489026"/>
          </a:xfrm>
          <a:prstGeom prst="rect">
            <a:avLst/>
          </a:prstGeom>
          <a:noFill/>
          <a:ln/>
        </p:spPr>
        <p:txBody>
          <a:bodyPr wrap="square" lIns="0" tIns="0" rIns="0" bIns="0" rtlCol="0" anchor="t"/>
          <a:lstStyle/>
          <a:p>
            <a:pPr algn="l"/>
            <a:r>
              <a:rPr lang="en-US" sz="2100" dirty="0">
                <a:solidFill>
                  <a:srgbClr val="333333">
                    <a:alpha val="100000"/>
                  </a:srgbClr>
                </a:solidFill>
                <a:latin typeface="Segoe UI Semilight" pitchFamily="34" charset="0"/>
                <a:ea typeface="Segoe UI Semilight" pitchFamily="34" charset="-122"/>
                <a:cs typeface="Segoe UI Semilight" pitchFamily="34" charset="-120"/>
              </a:rPr>
              <a:t>Agent 2</a:t>
            </a:r>
            <a:endParaRPr lang="en-US" sz="2100" dirty="0"/>
          </a:p>
        </p:txBody>
      </p:sp>
      <p:sp>
        <p:nvSpPr>
          <p:cNvPr id="335" name="Text 270"/>
          <p:cNvSpPr/>
          <p:nvPr/>
        </p:nvSpPr>
        <p:spPr>
          <a:xfrm>
            <a:off x="21222833" y="12206600"/>
            <a:ext cx="10642462" cy="838330"/>
          </a:xfrm>
          <a:prstGeom prst="rect">
            <a:avLst/>
          </a:prstGeom>
          <a:noFill/>
          <a:ln/>
        </p:spPr>
        <p:txBody>
          <a:bodyPr wrap="square" lIns="0" tIns="0" rIns="0" bIns="0" rtlCol="0" anchor="t"/>
          <a:lstStyle/>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Agent's first message to the LLM for this internal exchange. If this is the first Agent in the chain, this will typically consist of just the persistent system message for </a:t>
            </a:r>
            <a:endParaRPr lang="en-US" sz="1200" dirty="0"/>
          </a:p>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this Agent. If this is not the first Agent, or not the first LLM exchange for this agent, this will consist of the persistent system message, the chain of thought from its</a:t>
            </a:r>
            <a:endParaRPr lang="en-US" sz="1200" dirty="0"/>
          </a:p>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prior exchanges, and some data returned from a tool or other agent.</a:t>
            </a:r>
            <a:endParaRPr lang="en-US" sz="1200" dirty="0"/>
          </a:p>
        </p:txBody>
      </p:sp>
      <p:sp>
        <p:nvSpPr>
          <p:cNvPr id="336" name="Text 271"/>
          <p:cNvSpPr/>
          <p:nvPr/>
        </p:nvSpPr>
        <p:spPr>
          <a:xfrm>
            <a:off x="21222833" y="13514903"/>
            <a:ext cx="9410578" cy="558887"/>
          </a:xfrm>
          <a:prstGeom prst="rect">
            <a:avLst/>
          </a:prstGeom>
          <a:noFill/>
          <a:ln/>
        </p:spPr>
        <p:txBody>
          <a:bodyPr wrap="square" lIns="0" tIns="0" rIns="0" bIns="0" rtlCol="0" anchor="t"/>
          <a:lstStyle/>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LLM's response to the Agent's message. Note that an Agent is not capable of generative text on their own, so this response from the LLM is the</a:t>
            </a:r>
            <a:endParaRPr lang="en-US" sz="1200" dirty="0"/>
          </a:p>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thought or reasoning process of this Agent. This can be thought of as an inner monologue.</a:t>
            </a:r>
            <a:endParaRPr lang="en-US" sz="1200" dirty="0"/>
          </a:p>
        </p:txBody>
      </p:sp>
      <p:sp>
        <p:nvSpPr>
          <p:cNvPr id="337" name="Shape 272"/>
          <p:cNvSpPr/>
          <p:nvPr/>
        </p:nvSpPr>
        <p:spPr>
          <a:xfrm>
            <a:off x="21210133" y="13451393"/>
            <a:ext cx="4368743" cy="12702"/>
          </a:xfrm>
          <a:prstGeom prst="rect">
            <a:avLst/>
          </a:prstGeom>
          <a:solidFill>
            <a:srgbClr val="000000">
              <a:alpha val="12000"/>
            </a:srgbClr>
          </a:solidFill>
          <a:ln/>
        </p:spPr>
        <p:txBody>
          <a:bodyPr/>
          <a:lstStyle/>
          <a:p>
            <a:endParaRPr lang="en-US"/>
          </a:p>
        </p:txBody>
      </p:sp>
      <p:sp>
        <p:nvSpPr>
          <p:cNvPr id="338" name="Text 273"/>
          <p:cNvSpPr/>
          <p:nvPr/>
        </p:nvSpPr>
        <p:spPr>
          <a:xfrm>
            <a:off x="21210133" y="13260864"/>
            <a:ext cx="838189" cy="228636"/>
          </a:xfrm>
          <a:prstGeom prst="rect">
            <a:avLst/>
          </a:prstGeom>
          <a:noFill/>
          <a:ln/>
        </p:spPr>
        <p:txBody>
          <a:bodyPr wrap="square" lIns="0" tIns="0" rIns="0" bIns="0" rtlCol="0" anchor="t"/>
          <a:lstStyle/>
          <a:p>
            <a:pPr algn="l"/>
            <a:r>
              <a:rPr lang="en-US" sz="1000" kern="0" spc="150" dirty="0">
                <a:solidFill>
                  <a:srgbClr val="000000">
                    <a:alpha val="60000"/>
                  </a:srgbClr>
                </a:solidFill>
                <a:latin typeface="Roboto Medium" pitchFamily="34" charset="0"/>
                <a:ea typeface="Roboto Medium" pitchFamily="34" charset="-122"/>
                <a:cs typeface="Roboto Medium" pitchFamily="34" charset="-120"/>
              </a:rPr>
              <a:t>RESPONSE</a:t>
            </a:r>
            <a:endParaRPr lang="en-US" sz="1000" dirty="0"/>
          </a:p>
        </p:txBody>
      </p:sp>
      <p:sp>
        <p:nvSpPr>
          <p:cNvPr id="339" name="Text 274"/>
          <p:cNvSpPr/>
          <p:nvPr/>
        </p:nvSpPr>
        <p:spPr>
          <a:xfrm>
            <a:off x="21210133" y="11914454"/>
            <a:ext cx="761990" cy="228636"/>
          </a:xfrm>
          <a:prstGeom prst="rect">
            <a:avLst/>
          </a:prstGeom>
          <a:noFill/>
          <a:ln/>
        </p:spPr>
        <p:txBody>
          <a:bodyPr wrap="square" lIns="0" tIns="0" rIns="0" bIns="0" rtlCol="0" anchor="t"/>
          <a:lstStyle/>
          <a:p>
            <a:pPr algn="l"/>
            <a:r>
              <a:rPr lang="en-US" sz="1000" kern="0" spc="150" dirty="0">
                <a:solidFill>
                  <a:srgbClr val="000000">
                    <a:alpha val="60000"/>
                  </a:srgbClr>
                </a:solidFill>
                <a:latin typeface="Roboto Medium" pitchFamily="34" charset="0"/>
                <a:ea typeface="Roboto Medium" pitchFamily="34" charset="-122"/>
                <a:cs typeface="Roboto Medium" pitchFamily="34" charset="-120"/>
              </a:rPr>
              <a:t>MESSAGE</a:t>
            </a:r>
            <a:endParaRPr lang="en-US" sz="1000" dirty="0"/>
          </a:p>
        </p:txBody>
      </p:sp>
      <p:sp>
        <p:nvSpPr>
          <p:cNvPr id="340" name="Shape 275"/>
          <p:cNvSpPr/>
          <p:nvPr/>
        </p:nvSpPr>
        <p:spPr>
          <a:xfrm>
            <a:off x="21210133" y="12104984"/>
            <a:ext cx="4368743" cy="12702"/>
          </a:xfrm>
          <a:prstGeom prst="rect">
            <a:avLst/>
          </a:prstGeom>
          <a:solidFill>
            <a:srgbClr val="000000">
              <a:alpha val="12000"/>
            </a:srgbClr>
          </a:solidFill>
          <a:ln/>
        </p:spPr>
        <p:txBody>
          <a:bodyPr/>
          <a:lstStyle/>
          <a:p>
            <a:endParaRPr lang="en-US"/>
          </a:p>
        </p:txBody>
      </p:sp>
      <p:pic>
        <p:nvPicPr>
          <p:cNvPr id="341" name="Image 63" descr="preencoded.png"/>
          <p:cNvPicPr>
            <a:picLocks noChangeAspect="1"/>
          </p:cNvPicPr>
          <p:nvPr/>
        </p:nvPicPr>
        <p:blipFill>
          <a:blip r:embed="rId31"/>
          <a:stretch>
            <a:fillRect/>
          </a:stretch>
        </p:blipFill>
        <p:spPr>
          <a:xfrm>
            <a:off x="20508980" y="4725135"/>
            <a:ext cx="15722398" cy="2324456"/>
          </a:xfrm>
          <a:prstGeom prst="rect">
            <a:avLst/>
          </a:prstGeom>
        </p:spPr>
      </p:pic>
      <p:sp>
        <p:nvSpPr>
          <p:cNvPr id="342" name="Text 276"/>
          <p:cNvSpPr/>
          <p:nvPr/>
        </p:nvSpPr>
        <p:spPr>
          <a:xfrm>
            <a:off x="21145226" y="4928367"/>
            <a:ext cx="819139" cy="489026"/>
          </a:xfrm>
          <a:prstGeom prst="rect">
            <a:avLst/>
          </a:prstGeom>
          <a:noFill/>
          <a:ln/>
        </p:spPr>
        <p:txBody>
          <a:bodyPr wrap="square" lIns="0" tIns="0" rIns="0" bIns="0" rtlCol="0" anchor="t"/>
          <a:lstStyle/>
          <a:p>
            <a:pPr algn="l"/>
            <a:r>
              <a:rPr lang="en-US" sz="2100" dirty="0">
                <a:solidFill>
                  <a:srgbClr val="333333">
                    <a:alpha val="100000"/>
                  </a:srgbClr>
                </a:solidFill>
                <a:latin typeface="Segoe UI Semilight" pitchFamily="34" charset="0"/>
                <a:ea typeface="Segoe UI Semilight" pitchFamily="34" charset="-122"/>
                <a:cs typeface="Segoe UI Semilight" pitchFamily="34" charset="-120"/>
              </a:rPr>
              <a:t>Tool 3</a:t>
            </a:r>
            <a:endParaRPr lang="en-US" sz="2100" dirty="0"/>
          </a:p>
        </p:txBody>
      </p:sp>
      <p:sp>
        <p:nvSpPr>
          <p:cNvPr id="343" name="Text 277"/>
          <p:cNvSpPr/>
          <p:nvPr/>
        </p:nvSpPr>
        <p:spPr>
          <a:xfrm>
            <a:off x="21221425" y="5753995"/>
            <a:ext cx="1168385" cy="558887"/>
          </a:xfrm>
          <a:prstGeom prst="rect">
            <a:avLst/>
          </a:prstGeom>
          <a:noFill/>
          <a:ln/>
        </p:spPr>
        <p:txBody>
          <a:bodyPr wrap="square" lIns="0" tIns="0" rIns="0" bIns="0" rtlCol="0" anchor="t"/>
          <a:lstStyle/>
          <a:p>
            <a:pPr algn="l"/>
            <a:r>
              <a:rPr lang="en-US" sz="1200" dirty="0">
                <a:solidFill>
                  <a:srgbClr val="6200EE">
                    <a:alpha val="100000"/>
                  </a:srgbClr>
                </a:solidFill>
                <a:latin typeface="Roboto Mono Medium" pitchFamily="34" charset="0"/>
                <a:ea typeface="Roboto Mono Medium" pitchFamily="34" charset="-122"/>
                <a:cs typeface="Roboto Mono Medium" pitchFamily="34" charset="-120"/>
              </a:rPr>
              <a:t>Var1    Var2</a:t>
            </a:r>
            <a:endParaRPr lang="en-US" sz="1200" dirty="0"/>
          </a:p>
          <a:p>
            <a:pPr algn="l"/>
            <a:r>
              <a:rPr lang="en-US" sz="1200" dirty="0">
                <a:solidFill>
                  <a:srgbClr val="6200EE">
                    <a:alpha val="100000"/>
                  </a:srgbClr>
                </a:solidFill>
                <a:latin typeface="Roboto Mono Medium" pitchFamily="34" charset="0"/>
                <a:ea typeface="Roboto Mono Medium" pitchFamily="34" charset="-122"/>
                <a:cs typeface="Roboto Mono Medium" pitchFamily="34" charset="-120"/>
              </a:rPr>
              <a:t>Var3    </a:t>
            </a:r>
            <a:endParaRPr lang="en-US" sz="1200" dirty="0"/>
          </a:p>
        </p:txBody>
      </p:sp>
      <p:sp>
        <p:nvSpPr>
          <p:cNvPr id="344" name="Text 278"/>
          <p:cNvSpPr/>
          <p:nvPr/>
        </p:nvSpPr>
        <p:spPr>
          <a:xfrm>
            <a:off x="21208726" y="5461850"/>
            <a:ext cx="596892" cy="228636"/>
          </a:xfrm>
          <a:prstGeom prst="rect">
            <a:avLst/>
          </a:prstGeom>
          <a:noFill/>
          <a:ln/>
        </p:spPr>
        <p:txBody>
          <a:bodyPr wrap="square" lIns="0" tIns="0" rIns="0" bIns="0" rtlCol="0" anchor="t"/>
          <a:lstStyle/>
          <a:p>
            <a:pPr algn="l"/>
            <a:r>
              <a:rPr lang="en-US" sz="1000" kern="0" spc="150" dirty="0">
                <a:solidFill>
                  <a:srgbClr val="000000">
                    <a:alpha val="60000"/>
                  </a:srgbClr>
                </a:solidFill>
                <a:latin typeface="Roboto Medium" pitchFamily="34" charset="0"/>
                <a:ea typeface="Roboto Medium" pitchFamily="34" charset="-122"/>
                <a:cs typeface="Roboto Medium" pitchFamily="34" charset="-120"/>
              </a:rPr>
              <a:t>INPUTS</a:t>
            </a:r>
            <a:endParaRPr lang="en-US" sz="1000" dirty="0"/>
          </a:p>
        </p:txBody>
      </p:sp>
      <p:sp>
        <p:nvSpPr>
          <p:cNvPr id="345" name="Shape 279"/>
          <p:cNvSpPr/>
          <p:nvPr/>
        </p:nvSpPr>
        <p:spPr>
          <a:xfrm>
            <a:off x="21208726" y="5652380"/>
            <a:ext cx="2730465" cy="12702"/>
          </a:xfrm>
          <a:prstGeom prst="rect">
            <a:avLst/>
          </a:prstGeom>
          <a:solidFill>
            <a:srgbClr val="000000">
              <a:alpha val="12000"/>
            </a:srgbClr>
          </a:solidFill>
          <a:ln/>
        </p:spPr>
        <p:txBody>
          <a:bodyPr/>
          <a:lstStyle/>
          <a:p>
            <a:endParaRPr lang="en-US"/>
          </a:p>
        </p:txBody>
      </p:sp>
      <p:sp>
        <p:nvSpPr>
          <p:cNvPr id="346" name="Text 280"/>
          <p:cNvSpPr/>
          <p:nvPr/>
        </p:nvSpPr>
        <p:spPr>
          <a:xfrm>
            <a:off x="24523383" y="5690486"/>
            <a:ext cx="2324070" cy="952648"/>
          </a:xfrm>
          <a:prstGeom prst="rect">
            <a:avLst/>
          </a:prstGeom>
          <a:noFill/>
          <a:ln/>
        </p:spPr>
        <p:txBody>
          <a:bodyPr wrap="square" lIns="0" tIns="0" rIns="0" bIns="0" rtlCol="0" anchor="t"/>
          <a:lstStyle/>
          <a:p>
            <a:pPr algn="l"/>
            <a:r>
              <a:rPr lang="en-US" sz="1600" dirty="0">
                <a:solidFill>
                  <a:srgbClr val="333333">
                    <a:alpha val="100000"/>
                  </a:srgbClr>
                </a:solidFill>
                <a:latin typeface="Apple Chancery Chancery" pitchFamily="34" charset="0"/>
                <a:ea typeface="Apple Chancery Chancery" pitchFamily="34" charset="-122"/>
                <a:cs typeface="Apple Chancery Chancery" pitchFamily="34" charset="-120"/>
              </a:rPr>
              <a:t>F</a:t>
            </a:r>
            <a:r>
              <a:rPr lang="en-US" sz="1200" dirty="0">
                <a:solidFill>
                  <a:srgbClr val="333333">
                    <a:alpha val="100000"/>
                  </a:srgbClr>
                </a:solidFill>
                <a:latin typeface="Roboto Mono Medium" pitchFamily="34" charset="0"/>
                <a:ea typeface="Roboto Mono Medium" pitchFamily="34" charset="-122"/>
                <a:cs typeface="Roboto Mono Medium" pitchFamily="34" charset="-120"/>
              </a:rPr>
              <a:t>(</a:t>
            </a:r>
            <a:r>
              <a:rPr lang="en-US" sz="1200" dirty="0">
                <a:solidFill>
                  <a:srgbClr val="6200EE">
                    <a:alpha val="100000"/>
                  </a:srgbClr>
                </a:solidFill>
                <a:latin typeface="Roboto Mono Medium" pitchFamily="34" charset="0"/>
                <a:ea typeface="Roboto Mono Medium" pitchFamily="34" charset="-122"/>
                <a:cs typeface="Roboto Mono Medium" pitchFamily="34" charset="-120"/>
              </a:rPr>
              <a:t>Var1</a:t>
            </a:r>
            <a:r>
              <a:rPr lang="en-US" sz="1200" dirty="0">
                <a:solidFill>
                  <a:srgbClr val="333333">
                    <a:alpha val="100000"/>
                  </a:srgbClr>
                </a:solidFill>
                <a:latin typeface="Roboto Mono Medium" pitchFamily="34" charset="0"/>
                <a:ea typeface="Roboto Mono Medium" pitchFamily="34" charset="-122"/>
                <a:cs typeface="Roboto Mono Medium" pitchFamily="34" charset="-120"/>
              </a:rPr>
              <a:t>) = V/dx = X</a:t>
            </a:r>
            <a:endParaRPr lang="en-US" sz="1600" dirty="0"/>
          </a:p>
          <a:p>
            <a:pPr algn="l"/>
            <a:r>
              <a:rPr lang="en-US" sz="1600" dirty="0">
                <a:solidFill>
                  <a:srgbClr val="333333">
                    <a:alpha val="100000"/>
                  </a:srgbClr>
                </a:solidFill>
                <a:latin typeface="Apple Chancery Chancery" pitchFamily="34" charset="0"/>
                <a:ea typeface="Apple Chancery Chancery" pitchFamily="34" charset="-122"/>
                <a:cs typeface="Apple Chancery Chancery" pitchFamily="34" charset="-120"/>
              </a:rPr>
              <a:t>F</a:t>
            </a:r>
            <a:r>
              <a:rPr lang="en-US" sz="1200" dirty="0">
                <a:solidFill>
                  <a:srgbClr val="333333">
                    <a:alpha val="100000"/>
                  </a:srgbClr>
                </a:solidFill>
                <a:latin typeface="Roboto Mono Medium" pitchFamily="34" charset="0"/>
                <a:ea typeface="Roboto Mono Medium" pitchFamily="34" charset="-122"/>
                <a:cs typeface="Roboto Mono Medium" pitchFamily="34" charset="-120"/>
              </a:rPr>
              <a:t>(</a:t>
            </a:r>
            <a:r>
              <a:rPr lang="en-US" sz="1200" dirty="0">
                <a:solidFill>
                  <a:srgbClr val="6200EE">
                    <a:alpha val="100000"/>
                  </a:srgbClr>
                </a:solidFill>
                <a:latin typeface="Roboto Mono Medium" pitchFamily="34" charset="0"/>
                <a:ea typeface="Roboto Mono Medium" pitchFamily="34" charset="-122"/>
                <a:cs typeface="Roboto Mono Medium" pitchFamily="34" charset="-120"/>
              </a:rPr>
              <a:t>Var2</a:t>
            </a:r>
            <a:r>
              <a:rPr lang="en-US" sz="1200" dirty="0">
                <a:solidFill>
                  <a:srgbClr val="333333">
                    <a:alpha val="100000"/>
                  </a:srgbClr>
                </a:solidFill>
                <a:latin typeface="Roboto Mono Medium" pitchFamily="34" charset="0"/>
                <a:ea typeface="Roboto Mono Medium" pitchFamily="34" charset="-122"/>
                <a:cs typeface="Roboto Mono Medium" pitchFamily="34" charset="-120"/>
              </a:rPr>
              <a:t>, X) = x/dx = </a:t>
            </a:r>
            <a:r>
              <a:rPr lang="en-US" sz="1200" dirty="0">
                <a:solidFill>
                  <a:srgbClr val="017374">
                    <a:alpha val="100000"/>
                  </a:srgbClr>
                </a:solidFill>
                <a:latin typeface="Roboto Mono Medium" pitchFamily="34" charset="0"/>
                <a:ea typeface="Roboto Mono Medium" pitchFamily="34" charset="-122"/>
                <a:cs typeface="Roboto Mono Medium" pitchFamily="34" charset="-120"/>
              </a:rPr>
              <a:t>Out1</a:t>
            </a:r>
            <a:endParaRPr lang="en-US" sz="1600" dirty="0"/>
          </a:p>
          <a:p>
            <a:pPr algn="l"/>
            <a:r>
              <a:rPr lang="en-US" sz="1600" dirty="0">
                <a:solidFill>
                  <a:srgbClr val="333333">
                    <a:alpha val="100000"/>
                  </a:srgbClr>
                </a:solidFill>
                <a:latin typeface="Apple Chancery Chancery" pitchFamily="34" charset="0"/>
                <a:ea typeface="Apple Chancery Chancery" pitchFamily="34" charset="-122"/>
                <a:cs typeface="Apple Chancery Chancery" pitchFamily="34" charset="-120"/>
              </a:rPr>
              <a:t>F</a:t>
            </a:r>
            <a:r>
              <a:rPr lang="en-US" sz="1200" dirty="0">
                <a:solidFill>
                  <a:srgbClr val="333333">
                    <a:alpha val="100000"/>
                  </a:srgbClr>
                </a:solidFill>
                <a:latin typeface="Roboto Mono Medium" pitchFamily="34" charset="0"/>
                <a:ea typeface="Roboto Mono Medium" pitchFamily="34" charset="-122"/>
                <a:cs typeface="Roboto Mono Medium" pitchFamily="34" charset="-120"/>
              </a:rPr>
              <a:t>(</a:t>
            </a:r>
            <a:r>
              <a:rPr lang="en-US" sz="1200" dirty="0">
                <a:solidFill>
                  <a:srgbClr val="6200EE">
                    <a:alpha val="100000"/>
                  </a:srgbClr>
                </a:solidFill>
                <a:latin typeface="Roboto Mono Medium" pitchFamily="34" charset="0"/>
                <a:ea typeface="Roboto Mono Medium" pitchFamily="34" charset="-122"/>
                <a:cs typeface="Roboto Mono Medium" pitchFamily="34" charset="-120"/>
              </a:rPr>
              <a:t>Var3</a:t>
            </a:r>
            <a:r>
              <a:rPr lang="en-US" sz="1200" dirty="0">
                <a:solidFill>
                  <a:srgbClr val="333333">
                    <a:alpha val="100000"/>
                  </a:srgbClr>
                </a:solidFill>
                <a:latin typeface="Roboto Mono Medium" pitchFamily="34" charset="0"/>
                <a:ea typeface="Roboto Mono Medium" pitchFamily="34" charset="-122"/>
                <a:cs typeface="Roboto Mono Medium" pitchFamily="34" charset="-120"/>
              </a:rPr>
              <a:t>) = Vx/dx = </a:t>
            </a:r>
            <a:r>
              <a:rPr lang="en-US" sz="1200" dirty="0">
                <a:solidFill>
                  <a:srgbClr val="017374">
                    <a:alpha val="100000"/>
                  </a:srgbClr>
                </a:solidFill>
                <a:latin typeface="Roboto Mono Medium" pitchFamily="34" charset="0"/>
                <a:ea typeface="Roboto Mono Medium" pitchFamily="34" charset="-122"/>
                <a:cs typeface="Roboto Mono Medium" pitchFamily="34" charset="-120"/>
              </a:rPr>
              <a:t>Out2</a:t>
            </a:r>
            <a:endParaRPr lang="en-US" sz="1600" dirty="0"/>
          </a:p>
        </p:txBody>
      </p:sp>
      <p:sp>
        <p:nvSpPr>
          <p:cNvPr id="347" name="Text 281"/>
          <p:cNvSpPr/>
          <p:nvPr/>
        </p:nvSpPr>
        <p:spPr>
          <a:xfrm>
            <a:off x="24510683" y="5461850"/>
            <a:ext cx="901688" cy="228636"/>
          </a:xfrm>
          <a:prstGeom prst="rect">
            <a:avLst/>
          </a:prstGeom>
          <a:noFill/>
          <a:ln/>
        </p:spPr>
        <p:txBody>
          <a:bodyPr wrap="square" lIns="0" tIns="0" rIns="0" bIns="0" rtlCol="0" anchor="t"/>
          <a:lstStyle/>
          <a:p>
            <a:pPr algn="l"/>
            <a:r>
              <a:rPr lang="en-US" sz="1000" kern="0" spc="150" dirty="0">
                <a:solidFill>
                  <a:srgbClr val="000000">
                    <a:alpha val="60000"/>
                  </a:srgbClr>
                </a:solidFill>
                <a:latin typeface="Roboto Medium" pitchFamily="34" charset="0"/>
                <a:ea typeface="Roboto Medium" pitchFamily="34" charset="-122"/>
                <a:cs typeface="Roboto Medium" pitchFamily="34" charset="-120"/>
              </a:rPr>
              <a:t>FUNCTIONS</a:t>
            </a:r>
            <a:endParaRPr lang="en-US" sz="1000" dirty="0"/>
          </a:p>
        </p:txBody>
      </p:sp>
      <p:sp>
        <p:nvSpPr>
          <p:cNvPr id="348" name="Shape 282"/>
          <p:cNvSpPr/>
          <p:nvPr/>
        </p:nvSpPr>
        <p:spPr>
          <a:xfrm>
            <a:off x="24510683" y="5652380"/>
            <a:ext cx="2730465" cy="12702"/>
          </a:xfrm>
          <a:prstGeom prst="rect">
            <a:avLst/>
          </a:prstGeom>
          <a:solidFill>
            <a:srgbClr val="000000">
              <a:alpha val="12000"/>
            </a:srgbClr>
          </a:solidFill>
          <a:ln/>
        </p:spPr>
        <p:txBody>
          <a:bodyPr/>
          <a:lstStyle/>
          <a:p>
            <a:endParaRPr lang="en-US"/>
          </a:p>
        </p:txBody>
      </p:sp>
      <p:sp>
        <p:nvSpPr>
          <p:cNvPr id="349" name="Text 283"/>
          <p:cNvSpPr/>
          <p:nvPr/>
        </p:nvSpPr>
        <p:spPr>
          <a:xfrm>
            <a:off x="28587330" y="5753995"/>
            <a:ext cx="3314657" cy="965350"/>
          </a:xfrm>
          <a:prstGeom prst="rect">
            <a:avLst/>
          </a:prstGeom>
          <a:noFill/>
          <a:ln/>
        </p:spPr>
        <p:txBody>
          <a:bodyPr wrap="square" lIns="0" tIns="0" rIns="0" bIns="0" rtlCol="0" anchor="t"/>
          <a:lstStyle/>
          <a:p>
            <a:pPr algn="l"/>
            <a:r>
              <a:rPr lang="en-US" sz="1200" dirty="0">
                <a:solidFill>
                  <a:srgbClr val="333333">
                    <a:alpha val="100000"/>
                  </a:srgbClr>
                </a:solidFill>
                <a:latin typeface="Segoe UI Regular" pitchFamily="34" charset="0"/>
                <a:ea typeface="Segoe UI Regular" pitchFamily="34" charset="-122"/>
                <a:cs typeface="Segoe UI Regular" pitchFamily="34" charset="-120"/>
              </a:rPr>
              <a:t>Function results can be imputed into a prompt</a:t>
            </a:r>
            <a:endParaRPr lang="en-US" sz="1200" dirty="0"/>
          </a:p>
          <a:p>
            <a:pPr algn="l"/>
            <a:r>
              <a:rPr lang="en-US" sz="1200" dirty="0">
                <a:solidFill>
                  <a:srgbClr val="333333">
                    <a:alpha val="100000"/>
                  </a:srgbClr>
                </a:solidFill>
                <a:latin typeface="Segoe UI Regular" pitchFamily="34" charset="0"/>
                <a:ea typeface="Segoe UI Regular" pitchFamily="34" charset="-122"/>
                <a:cs typeface="Segoe UI Regular" pitchFamily="34" charset="-120"/>
              </a:rPr>
              <a:t>that gets returned to an Agent. For example, the</a:t>
            </a:r>
            <a:endParaRPr lang="en-US" sz="1200" dirty="0"/>
          </a:p>
          <a:p>
            <a:pPr algn="l"/>
            <a:r>
              <a:rPr lang="en-US" sz="1200" dirty="0">
                <a:solidFill>
                  <a:srgbClr val="333333">
                    <a:alpha val="100000"/>
                  </a:srgbClr>
                </a:solidFill>
                <a:latin typeface="Segoe UI Regular" pitchFamily="34" charset="0"/>
                <a:ea typeface="Segoe UI Regular" pitchFamily="34" charset="-122"/>
                <a:cs typeface="Segoe UI Regular" pitchFamily="34" charset="-120"/>
              </a:rPr>
              <a:t>output of the second equation is </a:t>
            </a:r>
            <a:r>
              <a:rPr lang="en-US" sz="1200" dirty="0">
                <a:solidFill>
                  <a:srgbClr val="017374">
                    <a:alpha val="100000"/>
                  </a:srgbClr>
                </a:solidFill>
                <a:latin typeface="Roboto Mono Medium" pitchFamily="34" charset="0"/>
                <a:ea typeface="Roboto Mono Medium" pitchFamily="34" charset="-122"/>
                <a:cs typeface="Roboto Mono Medium" pitchFamily="34" charset="-120"/>
              </a:rPr>
              <a:t>{Out1}</a:t>
            </a:r>
            <a:r>
              <a:rPr lang="en-US" sz="1200" dirty="0">
                <a:solidFill>
                  <a:srgbClr val="333333">
                    <a:alpha val="100000"/>
                  </a:srgbClr>
                </a:solidFill>
                <a:latin typeface="Segoe UI Regular" pitchFamily="34" charset="0"/>
                <a:ea typeface="Segoe UI Regular" pitchFamily="34" charset="-122"/>
                <a:cs typeface="Segoe UI Regular" pitchFamily="34" charset="-120"/>
              </a:rPr>
              <a:t>, while</a:t>
            </a:r>
            <a:endParaRPr lang="en-US" sz="1200" dirty="0"/>
          </a:p>
          <a:p>
            <a:pPr algn="l"/>
            <a:r>
              <a:rPr lang="en-US" sz="1200" dirty="0">
                <a:solidFill>
                  <a:srgbClr val="017374">
                    <a:alpha val="100000"/>
                  </a:srgbClr>
                </a:solidFill>
                <a:latin typeface="Roboto Mono Medium" pitchFamily="34" charset="0"/>
                <a:ea typeface="Roboto Mono Medium" pitchFamily="34" charset="-122"/>
                <a:cs typeface="Roboto Mono Medium" pitchFamily="34" charset="-120"/>
              </a:rPr>
              <a:t>{Out2}</a:t>
            </a:r>
            <a:r>
              <a:rPr lang="en-US" sz="1200" dirty="0">
                <a:solidFill>
                  <a:srgbClr val="333333">
                    <a:alpha val="100000"/>
                  </a:srgbClr>
                </a:solidFill>
                <a:latin typeface="Segoe UI Regular" pitchFamily="34" charset="0"/>
                <a:ea typeface="Segoe UI Regular" pitchFamily="34" charset="-122"/>
                <a:cs typeface="Segoe UI Regular" pitchFamily="34" charset="-120"/>
              </a:rPr>
              <a:t> is the result of the second algorithm.</a:t>
            </a:r>
            <a:endParaRPr lang="en-US" sz="1200" dirty="0"/>
          </a:p>
        </p:txBody>
      </p:sp>
      <p:sp>
        <p:nvSpPr>
          <p:cNvPr id="350" name="Text 284"/>
          <p:cNvSpPr/>
          <p:nvPr/>
        </p:nvSpPr>
        <p:spPr>
          <a:xfrm>
            <a:off x="28574630" y="5461850"/>
            <a:ext cx="736590" cy="228636"/>
          </a:xfrm>
          <a:prstGeom prst="rect">
            <a:avLst/>
          </a:prstGeom>
          <a:noFill/>
          <a:ln/>
        </p:spPr>
        <p:txBody>
          <a:bodyPr wrap="square" lIns="0" tIns="0" rIns="0" bIns="0" rtlCol="0" anchor="t"/>
          <a:lstStyle/>
          <a:p>
            <a:pPr algn="l"/>
            <a:r>
              <a:rPr lang="en-US" sz="1000" kern="0" spc="150" dirty="0">
                <a:solidFill>
                  <a:srgbClr val="000000">
                    <a:alpha val="60000"/>
                  </a:srgbClr>
                </a:solidFill>
                <a:latin typeface="Roboto Medium" pitchFamily="34" charset="0"/>
                <a:ea typeface="Roboto Medium" pitchFamily="34" charset="-122"/>
                <a:cs typeface="Roboto Medium" pitchFamily="34" charset="-120"/>
              </a:rPr>
              <a:t>OUTPUTS</a:t>
            </a:r>
            <a:endParaRPr lang="en-US" sz="1000" dirty="0"/>
          </a:p>
        </p:txBody>
      </p:sp>
      <p:sp>
        <p:nvSpPr>
          <p:cNvPr id="351" name="Shape 285"/>
          <p:cNvSpPr/>
          <p:nvPr/>
        </p:nvSpPr>
        <p:spPr>
          <a:xfrm>
            <a:off x="28574630" y="5652380"/>
            <a:ext cx="2730465" cy="12702"/>
          </a:xfrm>
          <a:prstGeom prst="rect">
            <a:avLst/>
          </a:prstGeom>
          <a:solidFill>
            <a:srgbClr val="000000">
              <a:alpha val="12000"/>
            </a:srgbClr>
          </a:solidFill>
          <a:ln/>
        </p:spPr>
        <p:txBody>
          <a:bodyPr/>
          <a:lstStyle/>
          <a:p>
            <a:endParaRPr lang="en-US"/>
          </a:p>
        </p:txBody>
      </p:sp>
      <p:pic>
        <p:nvPicPr>
          <p:cNvPr id="352" name="Image 64" descr="preencoded.png"/>
          <p:cNvPicPr>
            <a:picLocks noChangeAspect="1"/>
          </p:cNvPicPr>
          <p:nvPr/>
        </p:nvPicPr>
        <p:blipFill>
          <a:blip r:embed="rId30"/>
          <a:stretch>
            <a:fillRect/>
          </a:stretch>
        </p:blipFill>
        <p:spPr>
          <a:xfrm>
            <a:off x="20508980" y="7456060"/>
            <a:ext cx="15722398" cy="3315216"/>
          </a:xfrm>
          <a:prstGeom prst="rect">
            <a:avLst/>
          </a:prstGeom>
        </p:spPr>
      </p:pic>
      <p:sp>
        <p:nvSpPr>
          <p:cNvPr id="353" name="Text 286"/>
          <p:cNvSpPr/>
          <p:nvPr/>
        </p:nvSpPr>
        <p:spPr>
          <a:xfrm>
            <a:off x="21145226" y="7659292"/>
            <a:ext cx="996937" cy="489026"/>
          </a:xfrm>
          <a:prstGeom prst="rect">
            <a:avLst/>
          </a:prstGeom>
          <a:noFill/>
          <a:ln/>
        </p:spPr>
        <p:txBody>
          <a:bodyPr wrap="square" lIns="0" tIns="0" rIns="0" bIns="0" rtlCol="0" anchor="t"/>
          <a:lstStyle/>
          <a:p>
            <a:pPr algn="l"/>
            <a:r>
              <a:rPr lang="en-US" sz="2100" dirty="0">
                <a:solidFill>
                  <a:srgbClr val="333333">
                    <a:alpha val="100000"/>
                  </a:srgbClr>
                </a:solidFill>
                <a:latin typeface="Segoe UI Semilight" pitchFamily="34" charset="0"/>
                <a:ea typeface="Segoe UI Semilight" pitchFamily="34" charset="-122"/>
                <a:cs typeface="Segoe UI Semilight" pitchFamily="34" charset="-120"/>
              </a:rPr>
              <a:t>Agent 1</a:t>
            </a:r>
            <a:endParaRPr lang="en-US" sz="2100" dirty="0"/>
          </a:p>
        </p:txBody>
      </p:sp>
      <p:sp>
        <p:nvSpPr>
          <p:cNvPr id="354" name="Text 287"/>
          <p:cNvSpPr/>
          <p:nvPr/>
        </p:nvSpPr>
        <p:spPr>
          <a:xfrm>
            <a:off x="21221425" y="8484920"/>
            <a:ext cx="10642462" cy="838330"/>
          </a:xfrm>
          <a:prstGeom prst="rect">
            <a:avLst/>
          </a:prstGeom>
          <a:noFill/>
          <a:ln/>
        </p:spPr>
        <p:txBody>
          <a:bodyPr wrap="square" lIns="0" tIns="0" rIns="0" bIns="0" rtlCol="0" anchor="t"/>
          <a:lstStyle/>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Agent's first message to the LLM for this internal exchange. If this is the first Agent in the chain, this will typically consist of just the persistent system message for </a:t>
            </a:r>
            <a:endParaRPr lang="en-US" sz="1200" dirty="0"/>
          </a:p>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this Agent. If this is not the first Agent, or not the first LLM exchange for this agent, this will consist of the persistent system message, the chain of thought from its</a:t>
            </a:r>
            <a:endParaRPr lang="en-US" sz="1200" dirty="0"/>
          </a:p>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prior exchanges, and some data returned from a tool or other agent.</a:t>
            </a:r>
            <a:endParaRPr lang="en-US" sz="1200" dirty="0"/>
          </a:p>
        </p:txBody>
      </p:sp>
      <p:sp>
        <p:nvSpPr>
          <p:cNvPr id="355" name="Text 288"/>
          <p:cNvSpPr/>
          <p:nvPr/>
        </p:nvSpPr>
        <p:spPr>
          <a:xfrm>
            <a:off x="21221425" y="9793224"/>
            <a:ext cx="9410578" cy="558887"/>
          </a:xfrm>
          <a:prstGeom prst="rect">
            <a:avLst/>
          </a:prstGeom>
          <a:noFill/>
          <a:ln/>
        </p:spPr>
        <p:txBody>
          <a:bodyPr wrap="square" lIns="0" tIns="0" rIns="0" bIns="0" rtlCol="0" anchor="t"/>
          <a:lstStyle/>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LLM's response to the Agent's message. Note that an Agent is not capable of generative text on their own, so this response from the LLM is the</a:t>
            </a:r>
            <a:endParaRPr lang="en-US" sz="1200" dirty="0"/>
          </a:p>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thought or reasoning process of this Agent. This can be thought of as an inner monologue.</a:t>
            </a:r>
            <a:endParaRPr lang="en-US" sz="1200" dirty="0"/>
          </a:p>
        </p:txBody>
      </p:sp>
      <p:sp>
        <p:nvSpPr>
          <p:cNvPr id="356" name="Shape 289"/>
          <p:cNvSpPr/>
          <p:nvPr/>
        </p:nvSpPr>
        <p:spPr>
          <a:xfrm>
            <a:off x="21208726" y="9729714"/>
            <a:ext cx="4368743" cy="12702"/>
          </a:xfrm>
          <a:prstGeom prst="rect">
            <a:avLst/>
          </a:prstGeom>
          <a:solidFill>
            <a:srgbClr val="000000">
              <a:alpha val="12000"/>
            </a:srgbClr>
          </a:solidFill>
          <a:ln/>
        </p:spPr>
        <p:txBody>
          <a:bodyPr/>
          <a:lstStyle/>
          <a:p>
            <a:endParaRPr lang="en-US"/>
          </a:p>
        </p:txBody>
      </p:sp>
      <p:sp>
        <p:nvSpPr>
          <p:cNvPr id="357" name="Text 290"/>
          <p:cNvSpPr/>
          <p:nvPr/>
        </p:nvSpPr>
        <p:spPr>
          <a:xfrm>
            <a:off x="21208726" y="9539184"/>
            <a:ext cx="838189" cy="228636"/>
          </a:xfrm>
          <a:prstGeom prst="rect">
            <a:avLst/>
          </a:prstGeom>
          <a:noFill/>
          <a:ln/>
        </p:spPr>
        <p:txBody>
          <a:bodyPr wrap="square" lIns="0" tIns="0" rIns="0" bIns="0" rtlCol="0" anchor="t"/>
          <a:lstStyle/>
          <a:p>
            <a:pPr algn="l"/>
            <a:r>
              <a:rPr lang="en-US" sz="1000" kern="0" spc="150" dirty="0">
                <a:solidFill>
                  <a:srgbClr val="000000">
                    <a:alpha val="60000"/>
                  </a:srgbClr>
                </a:solidFill>
                <a:latin typeface="Roboto Medium" pitchFamily="34" charset="0"/>
                <a:ea typeface="Roboto Medium" pitchFamily="34" charset="-122"/>
                <a:cs typeface="Roboto Medium" pitchFamily="34" charset="-120"/>
              </a:rPr>
              <a:t>RESPONSE</a:t>
            </a:r>
            <a:endParaRPr lang="en-US" sz="1000" dirty="0"/>
          </a:p>
        </p:txBody>
      </p:sp>
      <p:sp>
        <p:nvSpPr>
          <p:cNvPr id="358" name="Text 291"/>
          <p:cNvSpPr/>
          <p:nvPr/>
        </p:nvSpPr>
        <p:spPr>
          <a:xfrm>
            <a:off x="21208726" y="8192775"/>
            <a:ext cx="761990" cy="228636"/>
          </a:xfrm>
          <a:prstGeom prst="rect">
            <a:avLst/>
          </a:prstGeom>
          <a:noFill/>
          <a:ln/>
        </p:spPr>
        <p:txBody>
          <a:bodyPr wrap="square" lIns="0" tIns="0" rIns="0" bIns="0" rtlCol="0" anchor="t"/>
          <a:lstStyle/>
          <a:p>
            <a:pPr algn="l"/>
            <a:r>
              <a:rPr lang="en-US" sz="1000" kern="0" spc="150" dirty="0">
                <a:solidFill>
                  <a:srgbClr val="000000">
                    <a:alpha val="60000"/>
                  </a:srgbClr>
                </a:solidFill>
                <a:latin typeface="Roboto Medium" pitchFamily="34" charset="0"/>
                <a:ea typeface="Roboto Medium" pitchFamily="34" charset="-122"/>
                <a:cs typeface="Roboto Medium" pitchFamily="34" charset="-120"/>
              </a:rPr>
              <a:t>MESSAGE</a:t>
            </a:r>
            <a:endParaRPr lang="en-US" sz="1000" dirty="0"/>
          </a:p>
        </p:txBody>
      </p:sp>
      <p:sp>
        <p:nvSpPr>
          <p:cNvPr id="359" name="Shape 292"/>
          <p:cNvSpPr/>
          <p:nvPr/>
        </p:nvSpPr>
        <p:spPr>
          <a:xfrm>
            <a:off x="21208726" y="8383305"/>
            <a:ext cx="4368743" cy="12702"/>
          </a:xfrm>
          <a:prstGeom prst="rect">
            <a:avLst/>
          </a:prstGeom>
          <a:solidFill>
            <a:srgbClr val="000000">
              <a:alpha val="12000"/>
            </a:srgbClr>
          </a:solidFill>
          <a:ln/>
        </p:spPr>
        <p:txBody>
          <a:bodyPr/>
          <a:lstStyle/>
          <a:p>
            <a:endParaRPr lang="en-US"/>
          </a:p>
        </p:txBody>
      </p:sp>
      <p:sp>
        <p:nvSpPr>
          <p:cNvPr id="360" name="Shape 293"/>
          <p:cNvSpPr/>
          <p:nvPr/>
        </p:nvSpPr>
        <p:spPr>
          <a:xfrm>
            <a:off x="19989541" y="5233214"/>
            <a:ext cx="609592" cy="609695"/>
          </a:xfrm>
          <a:prstGeom prst="rect">
            <a:avLst/>
          </a:prstGeom>
          <a:noFill/>
          <a:ln/>
        </p:spPr>
        <p:txBody>
          <a:bodyPr/>
          <a:lstStyle/>
          <a:p>
            <a:endParaRPr lang="en-US"/>
          </a:p>
        </p:txBody>
      </p:sp>
      <p:pic>
        <p:nvPicPr>
          <p:cNvPr id="361" name="Image 65" descr="preencoded.png"/>
          <p:cNvPicPr>
            <a:picLocks noChangeAspect="1"/>
          </p:cNvPicPr>
          <p:nvPr/>
        </p:nvPicPr>
        <p:blipFill>
          <a:blip r:embed="rId9"/>
          <a:stretch>
            <a:fillRect/>
          </a:stretch>
        </p:blipFill>
        <p:spPr>
          <a:xfrm>
            <a:off x="20040341" y="5284022"/>
            <a:ext cx="507993" cy="508079"/>
          </a:xfrm>
          <a:prstGeom prst="rect">
            <a:avLst/>
          </a:prstGeom>
        </p:spPr>
      </p:pic>
      <p:pic>
        <p:nvPicPr>
          <p:cNvPr id="362" name="Image 66" descr="preencoded.png"/>
          <p:cNvPicPr>
            <a:picLocks noChangeAspect="1"/>
          </p:cNvPicPr>
          <p:nvPr/>
        </p:nvPicPr>
        <p:blipFill>
          <a:blip r:embed="rId10"/>
          <a:stretch>
            <a:fillRect/>
          </a:stretch>
        </p:blipFill>
        <p:spPr>
          <a:xfrm>
            <a:off x="20116540" y="5360234"/>
            <a:ext cx="126998" cy="127020"/>
          </a:xfrm>
          <a:prstGeom prst="rect">
            <a:avLst/>
          </a:prstGeom>
        </p:spPr>
      </p:pic>
      <p:pic>
        <p:nvPicPr>
          <p:cNvPr id="363" name="Image 67" descr="preencoded.png"/>
          <p:cNvPicPr>
            <a:picLocks noChangeAspect="1"/>
          </p:cNvPicPr>
          <p:nvPr/>
        </p:nvPicPr>
        <p:blipFill>
          <a:blip r:embed="rId11"/>
          <a:stretch>
            <a:fillRect/>
          </a:stretch>
        </p:blipFill>
        <p:spPr>
          <a:xfrm>
            <a:off x="20121620" y="5593949"/>
            <a:ext cx="116838" cy="116861"/>
          </a:xfrm>
          <a:prstGeom prst="rect">
            <a:avLst/>
          </a:prstGeom>
        </p:spPr>
      </p:pic>
      <p:sp>
        <p:nvSpPr>
          <p:cNvPr id="364" name="Shape 294"/>
          <p:cNvSpPr/>
          <p:nvPr/>
        </p:nvSpPr>
        <p:spPr>
          <a:xfrm>
            <a:off x="20345137" y="5404691"/>
            <a:ext cx="126998" cy="38106"/>
          </a:xfrm>
          <a:prstGeom prst="rect">
            <a:avLst/>
          </a:prstGeom>
          <a:solidFill>
            <a:srgbClr val="000000">
              <a:alpha val="100000"/>
            </a:srgbClr>
          </a:solidFill>
          <a:ln/>
        </p:spPr>
        <p:txBody>
          <a:bodyPr/>
          <a:lstStyle/>
          <a:p>
            <a:endParaRPr lang="en-US"/>
          </a:p>
        </p:txBody>
      </p:sp>
      <p:sp>
        <p:nvSpPr>
          <p:cNvPr id="365" name="Shape 295"/>
          <p:cNvSpPr/>
          <p:nvPr/>
        </p:nvSpPr>
        <p:spPr>
          <a:xfrm>
            <a:off x="20345137" y="5665082"/>
            <a:ext cx="126998" cy="38106"/>
          </a:xfrm>
          <a:prstGeom prst="rect">
            <a:avLst/>
          </a:prstGeom>
          <a:solidFill>
            <a:srgbClr val="000000">
              <a:alpha val="100000"/>
            </a:srgbClr>
          </a:solidFill>
          <a:ln/>
        </p:spPr>
        <p:txBody>
          <a:bodyPr/>
          <a:lstStyle/>
          <a:p>
            <a:endParaRPr lang="en-US"/>
          </a:p>
        </p:txBody>
      </p:sp>
      <p:sp>
        <p:nvSpPr>
          <p:cNvPr id="366" name="Shape 296"/>
          <p:cNvSpPr/>
          <p:nvPr/>
        </p:nvSpPr>
        <p:spPr>
          <a:xfrm>
            <a:off x="20345137" y="5601572"/>
            <a:ext cx="126998" cy="38106"/>
          </a:xfrm>
          <a:prstGeom prst="rect">
            <a:avLst/>
          </a:prstGeom>
          <a:solidFill>
            <a:srgbClr val="000000">
              <a:alpha val="100000"/>
            </a:srgbClr>
          </a:solidFill>
          <a:ln/>
        </p:spPr>
        <p:txBody>
          <a:bodyPr/>
          <a:lstStyle/>
          <a:p>
            <a:endParaRPr lang="en-US"/>
          </a:p>
        </p:txBody>
      </p:sp>
      <p:pic>
        <p:nvPicPr>
          <p:cNvPr id="367" name="Image 68" descr="preencoded.png"/>
          <p:cNvPicPr>
            <a:picLocks noChangeAspect="1"/>
          </p:cNvPicPr>
          <p:nvPr/>
        </p:nvPicPr>
        <p:blipFill>
          <a:blip r:embed="rId32"/>
          <a:stretch>
            <a:fillRect/>
          </a:stretch>
        </p:blipFill>
        <p:spPr>
          <a:xfrm>
            <a:off x="19964142" y="7964139"/>
            <a:ext cx="634992" cy="635099"/>
          </a:xfrm>
          <a:prstGeom prst="rect">
            <a:avLst/>
          </a:prstGeom>
        </p:spPr>
      </p:pic>
      <p:sp>
        <p:nvSpPr>
          <p:cNvPr id="368" name="Shape 297"/>
          <p:cNvSpPr/>
          <p:nvPr/>
        </p:nvSpPr>
        <p:spPr>
          <a:xfrm>
            <a:off x="20447390" y="8443986"/>
            <a:ext cx="155220" cy="155246"/>
          </a:xfrm>
          <a:prstGeom prst="ellipse">
            <a:avLst/>
          </a:prstGeom>
          <a:solidFill>
            <a:srgbClr val="C61919">
              <a:alpha val="100000"/>
            </a:srgbClr>
          </a:solidFill>
          <a:ln w="25400">
            <a:solidFill>
              <a:srgbClr val="FFFFFF"/>
            </a:solidFill>
            <a:prstDash val="solid"/>
          </a:ln>
        </p:spPr>
        <p:txBody>
          <a:bodyPr/>
          <a:lstStyle/>
          <a:p>
            <a:endParaRPr lang="en-US"/>
          </a:p>
        </p:txBody>
      </p:sp>
      <p:pic>
        <p:nvPicPr>
          <p:cNvPr id="369" name="Image 69" descr="preencoded.png"/>
          <p:cNvPicPr>
            <a:picLocks noChangeAspect="1"/>
          </p:cNvPicPr>
          <p:nvPr/>
        </p:nvPicPr>
        <p:blipFill>
          <a:blip r:embed="rId28"/>
          <a:stretch>
            <a:fillRect/>
          </a:stretch>
        </p:blipFill>
        <p:spPr>
          <a:xfrm>
            <a:off x="19964143" y="15407498"/>
            <a:ext cx="634992" cy="635099"/>
          </a:xfrm>
          <a:prstGeom prst="rect">
            <a:avLst/>
          </a:prstGeom>
        </p:spPr>
      </p:pic>
      <p:sp>
        <p:nvSpPr>
          <p:cNvPr id="370" name="Shape 298"/>
          <p:cNvSpPr/>
          <p:nvPr/>
        </p:nvSpPr>
        <p:spPr>
          <a:xfrm>
            <a:off x="20446723" y="15887345"/>
            <a:ext cx="155220" cy="155246"/>
          </a:xfrm>
          <a:prstGeom prst="ellipse">
            <a:avLst/>
          </a:prstGeom>
          <a:solidFill>
            <a:srgbClr val="15BA00">
              <a:alpha val="100000"/>
            </a:srgbClr>
          </a:solidFill>
          <a:ln w="25400">
            <a:solidFill>
              <a:srgbClr val="FFFFFF"/>
            </a:solidFill>
            <a:prstDash val="solid"/>
          </a:ln>
        </p:spPr>
        <p:txBody>
          <a:bodyPr/>
          <a:lstStyle/>
          <a:p>
            <a:endParaRPr lang="en-US"/>
          </a:p>
        </p:txBody>
      </p:sp>
      <p:pic>
        <p:nvPicPr>
          <p:cNvPr id="371" name="Image 70" descr="preencoded.png"/>
          <p:cNvPicPr>
            <a:picLocks noChangeAspect="1"/>
          </p:cNvPicPr>
          <p:nvPr/>
        </p:nvPicPr>
        <p:blipFill>
          <a:blip r:embed="rId30"/>
          <a:stretch>
            <a:fillRect/>
          </a:stretch>
        </p:blipFill>
        <p:spPr>
          <a:xfrm>
            <a:off x="20510388" y="14899419"/>
            <a:ext cx="15722398" cy="3315216"/>
          </a:xfrm>
          <a:prstGeom prst="rect">
            <a:avLst/>
          </a:prstGeom>
        </p:spPr>
      </p:pic>
      <p:sp>
        <p:nvSpPr>
          <p:cNvPr id="372" name="Text 299"/>
          <p:cNvSpPr/>
          <p:nvPr/>
        </p:nvSpPr>
        <p:spPr>
          <a:xfrm>
            <a:off x="21146634" y="15102650"/>
            <a:ext cx="1035037" cy="489026"/>
          </a:xfrm>
          <a:prstGeom prst="rect">
            <a:avLst/>
          </a:prstGeom>
          <a:noFill/>
          <a:ln/>
        </p:spPr>
        <p:txBody>
          <a:bodyPr wrap="square" lIns="0" tIns="0" rIns="0" bIns="0" rtlCol="0" anchor="t"/>
          <a:lstStyle/>
          <a:p>
            <a:pPr algn="l"/>
            <a:r>
              <a:rPr lang="en-US" sz="2100" dirty="0">
                <a:solidFill>
                  <a:srgbClr val="333333">
                    <a:alpha val="100000"/>
                  </a:srgbClr>
                </a:solidFill>
                <a:latin typeface="Segoe UI Semilight" pitchFamily="34" charset="0"/>
                <a:ea typeface="Segoe UI Semilight" pitchFamily="34" charset="-122"/>
                <a:cs typeface="Segoe UI Semilight" pitchFamily="34" charset="-120"/>
              </a:rPr>
              <a:t>Agent 2</a:t>
            </a:r>
            <a:endParaRPr lang="en-US" sz="2100" dirty="0"/>
          </a:p>
        </p:txBody>
      </p:sp>
      <p:sp>
        <p:nvSpPr>
          <p:cNvPr id="373" name="Text 300"/>
          <p:cNvSpPr/>
          <p:nvPr/>
        </p:nvSpPr>
        <p:spPr>
          <a:xfrm>
            <a:off x="21222833" y="15928279"/>
            <a:ext cx="10642462" cy="838330"/>
          </a:xfrm>
          <a:prstGeom prst="rect">
            <a:avLst/>
          </a:prstGeom>
          <a:noFill/>
          <a:ln/>
        </p:spPr>
        <p:txBody>
          <a:bodyPr wrap="square" lIns="0" tIns="0" rIns="0" bIns="0" rtlCol="0" anchor="t"/>
          <a:lstStyle/>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Agent's first message to the LLM for this internal exchange. If this is the first Agent in the chain, this will typically consist of just the persistent system message for </a:t>
            </a:r>
            <a:endParaRPr lang="en-US" sz="1200" dirty="0"/>
          </a:p>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this Agent. If this is not the first Agent, or not the first LLM exchange for this agent, this will consist of the persistent system message, the chain of thought from its</a:t>
            </a:r>
            <a:endParaRPr lang="en-US" sz="1200" dirty="0"/>
          </a:p>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prior exchanges, and some data returned from a tool or other agent.</a:t>
            </a:r>
            <a:endParaRPr lang="en-US" sz="1200" dirty="0"/>
          </a:p>
        </p:txBody>
      </p:sp>
      <p:sp>
        <p:nvSpPr>
          <p:cNvPr id="374" name="Text 301"/>
          <p:cNvSpPr/>
          <p:nvPr/>
        </p:nvSpPr>
        <p:spPr>
          <a:xfrm>
            <a:off x="21222833" y="17236582"/>
            <a:ext cx="9410578" cy="558887"/>
          </a:xfrm>
          <a:prstGeom prst="rect">
            <a:avLst/>
          </a:prstGeom>
          <a:noFill/>
          <a:ln/>
        </p:spPr>
        <p:txBody>
          <a:bodyPr wrap="square" lIns="0" tIns="0" rIns="0" bIns="0" rtlCol="0" anchor="t"/>
          <a:lstStyle/>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LLM's response to the Agent's message. Note that an Agent is not capable of generative text on their own, so this response from the LLM is the</a:t>
            </a:r>
            <a:endParaRPr lang="en-US" sz="1200" dirty="0"/>
          </a:p>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thought or reasoning process of this Agent. This can be thought of as an inner monologue.</a:t>
            </a:r>
            <a:endParaRPr lang="en-US" sz="1200" dirty="0"/>
          </a:p>
        </p:txBody>
      </p:sp>
      <p:sp>
        <p:nvSpPr>
          <p:cNvPr id="375" name="Shape 302"/>
          <p:cNvSpPr/>
          <p:nvPr/>
        </p:nvSpPr>
        <p:spPr>
          <a:xfrm>
            <a:off x="21210133" y="17173072"/>
            <a:ext cx="4368743" cy="12702"/>
          </a:xfrm>
          <a:prstGeom prst="rect">
            <a:avLst/>
          </a:prstGeom>
          <a:solidFill>
            <a:srgbClr val="000000">
              <a:alpha val="12000"/>
            </a:srgbClr>
          </a:solidFill>
          <a:ln/>
        </p:spPr>
        <p:txBody>
          <a:bodyPr/>
          <a:lstStyle/>
          <a:p>
            <a:endParaRPr lang="en-US"/>
          </a:p>
        </p:txBody>
      </p:sp>
      <p:sp>
        <p:nvSpPr>
          <p:cNvPr id="376" name="Text 303"/>
          <p:cNvSpPr/>
          <p:nvPr/>
        </p:nvSpPr>
        <p:spPr>
          <a:xfrm>
            <a:off x="21210133" y="16982543"/>
            <a:ext cx="838189" cy="228636"/>
          </a:xfrm>
          <a:prstGeom prst="rect">
            <a:avLst/>
          </a:prstGeom>
          <a:noFill/>
          <a:ln/>
        </p:spPr>
        <p:txBody>
          <a:bodyPr wrap="square" lIns="0" tIns="0" rIns="0" bIns="0" rtlCol="0" anchor="t"/>
          <a:lstStyle/>
          <a:p>
            <a:pPr algn="l"/>
            <a:r>
              <a:rPr lang="en-US" sz="1000" kern="0" spc="150" dirty="0">
                <a:solidFill>
                  <a:srgbClr val="000000">
                    <a:alpha val="60000"/>
                  </a:srgbClr>
                </a:solidFill>
                <a:latin typeface="Roboto Medium" pitchFamily="34" charset="0"/>
                <a:ea typeface="Roboto Medium" pitchFamily="34" charset="-122"/>
                <a:cs typeface="Roboto Medium" pitchFamily="34" charset="-120"/>
              </a:rPr>
              <a:t>RESPONSE</a:t>
            </a:r>
            <a:endParaRPr lang="en-US" sz="1000" dirty="0"/>
          </a:p>
        </p:txBody>
      </p:sp>
      <p:sp>
        <p:nvSpPr>
          <p:cNvPr id="377" name="Text 304"/>
          <p:cNvSpPr/>
          <p:nvPr/>
        </p:nvSpPr>
        <p:spPr>
          <a:xfrm>
            <a:off x="21210133" y="15636133"/>
            <a:ext cx="761990" cy="228636"/>
          </a:xfrm>
          <a:prstGeom prst="rect">
            <a:avLst/>
          </a:prstGeom>
          <a:noFill/>
          <a:ln/>
        </p:spPr>
        <p:txBody>
          <a:bodyPr wrap="square" lIns="0" tIns="0" rIns="0" bIns="0" rtlCol="0" anchor="t"/>
          <a:lstStyle/>
          <a:p>
            <a:pPr algn="l"/>
            <a:r>
              <a:rPr lang="en-US" sz="1000" kern="0" spc="150" dirty="0">
                <a:solidFill>
                  <a:srgbClr val="000000">
                    <a:alpha val="60000"/>
                  </a:srgbClr>
                </a:solidFill>
                <a:latin typeface="Roboto Medium" pitchFamily="34" charset="0"/>
                <a:ea typeface="Roboto Medium" pitchFamily="34" charset="-122"/>
                <a:cs typeface="Roboto Medium" pitchFamily="34" charset="-120"/>
              </a:rPr>
              <a:t>MESSAGE</a:t>
            </a:r>
            <a:endParaRPr lang="en-US" sz="1000" dirty="0"/>
          </a:p>
        </p:txBody>
      </p:sp>
      <p:sp>
        <p:nvSpPr>
          <p:cNvPr id="378" name="Shape 305"/>
          <p:cNvSpPr/>
          <p:nvPr/>
        </p:nvSpPr>
        <p:spPr>
          <a:xfrm>
            <a:off x="21210133" y="15826663"/>
            <a:ext cx="4368743" cy="12702"/>
          </a:xfrm>
          <a:prstGeom prst="rect">
            <a:avLst/>
          </a:prstGeom>
          <a:solidFill>
            <a:srgbClr val="000000">
              <a:alpha val="12000"/>
            </a:srgbClr>
          </a:solidFill>
          <a:ln/>
        </p:spPr>
        <p:txBody>
          <a:bodyPr/>
          <a:lstStyle/>
          <a:p>
            <a:endParaRPr lang="en-US"/>
          </a:p>
        </p:txBody>
      </p:sp>
      <p:pic>
        <p:nvPicPr>
          <p:cNvPr id="379" name="Image 71" descr="preencoded.png"/>
          <p:cNvPicPr>
            <a:picLocks noChangeAspect="1"/>
          </p:cNvPicPr>
          <p:nvPr/>
        </p:nvPicPr>
        <p:blipFill>
          <a:blip r:embed="rId31"/>
          <a:stretch>
            <a:fillRect/>
          </a:stretch>
        </p:blipFill>
        <p:spPr>
          <a:xfrm>
            <a:off x="20508980" y="18621098"/>
            <a:ext cx="15722398" cy="2324456"/>
          </a:xfrm>
          <a:prstGeom prst="rect">
            <a:avLst/>
          </a:prstGeom>
        </p:spPr>
      </p:pic>
      <p:sp>
        <p:nvSpPr>
          <p:cNvPr id="380" name="Text 306"/>
          <p:cNvSpPr/>
          <p:nvPr/>
        </p:nvSpPr>
        <p:spPr>
          <a:xfrm>
            <a:off x="21145226" y="18824329"/>
            <a:ext cx="831839" cy="489026"/>
          </a:xfrm>
          <a:prstGeom prst="rect">
            <a:avLst/>
          </a:prstGeom>
          <a:noFill/>
          <a:ln/>
        </p:spPr>
        <p:txBody>
          <a:bodyPr wrap="square" lIns="0" tIns="0" rIns="0" bIns="0" rtlCol="0" anchor="t"/>
          <a:lstStyle/>
          <a:p>
            <a:pPr algn="l"/>
            <a:r>
              <a:rPr lang="en-US" sz="2100" dirty="0">
                <a:solidFill>
                  <a:srgbClr val="333333">
                    <a:alpha val="100000"/>
                  </a:srgbClr>
                </a:solidFill>
                <a:latin typeface="Segoe UI Semilight" pitchFamily="34" charset="0"/>
                <a:ea typeface="Segoe UI Semilight" pitchFamily="34" charset="-122"/>
                <a:cs typeface="Segoe UI Semilight" pitchFamily="34" charset="-120"/>
              </a:rPr>
              <a:t>Tool 4</a:t>
            </a:r>
            <a:endParaRPr lang="en-US" sz="2100" dirty="0"/>
          </a:p>
        </p:txBody>
      </p:sp>
      <p:sp>
        <p:nvSpPr>
          <p:cNvPr id="381" name="Text 307"/>
          <p:cNvSpPr/>
          <p:nvPr/>
        </p:nvSpPr>
        <p:spPr>
          <a:xfrm>
            <a:off x="21221425" y="19649958"/>
            <a:ext cx="1168385" cy="279443"/>
          </a:xfrm>
          <a:prstGeom prst="rect">
            <a:avLst/>
          </a:prstGeom>
          <a:noFill/>
          <a:ln/>
        </p:spPr>
        <p:txBody>
          <a:bodyPr wrap="square" lIns="0" tIns="0" rIns="0" bIns="0" rtlCol="0" anchor="t"/>
          <a:lstStyle/>
          <a:p>
            <a:pPr algn="l"/>
            <a:r>
              <a:rPr lang="en-US" sz="1200" dirty="0">
                <a:solidFill>
                  <a:srgbClr val="6200EE">
                    <a:alpha val="100000"/>
                  </a:srgbClr>
                </a:solidFill>
                <a:latin typeface="Roboto Mono Medium" pitchFamily="34" charset="0"/>
                <a:ea typeface="Roboto Mono Medium" pitchFamily="34" charset="-122"/>
                <a:cs typeface="Roboto Mono Medium" pitchFamily="34" charset="-120"/>
              </a:rPr>
              <a:t>Var1    Var2</a:t>
            </a:r>
            <a:endParaRPr lang="en-US" sz="1200" dirty="0"/>
          </a:p>
        </p:txBody>
      </p:sp>
      <p:sp>
        <p:nvSpPr>
          <p:cNvPr id="382" name="Text 308"/>
          <p:cNvSpPr/>
          <p:nvPr/>
        </p:nvSpPr>
        <p:spPr>
          <a:xfrm>
            <a:off x="21208726" y="19357812"/>
            <a:ext cx="596892" cy="228636"/>
          </a:xfrm>
          <a:prstGeom prst="rect">
            <a:avLst/>
          </a:prstGeom>
          <a:noFill/>
          <a:ln/>
        </p:spPr>
        <p:txBody>
          <a:bodyPr wrap="square" lIns="0" tIns="0" rIns="0" bIns="0" rtlCol="0" anchor="t"/>
          <a:lstStyle/>
          <a:p>
            <a:pPr algn="l"/>
            <a:r>
              <a:rPr lang="en-US" sz="1000" kern="0" spc="150" dirty="0">
                <a:solidFill>
                  <a:srgbClr val="000000">
                    <a:alpha val="60000"/>
                  </a:srgbClr>
                </a:solidFill>
                <a:latin typeface="Roboto Medium" pitchFamily="34" charset="0"/>
                <a:ea typeface="Roboto Medium" pitchFamily="34" charset="-122"/>
                <a:cs typeface="Roboto Medium" pitchFamily="34" charset="-120"/>
              </a:rPr>
              <a:t>INPUTS</a:t>
            </a:r>
            <a:endParaRPr lang="en-US" sz="1000" dirty="0"/>
          </a:p>
        </p:txBody>
      </p:sp>
      <p:sp>
        <p:nvSpPr>
          <p:cNvPr id="383" name="Shape 309"/>
          <p:cNvSpPr/>
          <p:nvPr/>
        </p:nvSpPr>
        <p:spPr>
          <a:xfrm>
            <a:off x="21208726" y="19548342"/>
            <a:ext cx="2730465" cy="12702"/>
          </a:xfrm>
          <a:prstGeom prst="rect">
            <a:avLst/>
          </a:prstGeom>
          <a:solidFill>
            <a:srgbClr val="000000">
              <a:alpha val="12000"/>
            </a:srgbClr>
          </a:solidFill>
          <a:ln/>
        </p:spPr>
        <p:txBody>
          <a:bodyPr/>
          <a:lstStyle/>
          <a:p>
            <a:endParaRPr lang="en-US"/>
          </a:p>
        </p:txBody>
      </p:sp>
      <p:sp>
        <p:nvSpPr>
          <p:cNvPr id="384" name="Text 310"/>
          <p:cNvSpPr/>
          <p:nvPr/>
        </p:nvSpPr>
        <p:spPr>
          <a:xfrm>
            <a:off x="24472583" y="19586448"/>
            <a:ext cx="2298670" cy="952648"/>
          </a:xfrm>
          <a:prstGeom prst="rect">
            <a:avLst/>
          </a:prstGeom>
          <a:noFill/>
          <a:ln/>
        </p:spPr>
        <p:txBody>
          <a:bodyPr wrap="square" lIns="0" tIns="0" rIns="0" bIns="0" rtlCol="0" anchor="t"/>
          <a:lstStyle/>
          <a:p>
            <a:pPr algn="l"/>
            <a:r>
              <a:rPr lang="en-US" sz="1600" dirty="0">
                <a:solidFill>
                  <a:srgbClr val="333333">
                    <a:alpha val="100000"/>
                  </a:srgbClr>
                </a:solidFill>
                <a:latin typeface="Apple Chancery Chancery" pitchFamily="34" charset="0"/>
                <a:ea typeface="Apple Chancery Chancery" pitchFamily="34" charset="-122"/>
                <a:cs typeface="Apple Chancery Chancery" pitchFamily="34" charset="-120"/>
              </a:rPr>
              <a:t>f</a:t>
            </a:r>
            <a:r>
              <a:rPr lang="en-US" sz="1200" dirty="0">
                <a:solidFill>
                  <a:srgbClr val="333333">
                    <a:alpha val="100000"/>
                  </a:srgbClr>
                </a:solidFill>
                <a:latin typeface="Roboto Mono Medium" pitchFamily="34" charset="0"/>
                <a:ea typeface="Roboto Mono Medium" pitchFamily="34" charset="-122"/>
                <a:cs typeface="Roboto Mono Medium" pitchFamily="34" charset="-120"/>
              </a:rPr>
              <a:t>(</a:t>
            </a:r>
            <a:r>
              <a:rPr lang="en-US" sz="1200" dirty="0">
                <a:solidFill>
                  <a:srgbClr val="6200EE">
                    <a:alpha val="100000"/>
                  </a:srgbClr>
                </a:solidFill>
                <a:latin typeface="Roboto Mono Medium" pitchFamily="34" charset="0"/>
                <a:ea typeface="Roboto Mono Medium" pitchFamily="34" charset="-122"/>
                <a:cs typeface="Roboto Mono Medium" pitchFamily="34" charset="-120"/>
              </a:rPr>
              <a:t>Var1</a:t>
            </a:r>
            <a:r>
              <a:rPr lang="en-US" sz="1200" dirty="0">
                <a:solidFill>
                  <a:srgbClr val="333333">
                    <a:alpha val="100000"/>
                  </a:srgbClr>
                </a:solidFill>
                <a:latin typeface="Roboto Mono Medium" pitchFamily="34" charset="0"/>
                <a:ea typeface="Roboto Mono Medium" pitchFamily="34" charset="-122"/>
                <a:cs typeface="Roboto Mono Medium" pitchFamily="34" charset="-120"/>
              </a:rPr>
              <a:t>) = V/dx = X</a:t>
            </a:r>
            <a:endParaRPr lang="en-US" sz="1600" dirty="0"/>
          </a:p>
          <a:p>
            <a:pPr algn="l"/>
            <a:r>
              <a:rPr lang="en-US" sz="1600" dirty="0">
                <a:solidFill>
                  <a:srgbClr val="333333">
                    <a:alpha val="100000"/>
                  </a:srgbClr>
                </a:solidFill>
                <a:latin typeface="Apple Chancery Chancery" pitchFamily="34" charset="0"/>
                <a:ea typeface="Apple Chancery Chancery" pitchFamily="34" charset="-122"/>
                <a:cs typeface="Apple Chancery Chancery" pitchFamily="34" charset="-120"/>
              </a:rPr>
              <a:t>f</a:t>
            </a:r>
            <a:r>
              <a:rPr lang="en-US" sz="1200" dirty="0">
                <a:solidFill>
                  <a:srgbClr val="333333">
                    <a:alpha val="100000"/>
                  </a:srgbClr>
                </a:solidFill>
                <a:latin typeface="Roboto Mono Medium" pitchFamily="34" charset="0"/>
                <a:ea typeface="Roboto Mono Medium" pitchFamily="34" charset="-122"/>
                <a:cs typeface="Roboto Mono Medium" pitchFamily="34" charset="-120"/>
              </a:rPr>
              <a:t>(</a:t>
            </a:r>
            <a:r>
              <a:rPr lang="en-US" sz="1200" dirty="0">
                <a:solidFill>
                  <a:srgbClr val="6200EE">
                    <a:alpha val="100000"/>
                  </a:srgbClr>
                </a:solidFill>
                <a:latin typeface="Roboto Mono Medium" pitchFamily="34" charset="0"/>
                <a:ea typeface="Roboto Mono Medium" pitchFamily="34" charset="-122"/>
                <a:cs typeface="Roboto Mono Medium" pitchFamily="34" charset="-120"/>
              </a:rPr>
              <a:t>Var2</a:t>
            </a:r>
            <a:r>
              <a:rPr lang="en-US" sz="1200" dirty="0">
                <a:solidFill>
                  <a:srgbClr val="333333">
                    <a:alpha val="100000"/>
                  </a:srgbClr>
                </a:solidFill>
                <a:latin typeface="Roboto Mono Medium" pitchFamily="34" charset="0"/>
                <a:ea typeface="Roboto Mono Medium" pitchFamily="34" charset="-122"/>
                <a:cs typeface="Roboto Mono Medium" pitchFamily="34" charset="-120"/>
              </a:rPr>
              <a:t>, X) = x/dx = </a:t>
            </a:r>
            <a:r>
              <a:rPr lang="en-US" sz="1200" dirty="0">
                <a:solidFill>
                  <a:srgbClr val="017374">
                    <a:alpha val="100000"/>
                  </a:srgbClr>
                </a:solidFill>
                <a:latin typeface="Roboto Mono Medium" pitchFamily="34" charset="0"/>
                <a:ea typeface="Roboto Mono Medium" pitchFamily="34" charset="-122"/>
                <a:cs typeface="Roboto Mono Medium" pitchFamily="34" charset="-120"/>
              </a:rPr>
              <a:t>Out1</a:t>
            </a:r>
            <a:endParaRPr lang="en-US" sz="1600" dirty="0"/>
          </a:p>
          <a:p>
            <a:pPr algn="l"/>
            <a:r>
              <a:rPr lang="en-US" sz="1600" dirty="0">
                <a:solidFill>
                  <a:srgbClr val="333333">
                    <a:alpha val="100000"/>
                  </a:srgbClr>
                </a:solidFill>
                <a:latin typeface="Apple Chancery Chancery" pitchFamily="34" charset="0"/>
                <a:ea typeface="Apple Chancery Chancery" pitchFamily="34" charset="-122"/>
                <a:cs typeface="Apple Chancery Chancery" pitchFamily="34" charset="-120"/>
              </a:rPr>
              <a:t>f</a:t>
            </a:r>
            <a:r>
              <a:rPr lang="en-US" sz="1200" dirty="0">
                <a:solidFill>
                  <a:srgbClr val="333333">
                    <a:alpha val="100000"/>
                  </a:srgbClr>
                </a:solidFill>
                <a:latin typeface="Roboto Mono Medium" pitchFamily="34" charset="0"/>
                <a:ea typeface="Roboto Mono Medium" pitchFamily="34" charset="-122"/>
                <a:cs typeface="Roboto Mono Medium" pitchFamily="34" charset="-120"/>
              </a:rPr>
              <a:t>(</a:t>
            </a:r>
            <a:r>
              <a:rPr lang="en-US" sz="1200" dirty="0">
                <a:solidFill>
                  <a:srgbClr val="6200EE">
                    <a:alpha val="100000"/>
                  </a:srgbClr>
                </a:solidFill>
                <a:latin typeface="Roboto Mono Medium" pitchFamily="34" charset="0"/>
                <a:ea typeface="Roboto Mono Medium" pitchFamily="34" charset="-122"/>
                <a:cs typeface="Roboto Mono Medium" pitchFamily="34" charset="-120"/>
              </a:rPr>
              <a:t>Var3</a:t>
            </a:r>
            <a:r>
              <a:rPr lang="en-US" sz="1200" dirty="0">
                <a:solidFill>
                  <a:srgbClr val="333333">
                    <a:alpha val="100000"/>
                  </a:srgbClr>
                </a:solidFill>
                <a:latin typeface="Roboto Mono Medium" pitchFamily="34" charset="0"/>
                <a:ea typeface="Roboto Mono Medium" pitchFamily="34" charset="-122"/>
                <a:cs typeface="Roboto Mono Medium" pitchFamily="34" charset="-120"/>
              </a:rPr>
              <a:t>) = Vx/dx = </a:t>
            </a:r>
            <a:r>
              <a:rPr lang="en-US" sz="1200" dirty="0">
                <a:solidFill>
                  <a:srgbClr val="017374">
                    <a:alpha val="100000"/>
                  </a:srgbClr>
                </a:solidFill>
                <a:latin typeface="Roboto Mono Medium" pitchFamily="34" charset="0"/>
                <a:ea typeface="Roboto Mono Medium" pitchFamily="34" charset="-122"/>
                <a:cs typeface="Roboto Mono Medium" pitchFamily="34" charset="-120"/>
              </a:rPr>
              <a:t>Out2</a:t>
            </a:r>
            <a:endParaRPr lang="en-US" sz="1600" dirty="0"/>
          </a:p>
        </p:txBody>
      </p:sp>
      <p:sp>
        <p:nvSpPr>
          <p:cNvPr id="385" name="Text 311"/>
          <p:cNvSpPr/>
          <p:nvPr/>
        </p:nvSpPr>
        <p:spPr>
          <a:xfrm>
            <a:off x="24510683" y="19357812"/>
            <a:ext cx="901688" cy="228636"/>
          </a:xfrm>
          <a:prstGeom prst="rect">
            <a:avLst/>
          </a:prstGeom>
          <a:noFill/>
          <a:ln/>
        </p:spPr>
        <p:txBody>
          <a:bodyPr wrap="square" lIns="0" tIns="0" rIns="0" bIns="0" rtlCol="0" anchor="t"/>
          <a:lstStyle/>
          <a:p>
            <a:pPr algn="l"/>
            <a:r>
              <a:rPr lang="en-US" sz="1000" kern="0" spc="150" dirty="0">
                <a:solidFill>
                  <a:srgbClr val="000000">
                    <a:alpha val="60000"/>
                  </a:srgbClr>
                </a:solidFill>
                <a:latin typeface="Roboto Medium" pitchFamily="34" charset="0"/>
                <a:ea typeface="Roboto Medium" pitchFamily="34" charset="-122"/>
                <a:cs typeface="Roboto Medium" pitchFamily="34" charset="-120"/>
              </a:rPr>
              <a:t>FUNCTIONS</a:t>
            </a:r>
            <a:endParaRPr lang="en-US" sz="1000" dirty="0"/>
          </a:p>
        </p:txBody>
      </p:sp>
      <p:sp>
        <p:nvSpPr>
          <p:cNvPr id="386" name="Shape 312"/>
          <p:cNvSpPr/>
          <p:nvPr/>
        </p:nvSpPr>
        <p:spPr>
          <a:xfrm>
            <a:off x="24510683" y="19548342"/>
            <a:ext cx="2730465" cy="12702"/>
          </a:xfrm>
          <a:prstGeom prst="rect">
            <a:avLst/>
          </a:prstGeom>
          <a:solidFill>
            <a:srgbClr val="000000">
              <a:alpha val="12000"/>
            </a:srgbClr>
          </a:solidFill>
          <a:ln/>
        </p:spPr>
        <p:txBody>
          <a:bodyPr/>
          <a:lstStyle/>
          <a:p>
            <a:endParaRPr lang="en-US"/>
          </a:p>
        </p:txBody>
      </p:sp>
      <p:sp>
        <p:nvSpPr>
          <p:cNvPr id="387" name="Text 313"/>
          <p:cNvSpPr/>
          <p:nvPr/>
        </p:nvSpPr>
        <p:spPr>
          <a:xfrm>
            <a:off x="28587330" y="19649958"/>
            <a:ext cx="3314657" cy="965350"/>
          </a:xfrm>
          <a:prstGeom prst="rect">
            <a:avLst/>
          </a:prstGeom>
          <a:noFill/>
          <a:ln/>
        </p:spPr>
        <p:txBody>
          <a:bodyPr wrap="square" lIns="0" tIns="0" rIns="0" bIns="0" rtlCol="0" anchor="t"/>
          <a:lstStyle/>
          <a:p>
            <a:pPr algn="l"/>
            <a:r>
              <a:rPr lang="en-US" sz="1200" dirty="0">
                <a:solidFill>
                  <a:srgbClr val="333333">
                    <a:alpha val="100000"/>
                  </a:srgbClr>
                </a:solidFill>
                <a:latin typeface="Segoe UI Regular" pitchFamily="34" charset="0"/>
                <a:ea typeface="Segoe UI Regular" pitchFamily="34" charset="-122"/>
                <a:cs typeface="Segoe UI Regular" pitchFamily="34" charset="-120"/>
              </a:rPr>
              <a:t>Function results can be imputed into a prompt</a:t>
            </a:r>
            <a:endParaRPr lang="en-US" sz="1200" dirty="0"/>
          </a:p>
          <a:p>
            <a:pPr algn="l"/>
            <a:r>
              <a:rPr lang="en-US" sz="1200" dirty="0">
                <a:solidFill>
                  <a:srgbClr val="333333">
                    <a:alpha val="100000"/>
                  </a:srgbClr>
                </a:solidFill>
                <a:latin typeface="Segoe UI Regular" pitchFamily="34" charset="0"/>
                <a:ea typeface="Segoe UI Regular" pitchFamily="34" charset="-122"/>
                <a:cs typeface="Segoe UI Regular" pitchFamily="34" charset="-120"/>
              </a:rPr>
              <a:t>that gets returned to an Agent. For example, the</a:t>
            </a:r>
            <a:endParaRPr lang="en-US" sz="1200" dirty="0"/>
          </a:p>
          <a:p>
            <a:pPr algn="l"/>
            <a:r>
              <a:rPr lang="en-US" sz="1200" dirty="0">
                <a:solidFill>
                  <a:srgbClr val="333333">
                    <a:alpha val="100000"/>
                  </a:srgbClr>
                </a:solidFill>
                <a:latin typeface="Segoe UI Regular" pitchFamily="34" charset="0"/>
                <a:ea typeface="Segoe UI Regular" pitchFamily="34" charset="-122"/>
                <a:cs typeface="Segoe UI Regular" pitchFamily="34" charset="-120"/>
              </a:rPr>
              <a:t>output of the second equation is </a:t>
            </a:r>
            <a:r>
              <a:rPr lang="en-US" sz="1200" dirty="0">
                <a:solidFill>
                  <a:srgbClr val="017374">
                    <a:alpha val="100000"/>
                  </a:srgbClr>
                </a:solidFill>
                <a:latin typeface="Roboto Mono Medium" pitchFamily="34" charset="0"/>
                <a:ea typeface="Roboto Mono Medium" pitchFamily="34" charset="-122"/>
                <a:cs typeface="Roboto Mono Medium" pitchFamily="34" charset="-120"/>
              </a:rPr>
              <a:t>{Out1}</a:t>
            </a:r>
            <a:r>
              <a:rPr lang="en-US" sz="1200" dirty="0">
                <a:solidFill>
                  <a:srgbClr val="333333">
                    <a:alpha val="100000"/>
                  </a:srgbClr>
                </a:solidFill>
                <a:latin typeface="Segoe UI Regular" pitchFamily="34" charset="0"/>
                <a:ea typeface="Segoe UI Regular" pitchFamily="34" charset="-122"/>
                <a:cs typeface="Segoe UI Regular" pitchFamily="34" charset="-120"/>
              </a:rPr>
              <a:t>, while</a:t>
            </a:r>
            <a:endParaRPr lang="en-US" sz="1200" dirty="0"/>
          </a:p>
          <a:p>
            <a:pPr algn="l"/>
            <a:r>
              <a:rPr lang="en-US" sz="1200" dirty="0">
                <a:solidFill>
                  <a:srgbClr val="017374">
                    <a:alpha val="100000"/>
                  </a:srgbClr>
                </a:solidFill>
                <a:latin typeface="Roboto Mono Medium" pitchFamily="34" charset="0"/>
                <a:ea typeface="Roboto Mono Medium" pitchFamily="34" charset="-122"/>
                <a:cs typeface="Roboto Mono Medium" pitchFamily="34" charset="-120"/>
              </a:rPr>
              <a:t>{Out2}</a:t>
            </a:r>
            <a:r>
              <a:rPr lang="en-US" sz="1200" dirty="0">
                <a:solidFill>
                  <a:srgbClr val="333333">
                    <a:alpha val="100000"/>
                  </a:srgbClr>
                </a:solidFill>
                <a:latin typeface="Segoe UI Regular" pitchFamily="34" charset="0"/>
                <a:ea typeface="Segoe UI Regular" pitchFamily="34" charset="-122"/>
                <a:cs typeface="Segoe UI Regular" pitchFamily="34" charset="-120"/>
              </a:rPr>
              <a:t> is the result of the last algorithm.</a:t>
            </a:r>
            <a:endParaRPr lang="en-US" sz="1200" dirty="0"/>
          </a:p>
        </p:txBody>
      </p:sp>
      <p:sp>
        <p:nvSpPr>
          <p:cNvPr id="388" name="Text 314"/>
          <p:cNvSpPr/>
          <p:nvPr/>
        </p:nvSpPr>
        <p:spPr>
          <a:xfrm>
            <a:off x="28574630" y="19357812"/>
            <a:ext cx="736590" cy="228636"/>
          </a:xfrm>
          <a:prstGeom prst="rect">
            <a:avLst/>
          </a:prstGeom>
          <a:noFill/>
          <a:ln/>
        </p:spPr>
        <p:txBody>
          <a:bodyPr wrap="square" lIns="0" tIns="0" rIns="0" bIns="0" rtlCol="0" anchor="t"/>
          <a:lstStyle/>
          <a:p>
            <a:pPr algn="l"/>
            <a:r>
              <a:rPr lang="en-US" sz="1000" kern="0" spc="150" dirty="0">
                <a:solidFill>
                  <a:srgbClr val="000000">
                    <a:alpha val="60000"/>
                  </a:srgbClr>
                </a:solidFill>
                <a:latin typeface="Roboto Medium" pitchFamily="34" charset="0"/>
                <a:ea typeface="Roboto Medium" pitchFamily="34" charset="-122"/>
                <a:cs typeface="Roboto Medium" pitchFamily="34" charset="-120"/>
              </a:rPr>
              <a:t>OUTPUTS</a:t>
            </a:r>
            <a:endParaRPr lang="en-US" sz="1000" dirty="0"/>
          </a:p>
        </p:txBody>
      </p:sp>
      <p:sp>
        <p:nvSpPr>
          <p:cNvPr id="389" name="Shape 315"/>
          <p:cNvSpPr/>
          <p:nvPr/>
        </p:nvSpPr>
        <p:spPr>
          <a:xfrm>
            <a:off x="28574630" y="19548342"/>
            <a:ext cx="2730465" cy="12702"/>
          </a:xfrm>
          <a:prstGeom prst="rect">
            <a:avLst/>
          </a:prstGeom>
          <a:solidFill>
            <a:srgbClr val="000000">
              <a:alpha val="12000"/>
            </a:srgbClr>
          </a:solidFill>
          <a:ln/>
        </p:spPr>
        <p:txBody>
          <a:bodyPr/>
          <a:lstStyle/>
          <a:p>
            <a:endParaRPr lang="en-US"/>
          </a:p>
        </p:txBody>
      </p:sp>
      <p:sp>
        <p:nvSpPr>
          <p:cNvPr id="390" name="Shape 316"/>
          <p:cNvSpPr/>
          <p:nvPr/>
        </p:nvSpPr>
        <p:spPr>
          <a:xfrm>
            <a:off x="20014941" y="19141879"/>
            <a:ext cx="609592" cy="609695"/>
          </a:xfrm>
          <a:prstGeom prst="rect">
            <a:avLst/>
          </a:prstGeom>
          <a:noFill/>
          <a:ln/>
        </p:spPr>
        <p:txBody>
          <a:bodyPr/>
          <a:lstStyle/>
          <a:p>
            <a:endParaRPr lang="en-US"/>
          </a:p>
        </p:txBody>
      </p:sp>
      <p:pic>
        <p:nvPicPr>
          <p:cNvPr id="391" name="Image 72" descr="preencoded.png"/>
          <p:cNvPicPr>
            <a:picLocks noChangeAspect="1"/>
          </p:cNvPicPr>
          <p:nvPr/>
        </p:nvPicPr>
        <p:blipFill>
          <a:blip r:embed="rId20"/>
          <a:stretch>
            <a:fillRect/>
          </a:stretch>
        </p:blipFill>
        <p:spPr>
          <a:xfrm>
            <a:off x="20040334" y="19195230"/>
            <a:ext cx="558799" cy="502993"/>
          </a:xfrm>
          <a:prstGeom prst="rect">
            <a:avLst/>
          </a:prstGeom>
        </p:spPr>
      </p:pic>
      <p:sp>
        <p:nvSpPr>
          <p:cNvPr id="392" name="Shape 317"/>
          <p:cNvSpPr/>
          <p:nvPr/>
        </p:nvSpPr>
        <p:spPr>
          <a:xfrm>
            <a:off x="36969222" y="2540395"/>
            <a:ext cx="304796" cy="19167283"/>
          </a:xfrm>
          <a:prstGeom prst="roundRect">
            <a:avLst>
              <a:gd name="adj" fmla="val 45001"/>
            </a:avLst>
          </a:prstGeom>
          <a:solidFill>
            <a:srgbClr val="FFFFFF">
              <a:alpha val="100000"/>
            </a:srgbClr>
          </a:solidFill>
          <a:ln w="12700">
            <a:solidFill>
              <a:srgbClr val="707070"/>
            </a:solidFill>
            <a:prstDash val="solid"/>
          </a:ln>
        </p:spPr>
        <p:txBody>
          <a:bodyPr/>
          <a:lstStyle/>
          <a:p>
            <a:endParaRPr lang="en-US"/>
          </a:p>
        </p:txBody>
      </p:sp>
      <p:sp>
        <p:nvSpPr>
          <p:cNvPr id="393" name="Shape 318"/>
          <p:cNvSpPr/>
          <p:nvPr/>
        </p:nvSpPr>
        <p:spPr>
          <a:xfrm>
            <a:off x="36969222" y="10466429"/>
            <a:ext cx="304796" cy="10796680"/>
          </a:xfrm>
          <a:prstGeom prst="roundRect">
            <a:avLst>
              <a:gd name="adj" fmla="val 45001"/>
            </a:avLst>
          </a:prstGeom>
          <a:solidFill>
            <a:srgbClr val="000000">
              <a:alpha val="60000"/>
            </a:srgbClr>
          </a:solidFill>
          <a:ln w="12700">
            <a:solidFill>
              <a:srgbClr val="000000">
                <a:alpha val="60000"/>
              </a:srgbClr>
            </a:solidFill>
            <a:prstDash val="solid"/>
          </a:ln>
        </p:spPr>
        <p:txBody>
          <a:bodyPr/>
          <a:lstStyle/>
          <a:p>
            <a:endParaRPr lang="en-US"/>
          </a:p>
        </p:txBody>
      </p:sp>
      <p:sp>
        <p:nvSpPr>
          <p:cNvPr id="394" name="Text 319"/>
          <p:cNvSpPr/>
          <p:nvPr/>
        </p:nvSpPr>
        <p:spPr>
          <a:xfrm>
            <a:off x="21221425" y="2667415"/>
            <a:ext cx="4559241" cy="279443"/>
          </a:xfrm>
          <a:prstGeom prst="rect">
            <a:avLst/>
          </a:prstGeom>
          <a:noFill/>
          <a:ln/>
        </p:spPr>
        <p:txBody>
          <a:bodyPr wrap="square" lIns="0" tIns="0" rIns="0" bIns="0" rtlCol="0" anchor="t"/>
          <a:lstStyle/>
          <a:p>
            <a:pPr algn="l"/>
            <a:r>
              <a:rPr lang="en-US" sz="1200" dirty="0">
                <a:solidFill>
                  <a:srgbClr val="333333">
                    <a:alpha val="100000"/>
                  </a:srgbClr>
                </a:solidFill>
                <a:latin typeface="Segoe UI Semilight" pitchFamily="34" charset="0"/>
                <a:ea typeface="Segoe UI Semilight" pitchFamily="34" charset="-122"/>
                <a:cs typeface="Segoe UI Semilight" pitchFamily="34" charset="-120"/>
              </a:rPr>
              <a:t>prior exchanges, and some data returned from a tool or other agent.</a:t>
            </a:r>
            <a:endParaRPr lang="en-US" sz="1200" dirty="0"/>
          </a:p>
        </p:txBody>
      </p:sp>
      <p:pic>
        <p:nvPicPr>
          <p:cNvPr id="395" name="Image 73" descr="preencoded.png"/>
          <p:cNvPicPr>
            <a:picLocks noChangeAspect="1"/>
          </p:cNvPicPr>
          <p:nvPr/>
        </p:nvPicPr>
        <p:blipFill>
          <a:blip r:embed="rId33"/>
          <a:stretch>
            <a:fillRect/>
          </a:stretch>
        </p:blipFill>
        <p:spPr>
          <a:xfrm>
            <a:off x="19875243" y="2572150"/>
            <a:ext cx="16917756" cy="38106"/>
          </a:xfrm>
          <a:prstGeom prst="rect">
            <a:avLst/>
          </a:prstGeom>
        </p:spPr>
      </p:pic>
      <p:pic>
        <p:nvPicPr>
          <p:cNvPr id="396" name="Image 74" descr="preencoded.png"/>
          <p:cNvPicPr>
            <a:picLocks noChangeAspect="1"/>
          </p:cNvPicPr>
          <p:nvPr/>
        </p:nvPicPr>
        <p:blipFill>
          <a:blip r:embed="rId22"/>
          <a:stretch>
            <a:fillRect/>
          </a:stretch>
        </p:blipFill>
        <p:spPr>
          <a:xfrm>
            <a:off x="19875243" y="2591203"/>
            <a:ext cx="0" cy="0"/>
          </a:xfrm>
          <a:prstGeom prst="rect">
            <a:avLst/>
          </a:prstGeom>
        </p:spPr>
      </p:pic>
      <p:pic>
        <p:nvPicPr>
          <p:cNvPr id="397" name="Image 75" descr="preencoded.png"/>
          <p:cNvPicPr>
            <a:picLocks noChangeAspect="1"/>
          </p:cNvPicPr>
          <p:nvPr/>
        </p:nvPicPr>
        <p:blipFill>
          <a:blip r:embed="rId22"/>
          <a:stretch>
            <a:fillRect/>
          </a:stretch>
        </p:blipFill>
        <p:spPr>
          <a:xfrm>
            <a:off x="36792987" y="2591203"/>
            <a:ext cx="0" cy="0"/>
          </a:xfrm>
          <a:prstGeom prst="rect">
            <a:avLst/>
          </a:prstGeom>
        </p:spPr>
      </p:pic>
      <p:pic>
        <p:nvPicPr>
          <p:cNvPr id="398" name="Image 76" descr="preencoded.png"/>
          <p:cNvPicPr>
            <a:picLocks noChangeAspect="1"/>
          </p:cNvPicPr>
          <p:nvPr/>
        </p:nvPicPr>
        <p:blipFill>
          <a:blip r:embed="rId33"/>
          <a:stretch>
            <a:fillRect/>
          </a:stretch>
        </p:blipFill>
        <p:spPr>
          <a:xfrm>
            <a:off x="19875243" y="21625115"/>
            <a:ext cx="16917756" cy="38106"/>
          </a:xfrm>
          <a:prstGeom prst="rect">
            <a:avLst/>
          </a:prstGeom>
        </p:spPr>
      </p:pic>
      <p:pic>
        <p:nvPicPr>
          <p:cNvPr id="399" name="Image 77" descr="preencoded.png"/>
          <p:cNvPicPr>
            <a:picLocks noChangeAspect="1"/>
          </p:cNvPicPr>
          <p:nvPr/>
        </p:nvPicPr>
        <p:blipFill>
          <a:blip r:embed="rId22"/>
          <a:stretch>
            <a:fillRect/>
          </a:stretch>
        </p:blipFill>
        <p:spPr>
          <a:xfrm>
            <a:off x="19875243" y="21644168"/>
            <a:ext cx="0" cy="0"/>
          </a:xfrm>
          <a:prstGeom prst="rect">
            <a:avLst/>
          </a:prstGeom>
        </p:spPr>
      </p:pic>
      <p:pic>
        <p:nvPicPr>
          <p:cNvPr id="400" name="Image 78" descr="preencoded.png"/>
          <p:cNvPicPr>
            <a:picLocks noChangeAspect="1"/>
          </p:cNvPicPr>
          <p:nvPr/>
        </p:nvPicPr>
        <p:blipFill>
          <a:blip r:embed="rId22"/>
          <a:stretch>
            <a:fillRect/>
          </a:stretch>
        </p:blipFill>
        <p:spPr>
          <a:xfrm>
            <a:off x="36792987" y="21644168"/>
            <a:ext cx="0" cy="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1018</Words>
  <Application>Microsoft Macintosh PowerPoint</Application>
  <PresentationFormat>Custom</PresentationFormat>
  <Paragraphs>148</Paragraphs>
  <Slides>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Apple Chancery Chancery</vt:lpstr>
      <vt:lpstr>Arial</vt:lpstr>
      <vt:lpstr>Roboto Medium</vt:lpstr>
      <vt:lpstr>Roboto Mono Medium</vt:lpstr>
      <vt:lpstr>Roboto Mono Regular</vt:lpstr>
      <vt:lpstr>Roboto Regular</vt:lpstr>
      <vt:lpstr>Segoe UI Regular</vt:lpstr>
      <vt:lpstr>Segoe UI Semibold</vt:lpstr>
      <vt:lpstr>Segoe UI Semilight</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Axon Monk</cp:lastModifiedBy>
  <cp:revision>2</cp:revision>
  <dcterms:created xsi:type="dcterms:W3CDTF">2025-09-02T10:42:17Z</dcterms:created>
  <dcterms:modified xsi:type="dcterms:W3CDTF">2025-09-02T10:45:41Z</dcterms:modified>
</cp:coreProperties>
</file>